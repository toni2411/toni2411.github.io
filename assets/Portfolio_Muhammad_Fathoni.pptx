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19.jpg" ContentType="image/jpe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73" r:id="rId9"/>
    <p:sldId id="274" r:id="rId10"/>
    <p:sldId id="275" r:id="rId11"/>
    <p:sldId id="263" r:id="rId12"/>
    <p:sldId id="264" r:id="rId13"/>
    <p:sldId id="265" r:id="rId14"/>
    <p:sldId id="266" r:id="rId15"/>
    <p:sldId id="267" r:id="rId16"/>
    <p:sldId id="268" r:id="rId17"/>
    <p:sldId id="269" r:id="rId18"/>
    <p:sldId id="270" r:id="rId19"/>
    <p:sldId id="271" r:id="rId20"/>
    <p:sldId id="272"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8225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jp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1.jp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3.jp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5.jp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7.jp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9.jp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2.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9418320" y="0"/>
            <a:ext cx="2743200" cy="2743200"/>
          </a:xfrm>
          <a:prstGeom prst="line">
            <a:avLst/>
          </a:prstGeom>
          <a:noFill/>
          <a:ln w="6350">
            <a:solidFill>
              <a:srgbClr val="C9A961"/>
            </a:solidFill>
            <a:prstDash val="solid"/>
          </a:ln>
        </p:spPr>
      </p:sp>
      <p:sp>
        <p:nvSpPr>
          <p:cNvPr id="3" name="Shape 1"/>
          <p:cNvSpPr/>
          <p:nvPr/>
        </p:nvSpPr>
        <p:spPr>
          <a:xfrm>
            <a:off x="9784080" y="0"/>
            <a:ext cx="2468880" cy="2468880"/>
          </a:xfrm>
          <a:prstGeom prst="line">
            <a:avLst/>
          </a:prstGeom>
          <a:noFill/>
          <a:ln w="6350">
            <a:solidFill>
              <a:srgbClr val="C9A961"/>
            </a:solidFill>
            <a:prstDash val="solid"/>
          </a:ln>
        </p:spPr>
      </p:sp>
      <p:sp>
        <p:nvSpPr>
          <p:cNvPr id="4" name="Shape 2"/>
          <p:cNvSpPr/>
          <p:nvPr/>
        </p:nvSpPr>
        <p:spPr>
          <a:xfrm>
            <a:off x="10149840" y="0"/>
            <a:ext cx="2194560" cy="2194560"/>
          </a:xfrm>
          <a:prstGeom prst="line">
            <a:avLst/>
          </a:prstGeom>
          <a:noFill/>
          <a:ln w="6350">
            <a:solidFill>
              <a:srgbClr val="C9A961"/>
            </a:solidFill>
            <a:prstDash val="solid"/>
          </a:ln>
        </p:spPr>
      </p:sp>
      <p:sp>
        <p:nvSpPr>
          <p:cNvPr id="5" name="Shape 3"/>
          <p:cNvSpPr/>
          <p:nvPr/>
        </p:nvSpPr>
        <p:spPr>
          <a:xfrm>
            <a:off x="10515600" y="0"/>
            <a:ext cx="1920240" cy="1920240"/>
          </a:xfrm>
          <a:prstGeom prst="line">
            <a:avLst/>
          </a:prstGeom>
          <a:noFill/>
          <a:ln w="6350">
            <a:solidFill>
              <a:srgbClr val="C9A961"/>
            </a:solidFill>
            <a:prstDash val="solid"/>
          </a:ln>
        </p:spPr>
      </p:sp>
      <p:sp>
        <p:nvSpPr>
          <p:cNvPr id="6" name="Shape 4"/>
          <p:cNvSpPr/>
          <p:nvPr/>
        </p:nvSpPr>
        <p:spPr>
          <a:xfrm>
            <a:off x="10881360" y="0"/>
            <a:ext cx="1645920" cy="1645920"/>
          </a:xfrm>
          <a:prstGeom prst="line">
            <a:avLst/>
          </a:prstGeom>
          <a:noFill/>
          <a:ln w="6350">
            <a:solidFill>
              <a:srgbClr val="C9A961"/>
            </a:solidFill>
            <a:prstDash val="solid"/>
          </a:ln>
        </p:spPr>
      </p:sp>
      <p:sp>
        <p:nvSpPr>
          <p:cNvPr id="7" name="Shape 5"/>
          <p:cNvSpPr/>
          <p:nvPr/>
        </p:nvSpPr>
        <p:spPr>
          <a:xfrm>
            <a:off x="11247120" y="0"/>
            <a:ext cx="1371600" cy="1371600"/>
          </a:xfrm>
          <a:prstGeom prst="line">
            <a:avLst/>
          </a:prstGeom>
          <a:noFill/>
          <a:ln w="6350">
            <a:solidFill>
              <a:srgbClr val="C9A961"/>
            </a:solidFill>
            <a:prstDash val="solid"/>
          </a:ln>
        </p:spPr>
      </p:sp>
      <p:sp>
        <p:nvSpPr>
          <p:cNvPr id="8" name="Shape 6"/>
          <p:cNvSpPr/>
          <p:nvPr/>
        </p:nvSpPr>
        <p:spPr>
          <a:xfrm>
            <a:off x="11612880" y="0"/>
            <a:ext cx="1097280" cy="1097280"/>
          </a:xfrm>
          <a:prstGeom prst="line">
            <a:avLst/>
          </a:prstGeom>
          <a:noFill/>
          <a:ln w="6350">
            <a:solidFill>
              <a:srgbClr val="C9A961"/>
            </a:solidFill>
            <a:prstDash val="solid"/>
          </a:ln>
        </p:spPr>
      </p:sp>
      <p:sp>
        <p:nvSpPr>
          <p:cNvPr id="9" name="Shape 7"/>
          <p:cNvSpPr/>
          <p:nvPr/>
        </p:nvSpPr>
        <p:spPr>
          <a:xfrm>
            <a:off x="11978640" y="0"/>
            <a:ext cx="822960" cy="822960"/>
          </a:xfrm>
          <a:prstGeom prst="line">
            <a:avLst/>
          </a:prstGeom>
          <a:noFill/>
          <a:ln w="6350">
            <a:solidFill>
              <a:srgbClr val="C9A961"/>
            </a:solidFill>
            <a:prstDash val="solid"/>
          </a:ln>
        </p:spPr>
      </p:sp>
      <p:sp>
        <p:nvSpPr>
          <p:cNvPr id="10" name="Shape 8"/>
          <p:cNvSpPr/>
          <p:nvPr/>
        </p:nvSpPr>
        <p:spPr>
          <a:xfrm>
            <a:off x="640080" y="1371600"/>
            <a:ext cx="164592" cy="4114800"/>
          </a:xfrm>
          <a:prstGeom prst="rect">
            <a:avLst/>
          </a:prstGeom>
          <a:solidFill>
            <a:srgbClr val="C9A961"/>
          </a:solidFill>
          <a:ln w="12700">
            <a:solidFill>
              <a:srgbClr val="C9A961"/>
            </a:solidFill>
            <a:prstDash val="solid"/>
          </a:ln>
        </p:spPr>
      </p:sp>
      <p:sp>
        <p:nvSpPr>
          <p:cNvPr id="11" name="Shape 9"/>
          <p:cNvSpPr/>
          <p:nvPr/>
        </p:nvSpPr>
        <p:spPr>
          <a:xfrm>
            <a:off x="1097280" y="2194560"/>
            <a:ext cx="1371600" cy="18288"/>
          </a:xfrm>
          <a:prstGeom prst="rect">
            <a:avLst/>
          </a:prstGeom>
          <a:solidFill>
            <a:srgbClr val="C9A961"/>
          </a:solidFill>
          <a:ln w="12700">
            <a:solidFill>
              <a:srgbClr val="C9A961"/>
            </a:solidFill>
            <a:prstDash val="solid"/>
          </a:ln>
        </p:spPr>
      </p:sp>
      <p:sp>
        <p:nvSpPr>
          <p:cNvPr id="12" name="Text 10"/>
          <p:cNvSpPr/>
          <p:nvPr/>
        </p:nvSpPr>
        <p:spPr>
          <a:xfrm>
            <a:off x="1097280" y="2286000"/>
            <a:ext cx="5486400" cy="274320"/>
          </a:xfrm>
          <a:prstGeom prst="rect">
            <a:avLst/>
          </a:prstGeom>
          <a:noFill/>
          <a:ln/>
        </p:spPr>
        <p:txBody>
          <a:bodyPr wrap="square" lIns="0" tIns="0" rIns="0" bIns="0" rtlCol="0" anchor="ctr"/>
          <a:lstStyle/>
          <a:p>
            <a:pPr marL="0" indent="0">
              <a:buNone/>
            </a:pPr>
            <a:r>
              <a:rPr lang="en-US" sz="1600" b="1" dirty="0">
                <a:solidFill>
                  <a:srgbClr val="C9A961"/>
                </a:solidFill>
                <a:latin typeface="Calibri" pitchFamily="34" charset="0"/>
                <a:ea typeface="Calibri" pitchFamily="34" charset="-122"/>
                <a:cs typeface="Calibri" pitchFamily="34" charset="-120"/>
              </a:rPr>
              <a:t>PROFESSIONAL PORTFOLIO  ·  2026</a:t>
            </a:r>
            <a:endParaRPr lang="en-US" sz="1600" dirty="0"/>
          </a:p>
        </p:txBody>
      </p:sp>
      <p:pic>
        <p:nvPicPr>
          <p:cNvPr id="13" name="Image 0" descr="/home/claude/profile_circle.png"/>
          <p:cNvPicPr>
            <a:picLocks noChangeAspect="1"/>
          </p:cNvPicPr>
          <p:nvPr/>
        </p:nvPicPr>
        <p:blipFill>
          <a:blip r:embed="rId3"/>
          <a:stretch>
            <a:fillRect/>
          </a:stretch>
        </p:blipFill>
        <p:spPr>
          <a:xfrm>
            <a:off x="8046720" y="2468880"/>
            <a:ext cx="2011680" cy="2011680"/>
          </a:xfrm>
          <a:prstGeom prst="rect">
            <a:avLst/>
          </a:prstGeom>
        </p:spPr>
      </p:pic>
      <p:sp>
        <p:nvSpPr>
          <p:cNvPr id="14" name="Shape 11"/>
          <p:cNvSpPr/>
          <p:nvPr/>
        </p:nvSpPr>
        <p:spPr>
          <a:xfrm>
            <a:off x="8046720" y="2468880"/>
            <a:ext cx="2011680" cy="2011680"/>
          </a:xfrm>
          <a:prstGeom prst="ellipse">
            <a:avLst/>
          </a:prstGeom>
          <a:solidFill>
            <a:srgbClr val="FFFFFF">
              <a:alpha val="0"/>
            </a:srgbClr>
          </a:solidFill>
          <a:ln w="31750">
            <a:solidFill>
              <a:srgbClr val="C9A961"/>
            </a:solidFill>
            <a:prstDash val="solid"/>
          </a:ln>
        </p:spPr>
      </p:sp>
      <p:sp>
        <p:nvSpPr>
          <p:cNvPr id="15" name="Text 12"/>
          <p:cNvSpPr/>
          <p:nvPr/>
        </p:nvSpPr>
        <p:spPr>
          <a:xfrm>
            <a:off x="1097280" y="2743200"/>
            <a:ext cx="5486400" cy="9144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MUHAMMAD</a:t>
            </a:r>
            <a:endParaRPr lang="en-US" sz="4800" dirty="0"/>
          </a:p>
        </p:txBody>
      </p:sp>
      <p:sp>
        <p:nvSpPr>
          <p:cNvPr id="16" name="Text 13"/>
          <p:cNvSpPr/>
          <p:nvPr/>
        </p:nvSpPr>
        <p:spPr>
          <a:xfrm>
            <a:off x="1097280" y="3520440"/>
            <a:ext cx="5486400" cy="914400"/>
          </a:xfrm>
          <a:prstGeom prst="rect">
            <a:avLst/>
          </a:prstGeom>
          <a:noFill/>
          <a:ln/>
        </p:spPr>
        <p:txBody>
          <a:bodyPr wrap="square" lIns="0" tIns="0" rIns="0" bIns="0" rtlCol="0" anchor="ctr"/>
          <a:lstStyle/>
          <a:p>
            <a:pPr marL="0" indent="0">
              <a:buNone/>
            </a:pPr>
            <a:r>
              <a:rPr lang="en-US" sz="4800" b="1" dirty="0">
                <a:solidFill>
                  <a:srgbClr val="C9A961"/>
                </a:solidFill>
                <a:latin typeface="Calibri" pitchFamily="34" charset="0"/>
                <a:ea typeface="Calibri" pitchFamily="34" charset="-122"/>
                <a:cs typeface="Calibri" pitchFamily="34" charset="-120"/>
              </a:rPr>
              <a:t>FATHONI</a:t>
            </a:r>
            <a:endParaRPr lang="en-US" sz="4800" dirty="0"/>
          </a:p>
        </p:txBody>
      </p:sp>
      <p:sp>
        <p:nvSpPr>
          <p:cNvPr id="17" name="Text 14"/>
          <p:cNvSpPr/>
          <p:nvPr/>
        </p:nvSpPr>
        <p:spPr>
          <a:xfrm>
            <a:off x="1097280" y="4434840"/>
            <a:ext cx="7315200" cy="32004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Electrical Engineering Graduate</a:t>
            </a:r>
            <a:endParaRPr lang="en-US" sz="2000" dirty="0"/>
          </a:p>
        </p:txBody>
      </p:sp>
      <p:sp>
        <p:nvSpPr>
          <p:cNvPr id="18" name="Text 15"/>
          <p:cNvSpPr/>
          <p:nvPr/>
        </p:nvSpPr>
        <p:spPr>
          <a:xfrm>
            <a:off x="1097280" y="4736592"/>
            <a:ext cx="7315200" cy="274320"/>
          </a:xfrm>
          <a:prstGeom prst="rect">
            <a:avLst/>
          </a:prstGeom>
          <a:noFill/>
          <a:ln/>
        </p:spPr>
        <p:txBody>
          <a:bodyPr wrap="square" lIns="0" tIns="0" rIns="0" bIns="0" rtlCol="0" anchor="ctr"/>
          <a:lstStyle/>
          <a:p>
            <a:r>
              <a:rPr lang="en-US" sz="1600" i="1" dirty="0">
                <a:solidFill>
                  <a:srgbClr val="E8D7A8"/>
                </a:solidFill>
                <a:latin typeface="Calibri" pitchFamily="34" charset="0"/>
                <a:ea typeface="Calibri" pitchFamily="34" charset="-122"/>
                <a:cs typeface="Calibri" pitchFamily="34" charset="-120"/>
              </a:rPr>
              <a:t>IT  ·  AI  ·  Electrical Engineer  ·  IoT   ·  Data Science</a:t>
            </a:r>
            <a:endParaRPr lang="en-US" sz="1600" dirty="0"/>
          </a:p>
        </p:txBody>
      </p:sp>
      <p:sp>
        <p:nvSpPr>
          <p:cNvPr id="19" name="Text 16"/>
          <p:cNvSpPr/>
          <p:nvPr/>
        </p:nvSpPr>
        <p:spPr>
          <a:xfrm>
            <a:off x="1097280" y="5120640"/>
            <a:ext cx="7315200" cy="2743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Universitas Islam Indonesia  ·  GPA 3.78 / 4.00</a:t>
            </a:r>
            <a:endParaRPr lang="en-US" sz="1400" dirty="0"/>
          </a:p>
        </p:txBody>
      </p:sp>
      <p:sp>
        <p:nvSpPr>
          <p:cNvPr id="20" name="Shape 17"/>
          <p:cNvSpPr/>
          <p:nvPr/>
        </p:nvSpPr>
        <p:spPr>
          <a:xfrm>
            <a:off x="0" y="6126480"/>
            <a:ext cx="12161520" cy="36576"/>
          </a:xfrm>
          <a:prstGeom prst="rect">
            <a:avLst/>
          </a:prstGeom>
          <a:solidFill>
            <a:srgbClr val="C9A961"/>
          </a:solidFill>
          <a:ln w="12700">
            <a:solidFill>
              <a:srgbClr val="C9A961"/>
            </a:solidFill>
            <a:prstDash val="solid"/>
          </a:ln>
        </p:spPr>
      </p:sp>
      <p:sp>
        <p:nvSpPr>
          <p:cNvPr id="21" name="Text 18"/>
          <p:cNvSpPr/>
          <p:nvPr/>
        </p:nvSpPr>
        <p:spPr>
          <a:xfrm>
            <a:off x="1097280" y="6263640"/>
            <a:ext cx="365760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fathonimuhammad2411@gmail.com</a:t>
            </a:r>
            <a:endParaRPr lang="en-US" sz="1100" dirty="0"/>
          </a:p>
        </p:txBody>
      </p:sp>
      <p:sp>
        <p:nvSpPr>
          <p:cNvPr id="22" name="Text 19"/>
          <p:cNvSpPr/>
          <p:nvPr/>
        </p:nvSpPr>
        <p:spPr>
          <a:xfrm>
            <a:off x="1097280" y="6492240"/>
            <a:ext cx="365760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+62 822-5850-3481</a:t>
            </a:r>
            <a:endParaRPr lang="en-US" sz="1100" dirty="0"/>
          </a:p>
        </p:txBody>
      </p:sp>
      <p:sp>
        <p:nvSpPr>
          <p:cNvPr id="23" name="Text 20"/>
          <p:cNvSpPr/>
          <p:nvPr/>
        </p:nvSpPr>
        <p:spPr>
          <a:xfrm>
            <a:off x="7132320" y="6263640"/>
            <a:ext cx="3657600" cy="228600"/>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Yogyakarta, Indonesia</a:t>
            </a:r>
            <a:endParaRPr lang="en-US" sz="1100" dirty="0"/>
          </a:p>
        </p:txBody>
      </p:sp>
      <p:sp>
        <p:nvSpPr>
          <p:cNvPr id="24" name="Text 21"/>
          <p:cNvSpPr/>
          <p:nvPr/>
        </p:nvSpPr>
        <p:spPr>
          <a:xfrm>
            <a:off x="7132320" y="6492240"/>
            <a:ext cx="3657600" cy="228600"/>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linkedin.com/in/muhammad-fathoni-038274266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E"/>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0A1628"/>
          </a:solidFill>
          <a:ln w="12700">
            <a:solidFill>
              <a:srgbClr val="0A1628"/>
            </a:solidFill>
            <a:prstDash val="solid"/>
          </a:ln>
        </p:spPr>
      </p:sp>
      <p:sp>
        <p:nvSpPr>
          <p:cNvPr id="3" name="Shape 1"/>
          <p:cNvSpPr/>
          <p:nvPr/>
        </p:nvSpPr>
        <p:spPr>
          <a:xfrm>
            <a:off x="0" y="457200"/>
            <a:ext cx="12161520" cy="36576"/>
          </a:xfrm>
          <a:prstGeom prst="rect">
            <a:avLst/>
          </a:prstGeom>
          <a:solidFill>
            <a:srgbClr val="C9A961"/>
          </a:solidFill>
          <a:ln w="12700">
            <a:solidFill>
              <a:srgbClr val="C9A961"/>
            </a:solidFill>
            <a:prstDash val="solid"/>
          </a:ln>
        </p:spPr>
      </p:sp>
      <p:sp>
        <p:nvSpPr>
          <p:cNvPr id="4" name="Text 2"/>
          <p:cNvSpPr/>
          <p:nvPr/>
        </p:nvSpPr>
        <p:spPr>
          <a:xfrm>
            <a:off x="457200" y="64008"/>
            <a:ext cx="3657600" cy="1828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MUHAMMAD FATHONI</a:t>
            </a:r>
            <a:endParaRPr lang="en-US" sz="1400" dirty="0"/>
          </a:p>
        </p:txBody>
      </p:sp>
      <p:sp>
        <p:nvSpPr>
          <p:cNvPr id="5" name="Text 3"/>
          <p:cNvSpPr/>
          <p:nvPr/>
        </p:nvSpPr>
        <p:spPr>
          <a:xfrm>
            <a:off x="457200" y="246888"/>
            <a:ext cx="3657600" cy="182880"/>
          </a:xfrm>
          <a:prstGeom prst="rect">
            <a:avLst/>
          </a:prstGeom>
          <a:noFill/>
          <a:ln/>
        </p:spPr>
        <p:txBody>
          <a:bodyPr wrap="square" lIns="0" tIns="0" rIns="0" bIns="0" rtlCol="0" anchor="ctr"/>
          <a:lstStyle/>
          <a:p>
            <a:pPr marL="0" indent="0">
              <a:buNone/>
            </a:pPr>
            <a:r>
              <a:rPr lang="en-US" sz="1400" i="1" dirty="0">
                <a:solidFill>
                  <a:srgbClr val="E8D7A8"/>
                </a:solidFill>
                <a:latin typeface="Calibri" pitchFamily="34" charset="0"/>
                <a:ea typeface="Calibri" pitchFamily="34" charset="-122"/>
                <a:cs typeface="Calibri" pitchFamily="34" charset="-120"/>
              </a:rPr>
              <a:t>Electrical Engineer  ·  AI &amp; IoT Enthusiast</a:t>
            </a:r>
            <a:endParaRPr lang="en-US" sz="1400" dirty="0"/>
          </a:p>
        </p:txBody>
      </p:sp>
      <p:sp>
        <p:nvSpPr>
          <p:cNvPr id="6" name="Text 4"/>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1400" b="1" dirty="0">
                <a:solidFill>
                  <a:srgbClr val="E8D7A8"/>
                </a:solidFill>
                <a:latin typeface="Calibri" pitchFamily="34" charset="0"/>
                <a:ea typeface="Calibri" pitchFamily="34" charset="-122"/>
                <a:cs typeface="Calibri" pitchFamily="34" charset="-120"/>
              </a:rPr>
              <a:t>PAGE 2 / 17</a:t>
            </a:r>
            <a:endParaRPr lang="en-US" sz="1400" dirty="0"/>
          </a:p>
        </p:txBody>
      </p:sp>
      <p:sp>
        <p:nvSpPr>
          <p:cNvPr id="7" name="Shape 5"/>
          <p:cNvSpPr/>
          <p:nvPr/>
        </p:nvSpPr>
        <p:spPr>
          <a:xfrm>
            <a:off x="0" y="6565392"/>
            <a:ext cx="12161520" cy="292608"/>
          </a:xfrm>
          <a:prstGeom prst="rect">
            <a:avLst/>
          </a:prstGeom>
          <a:solidFill>
            <a:srgbClr val="1B2D4A"/>
          </a:solidFill>
          <a:ln w="12700">
            <a:solidFill>
              <a:srgbClr val="1B2D4A"/>
            </a:solidFill>
            <a:prstDash val="solid"/>
          </a:ln>
        </p:spPr>
      </p:sp>
      <p:sp>
        <p:nvSpPr>
          <p:cNvPr id="8" name="Shape 6"/>
          <p:cNvSpPr/>
          <p:nvPr/>
        </p:nvSpPr>
        <p:spPr>
          <a:xfrm>
            <a:off x="0" y="6547104"/>
            <a:ext cx="12161520" cy="18288"/>
          </a:xfrm>
          <a:prstGeom prst="rect">
            <a:avLst/>
          </a:prstGeom>
          <a:solidFill>
            <a:srgbClr val="C9A961"/>
          </a:solidFill>
          <a:ln w="12700">
            <a:solidFill>
              <a:srgbClr val="C9A961"/>
            </a:solidFill>
            <a:prstDash val="solid"/>
          </a:ln>
        </p:spPr>
      </p:sp>
      <p:sp>
        <p:nvSpPr>
          <p:cNvPr id="9" name="Text 7"/>
          <p:cNvSpPr/>
          <p:nvPr/>
        </p:nvSpPr>
        <p:spPr>
          <a:xfrm>
            <a:off x="457200" y="6611112"/>
            <a:ext cx="36576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fathonimuhammad2411@gmail.com</a:t>
            </a:r>
            <a:endParaRPr lang="en-US" sz="1100" dirty="0"/>
          </a:p>
        </p:txBody>
      </p:sp>
      <p:sp>
        <p:nvSpPr>
          <p:cNvPr id="10" name="Text 8"/>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+62 822-5850-3481</a:t>
            </a:r>
            <a:endParaRPr lang="en-US" sz="1100" dirty="0"/>
          </a:p>
        </p:txBody>
      </p:sp>
      <p:sp>
        <p:nvSpPr>
          <p:cNvPr id="11" name="Text 9"/>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linkedin.com/in/muhammad-fathoni-038274266</a:t>
            </a:r>
            <a:endParaRPr lang="en-US" sz="1100" dirty="0"/>
          </a:p>
        </p:txBody>
      </p:sp>
      <p:sp>
        <p:nvSpPr>
          <p:cNvPr id="12" name="Text 10"/>
          <p:cNvSpPr/>
          <p:nvPr/>
        </p:nvSpPr>
        <p:spPr>
          <a:xfrm>
            <a:off x="640080" y="822960"/>
            <a:ext cx="45720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INDEX</a:t>
            </a:r>
            <a:endParaRPr lang="en-US" sz="2000" dirty="0"/>
          </a:p>
        </p:txBody>
      </p:sp>
      <p:sp>
        <p:nvSpPr>
          <p:cNvPr id="13" name="Shape 11"/>
          <p:cNvSpPr/>
          <p:nvPr/>
        </p:nvSpPr>
        <p:spPr>
          <a:xfrm>
            <a:off x="640080" y="1115568"/>
            <a:ext cx="640080" cy="27432"/>
          </a:xfrm>
          <a:prstGeom prst="rect">
            <a:avLst/>
          </a:prstGeom>
          <a:solidFill>
            <a:srgbClr val="C9A961"/>
          </a:solidFill>
          <a:ln w="12700">
            <a:solidFill>
              <a:srgbClr val="C9A961"/>
            </a:solidFill>
            <a:prstDash val="solid"/>
          </a:ln>
        </p:spPr>
      </p:sp>
      <p:sp>
        <p:nvSpPr>
          <p:cNvPr id="14" name="Text 12"/>
          <p:cNvSpPr/>
          <p:nvPr/>
        </p:nvSpPr>
        <p:spPr>
          <a:xfrm>
            <a:off x="640080" y="1207008"/>
            <a:ext cx="8229600" cy="54864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Table of Contents</a:t>
            </a:r>
            <a:endParaRPr lang="en-US" sz="1400" dirty="0"/>
          </a:p>
        </p:txBody>
      </p:sp>
      <p:sp>
        <p:nvSpPr>
          <p:cNvPr id="15" name="Shape 13"/>
          <p:cNvSpPr/>
          <p:nvPr/>
        </p:nvSpPr>
        <p:spPr>
          <a:xfrm>
            <a:off x="640080" y="1691640"/>
            <a:ext cx="2286000" cy="22860"/>
          </a:xfrm>
          <a:prstGeom prst="rect">
            <a:avLst/>
          </a:prstGeom>
          <a:solidFill>
            <a:srgbClr val="C9A961"/>
          </a:solidFill>
          <a:ln w="12700">
            <a:solidFill>
              <a:srgbClr val="C9A961"/>
            </a:solidFill>
            <a:prstDash val="solid"/>
          </a:ln>
        </p:spPr>
      </p:sp>
      <p:sp>
        <p:nvSpPr>
          <p:cNvPr id="16" name="Shape 14"/>
          <p:cNvSpPr/>
          <p:nvPr/>
        </p:nvSpPr>
        <p:spPr>
          <a:xfrm>
            <a:off x="640080" y="2103120"/>
            <a:ext cx="502920" cy="384048"/>
          </a:xfrm>
          <a:prstGeom prst="rect">
            <a:avLst/>
          </a:prstGeom>
          <a:solidFill>
            <a:srgbClr val="0A1628"/>
          </a:solidFill>
          <a:ln w="12700">
            <a:solidFill>
              <a:srgbClr val="0A1628"/>
            </a:solidFill>
            <a:prstDash val="solid"/>
          </a:ln>
        </p:spPr>
      </p:sp>
      <p:sp>
        <p:nvSpPr>
          <p:cNvPr id="17" name="Text 15"/>
          <p:cNvSpPr/>
          <p:nvPr/>
        </p:nvSpPr>
        <p:spPr>
          <a:xfrm>
            <a:off x="640080" y="2103120"/>
            <a:ext cx="502920" cy="384048"/>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01</a:t>
            </a:r>
            <a:endParaRPr lang="en-US" sz="1400" dirty="0"/>
          </a:p>
        </p:txBody>
      </p:sp>
      <p:sp>
        <p:nvSpPr>
          <p:cNvPr id="18" name="Text 16"/>
          <p:cNvSpPr/>
          <p:nvPr/>
        </p:nvSpPr>
        <p:spPr>
          <a:xfrm>
            <a:off x="1280160" y="2103120"/>
            <a:ext cx="5486400" cy="201168"/>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About Me</a:t>
            </a:r>
            <a:endParaRPr lang="en-US" sz="1400" dirty="0"/>
          </a:p>
        </p:txBody>
      </p:sp>
      <p:sp>
        <p:nvSpPr>
          <p:cNvPr id="19" name="Text 17"/>
          <p:cNvSpPr/>
          <p:nvPr/>
        </p:nvSpPr>
        <p:spPr>
          <a:xfrm>
            <a:off x="1280160" y="2304288"/>
            <a:ext cx="5486400" cy="18288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Personal profile and career objective</a:t>
            </a:r>
            <a:endParaRPr lang="en-US" sz="1400" dirty="0"/>
          </a:p>
        </p:txBody>
      </p:sp>
      <p:sp>
        <p:nvSpPr>
          <p:cNvPr id="20" name="Text 18"/>
          <p:cNvSpPr/>
          <p:nvPr/>
        </p:nvSpPr>
        <p:spPr>
          <a:xfrm>
            <a:off x="10972800" y="2167128"/>
            <a:ext cx="548640" cy="274320"/>
          </a:xfrm>
          <a:prstGeom prst="rect">
            <a:avLst/>
          </a:prstGeom>
          <a:noFill/>
          <a:ln/>
        </p:spPr>
        <p:txBody>
          <a:bodyPr wrap="square" lIns="0" tIns="0" rIns="0" bIns="0" rtlCol="0" anchor="ctr"/>
          <a:lstStyle/>
          <a:p>
            <a:pPr marL="0" indent="0" algn="r">
              <a:buNone/>
            </a:pPr>
            <a:r>
              <a:rPr lang="en-US" sz="1400" b="1" dirty="0">
                <a:solidFill>
                  <a:srgbClr val="C9A961"/>
                </a:solidFill>
                <a:latin typeface="Calibri" pitchFamily="34" charset="0"/>
                <a:ea typeface="Calibri" pitchFamily="34" charset="-122"/>
                <a:cs typeface="Calibri" pitchFamily="34" charset="-120"/>
              </a:rPr>
              <a:t>3</a:t>
            </a:r>
            <a:endParaRPr lang="en-US" sz="1400" dirty="0"/>
          </a:p>
        </p:txBody>
      </p:sp>
      <p:sp>
        <p:nvSpPr>
          <p:cNvPr id="21" name="Shape 19"/>
          <p:cNvSpPr/>
          <p:nvPr/>
        </p:nvSpPr>
        <p:spPr>
          <a:xfrm>
            <a:off x="640080" y="2578608"/>
            <a:ext cx="502920" cy="384048"/>
          </a:xfrm>
          <a:prstGeom prst="rect">
            <a:avLst/>
          </a:prstGeom>
          <a:solidFill>
            <a:srgbClr val="0A1628"/>
          </a:solidFill>
          <a:ln w="12700">
            <a:solidFill>
              <a:srgbClr val="0A1628"/>
            </a:solidFill>
            <a:prstDash val="solid"/>
          </a:ln>
        </p:spPr>
      </p:sp>
      <p:sp>
        <p:nvSpPr>
          <p:cNvPr id="22" name="Text 20"/>
          <p:cNvSpPr/>
          <p:nvPr/>
        </p:nvSpPr>
        <p:spPr>
          <a:xfrm>
            <a:off x="640080" y="2578608"/>
            <a:ext cx="502920" cy="384048"/>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02</a:t>
            </a:r>
            <a:endParaRPr lang="en-US" sz="1400" dirty="0"/>
          </a:p>
        </p:txBody>
      </p:sp>
      <p:sp>
        <p:nvSpPr>
          <p:cNvPr id="23" name="Text 21"/>
          <p:cNvSpPr/>
          <p:nvPr/>
        </p:nvSpPr>
        <p:spPr>
          <a:xfrm>
            <a:off x="1280160" y="2578608"/>
            <a:ext cx="5486400" cy="201168"/>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Education &amp; Academic Records</a:t>
            </a:r>
            <a:endParaRPr lang="en-US" sz="1400" dirty="0"/>
          </a:p>
        </p:txBody>
      </p:sp>
      <p:sp>
        <p:nvSpPr>
          <p:cNvPr id="24" name="Text 22"/>
          <p:cNvSpPr/>
          <p:nvPr/>
        </p:nvSpPr>
        <p:spPr>
          <a:xfrm>
            <a:off x="1280160" y="2779776"/>
            <a:ext cx="5486400" cy="18288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University, GPA, and key coursework</a:t>
            </a:r>
            <a:endParaRPr lang="en-US" sz="1400" dirty="0"/>
          </a:p>
        </p:txBody>
      </p:sp>
      <p:sp>
        <p:nvSpPr>
          <p:cNvPr id="25" name="Text 23"/>
          <p:cNvSpPr/>
          <p:nvPr/>
        </p:nvSpPr>
        <p:spPr>
          <a:xfrm>
            <a:off x="10972800" y="2642616"/>
            <a:ext cx="548640" cy="274320"/>
          </a:xfrm>
          <a:prstGeom prst="rect">
            <a:avLst/>
          </a:prstGeom>
          <a:noFill/>
          <a:ln/>
        </p:spPr>
        <p:txBody>
          <a:bodyPr wrap="square" lIns="0" tIns="0" rIns="0" bIns="0" rtlCol="0" anchor="ctr"/>
          <a:lstStyle/>
          <a:p>
            <a:pPr marL="0" indent="0" algn="r">
              <a:buNone/>
            </a:pPr>
            <a:r>
              <a:rPr lang="en-US" sz="1400" b="1" dirty="0">
                <a:solidFill>
                  <a:srgbClr val="C9A961"/>
                </a:solidFill>
                <a:latin typeface="Calibri" pitchFamily="34" charset="0"/>
                <a:ea typeface="Calibri" pitchFamily="34" charset="-122"/>
                <a:cs typeface="Calibri" pitchFamily="34" charset="-120"/>
              </a:rPr>
              <a:t>4</a:t>
            </a:r>
            <a:endParaRPr lang="en-US" sz="1400" dirty="0"/>
          </a:p>
        </p:txBody>
      </p:sp>
      <p:sp>
        <p:nvSpPr>
          <p:cNvPr id="26" name="Shape 24"/>
          <p:cNvSpPr/>
          <p:nvPr/>
        </p:nvSpPr>
        <p:spPr>
          <a:xfrm>
            <a:off x="640080" y="3054096"/>
            <a:ext cx="502920" cy="384048"/>
          </a:xfrm>
          <a:prstGeom prst="rect">
            <a:avLst/>
          </a:prstGeom>
          <a:solidFill>
            <a:srgbClr val="0A1628"/>
          </a:solidFill>
          <a:ln w="12700">
            <a:solidFill>
              <a:srgbClr val="0A1628"/>
            </a:solidFill>
            <a:prstDash val="solid"/>
          </a:ln>
        </p:spPr>
      </p:sp>
      <p:sp>
        <p:nvSpPr>
          <p:cNvPr id="27" name="Text 25"/>
          <p:cNvSpPr/>
          <p:nvPr/>
        </p:nvSpPr>
        <p:spPr>
          <a:xfrm>
            <a:off x="640080" y="3054096"/>
            <a:ext cx="502920" cy="384048"/>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03</a:t>
            </a:r>
            <a:endParaRPr lang="en-US" sz="1400" dirty="0"/>
          </a:p>
        </p:txBody>
      </p:sp>
      <p:sp>
        <p:nvSpPr>
          <p:cNvPr id="28" name="Text 26"/>
          <p:cNvSpPr/>
          <p:nvPr/>
        </p:nvSpPr>
        <p:spPr>
          <a:xfrm>
            <a:off x="1280160" y="3054096"/>
            <a:ext cx="5486400" cy="201168"/>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Technical Skills</a:t>
            </a:r>
            <a:endParaRPr lang="en-US" sz="1400" dirty="0"/>
          </a:p>
        </p:txBody>
      </p:sp>
      <p:sp>
        <p:nvSpPr>
          <p:cNvPr id="29" name="Text 27"/>
          <p:cNvSpPr/>
          <p:nvPr/>
        </p:nvSpPr>
        <p:spPr>
          <a:xfrm>
            <a:off x="1280160" y="3255264"/>
            <a:ext cx="5486400" cy="18288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Hard skills, tools, and soft skills</a:t>
            </a:r>
            <a:endParaRPr lang="en-US" sz="1400" dirty="0"/>
          </a:p>
        </p:txBody>
      </p:sp>
      <p:sp>
        <p:nvSpPr>
          <p:cNvPr id="30" name="Text 28"/>
          <p:cNvSpPr/>
          <p:nvPr/>
        </p:nvSpPr>
        <p:spPr>
          <a:xfrm>
            <a:off x="10972800" y="3118104"/>
            <a:ext cx="548640" cy="274320"/>
          </a:xfrm>
          <a:prstGeom prst="rect">
            <a:avLst/>
          </a:prstGeom>
          <a:noFill/>
          <a:ln/>
        </p:spPr>
        <p:txBody>
          <a:bodyPr wrap="square" lIns="0" tIns="0" rIns="0" bIns="0" rtlCol="0" anchor="ctr"/>
          <a:lstStyle/>
          <a:p>
            <a:pPr marL="0" indent="0" algn="r">
              <a:buNone/>
            </a:pPr>
            <a:r>
              <a:rPr lang="en-US" sz="1400" b="1" dirty="0">
                <a:solidFill>
                  <a:srgbClr val="C9A961"/>
                </a:solidFill>
                <a:latin typeface="Calibri" pitchFamily="34" charset="0"/>
                <a:ea typeface="Calibri" pitchFamily="34" charset="-122"/>
                <a:cs typeface="Calibri" pitchFamily="34" charset="-120"/>
              </a:rPr>
              <a:t>5</a:t>
            </a:r>
            <a:endParaRPr lang="en-US" sz="1400" dirty="0"/>
          </a:p>
        </p:txBody>
      </p:sp>
      <p:sp>
        <p:nvSpPr>
          <p:cNvPr id="31" name="Shape 29"/>
          <p:cNvSpPr/>
          <p:nvPr/>
        </p:nvSpPr>
        <p:spPr>
          <a:xfrm>
            <a:off x="640080" y="3529584"/>
            <a:ext cx="502920" cy="384048"/>
          </a:xfrm>
          <a:prstGeom prst="rect">
            <a:avLst/>
          </a:prstGeom>
          <a:solidFill>
            <a:srgbClr val="0A1628"/>
          </a:solidFill>
          <a:ln w="12700">
            <a:solidFill>
              <a:srgbClr val="0A1628"/>
            </a:solidFill>
            <a:prstDash val="solid"/>
          </a:ln>
        </p:spPr>
      </p:sp>
      <p:sp>
        <p:nvSpPr>
          <p:cNvPr id="32" name="Text 30"/>
          <p:cNvSpPr/>
          <p:nvPr/>
        </p:nvSpPr>
        <p:spPr>
          <a:xfrm>
            <a:off x="640080" y="3529584"/>
            <a:ext cx="502920" cy="384048"/>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04</a:t>
            </a:r>
            <a:endParaRPr lang="en-US" sz="1400" dirty="0"/>
          </a:p>
        </p:txBody>
      </p:sp>
      <p:sp>
        <p:nvSpPr>
          <p:cNvPr id="33" name="Text 31"/>
          <p:cNvSpPr/>
          <p:nvPr/>
        </p:nvSpPr>
        <p:spPr>
          <a:xfrm>
            <a:off x="1280160" y="3529584"/>
            <a:ext cx="5486400" cy="201168"/>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Featured Projects</a:t>
            </a:r>
            <a:endParaRPr lang="en-US" sz="1400" dirty="0"/>
          </a:p>
        </p:txBody>
      </p:sp>
      <p:sp>
        <p:nvSpPr>
          <p:cNvPr id="34" name="Text 32"/>
          <p:cNvSpPr/>
          <p:nvPr/>
        </p:nvSpPr>
        <p:spPr>
          <a:xfrm>
            <a:off x="1280160" y="3730752"/>
            <a:ext cx="5486400" cy="18288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Six featured engineering projects</a:t>
            </a:r>
            <a:endParaRPr lang="en-US" sz="1400" dirty="0"/>
          </a:p>
        </p:txBody>
      </p:sp>
      <p:sp>
        <p:nvSpPr>
          <p:cNvPr id="35" name="Text 33"/>
          <p:cNvSpPr/>
          <p:nvPr/>
        </p:nvSpPr>
        <p:spPr>
          <a:xfrm>
            <a:off x="10972800" y="3593592"/>
            <a:ext cx="548640" cy="274320"/>
          </a:xfrm>
          <a:prstGeom prst="rect">
            <a:avLst/>
          </a:prstGeom>
          <a:noFill/>
          <a:ln/>
        </p:spPr>
        <p:txBody>
          <a:bodyPr wrap="square" lIns="0" tIns="0" rIns="0" bIns="0" rtlCol="0" anchor="ctr"/>
          <a:lstStyle/>
          <a:p>
            <a:pPr marL="0" indent="0" algn="r">
              <a:buNone/>
            </a:pPr>
            <a:r>
              <a:rPr lang="en-US" sz="1400" b="1" dirty="0">
                <a:solidFill>
                  <a:srgbClr val="C9A961"/>
                </a:solidFill>
                <a:latin typeface="Calibri" pitchFamily="34" charset="0"/>
                <a:ea typeface="Calibri" pitchFamily="34" charset="-122"/>
                <a:cs typeface="Calibri" pitchFamily="34" charset="-120"/>
              </a:rPr>
              <a:t>6</a:t>
            </a:r>
            <a:endParaRPr lang="en-US" sz="1400" dirty="0"/>
          </a:p>
        </p:txBody>
      </p:sp>
      <p:sp>
        <p:nvSpPr>
          <p:cNvPr id="36" name="Shape 34"/>
          <p:cNvSpPr/>
          <p:nvPr/>
        </p:nvSpPr>
        <p:spPr>
          <a:xfrm>
            <a:off x="640080" y="4005072"/>
            <a:ext cx="502920" cy="384048"/>
          </a:xfrm>
          <a:prstGeom prst="rect">
            <a:avLst/>
          </a:prstGeom>
          <a:solidFill>
            <a:srgbClr val="0A1628"/>
          </a:solidFill>
          <a:ln w="12700">
            <a:solidFill>
              <a:srgbClr val="0A1628"/>
            </a:solidFill>
            <a:prstDash val="solid"/>
          </a:ln>
        </p:spPr>
      </p:sp>
      <p:sp>
        <p:nvSpPr>
          <p:cNvPr id="37" name="Text 35"/>
          <p:cNvSpPr/>
          <p:nvPr/>
        </p:nvSpPr>
        <p:spPr>
          <a:xfrm>
            <a:off x="640080" y="4005072"/>
            <a:ext cx="502920" cy="384048"/>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05</a:t>
            </a:r>
            <a:endParaRPr lang="en-US" sz="1400" dirty="0"/>
          </a:p>
        </p:txBody>
      </p:sp>
      <p:sp>
        <p:nvSpPr>
          <p:cNvPr id="38" name="Text 36"/>
          <p:cNvSpPr/>
          <p:nvPr/>
        </p:nvSpPr>
        <p:spPr>
          <a:xfrm>
            <a:off x="1280160" y="4005072"/>
            <a:ext cx="5486400" cy="201168"/>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Professional Experience</a:t>
            </a:r>
            <a:endParaRPr lang="en-US" sz="1400" dirty="0"/>
          </a:p>
        </p:txBody>
      </p:sp>
      <p:sp>
        <p:nvSpPr>
          <p:cNvPr id="39" name="Text 37"/>
          <p:cNvSpPr/>
          <p:nvPr/>
        </p:nvSpPr>
        <p:spPr>
          <a:xfrm>
            <a:off x="1280160" y="4206240"/>
            <a:ext cx="5486400" cy="18288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Internship and laboratory teaching</a:t>
            </a:r>
            <a:endParaRPr lang="en-US" sz="1400" dirty="0"/>
          </a:p>
        </p:txBody>
      </p:sp>
      <p:sp>
        <p:nvSpPr>
          <p:cNvPr id="40" name="Text 38"/>
          <p:cNvSpPr/>
          <p:nvPr/>
        </p:nvSpPr>
        <p:spPr>
          <a:xfrm>
            <a:off x="10972800" y="4069080"/>
            <a:ext cx="548640" cy="274320"/>
          </a:xfrm>
          <a:prstGeom prst="rect">
            <a:avLst/>
          </a:prstGeom>
          <a:noFill/>
          <a:ln/>
        </p:spPr>
        <p:txBody>
          <a:bodyPr wrap="square" lIns="0" tIns="0" rIns="0" bIns="0" rtlCol="0" anchor="ctr"/>
          <a:lstStyle/>
          <a:p>
            <a:pPr marL="0" indent="0" algn="r">
              <a:buNone/>
            </a:pPr>
            <a:r>
              <a:rPr lang="en-US" sz="1400" b="1" dirty="0">
                <a:solidFill>
                  <a:srgbClr val="C9A961"/>
                </a:solidFill>
                <a:latin typeface="Calibri" pitchFamily="34" charset="0"/>
                <a:ea typeface="Calibri" pitchFamily="34" charset="-122"/>
                <a:cs typeface="Calibri" pitchFamily="34" charset="-120"/>
              </a:rPr>
              <a:t>16</a:t>
            </a:r>
            <a:endParaRPr lang="en-US" sz="1400" dirty="0"/>
          </a:p>
        </p:txBody>
      </p:sp>
      <p:sp>
        <p:nvSpPr>
          <p:cNvPr id="41" name="Shape 39"/>
          <p:cNvSpPr/>
          <p:nvPr/>
        </p:nvSpPr>
        <p:spPr>
          <a:xfrm>
            <a:off x="640080" y="4480560"/>
            <a:ext cx="502920" cy="384048"/>
          </a:xfrm>
          <a:prstGeom prst="rect">
            <a:avLst/>
          </a:prstGeom>
          <a:solidFill>
            <a:srgbClr val="0A1628"/>
          </a:solidFill>
          <a:ln w="12700">
            <a:solidFill>
              <a:srgbClr val="0A1628"/>
            </a:solidFill>
            <a:prstDash val="solid"/>
          </a:ln>
        </p:spPr>
      </p:sp>
      <p:sp>
        <p:nvSpPr>
          <p:cNvPr id="42" name="Text 40"/>
          <p:cNvSpPr/>
          <p:nvPr/>
        </p:nvSpPr>
        <p:spPr>
          <a:xfrm>
            <a:off x="640080" y="4480560"/>
            <a:ext cx="502920" cy="384048"/>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06</a:t>
            </a:r>
            <a:endParaRPr lang="en-US" sz="1400" dirty="0"/>
          </a:p>
        </p:txBody>
      </p:sp>
      <p:sp>
        <p:nvSpPr>
          <p:cNvPr id="43" name="Text 41"/>
          <p:cNvSpPr/>
          <p:nvPr/>
        </p:nvSpPr>
        <p:spPr>
          <a:xfrm>
            <a:off x="1280160" y="4480560"/>
            <a:ext cx="5486400" cy="201168"/>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Leadership &amp; Organizations</a:t>
            </a:r>
            <a:endParaRPr lang="en-US" sz="1400" dirty="0"/>
          </a:p>
        </p:txBody>
      </p:sp>
      <p:sp>
        <p:nvSpPr>
          <p:cNvPr id="44" name="Text 42"/>
          <p:cNvSpPr/>
          <p:nvPr/>
        </p:nvSpPr>
        <p:spPr>
          <a:xfrm>
            <a:off x="1280160" y="4681728"/>
            <a:ext cx="5486400" cy="18288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Roles, committees, and student bodies</a:t>
            </a:r>
            <a:endParaRPr lang="en-US" sz="1400" dirty="0"/>
          </a:p>
        </p:txBody>
      </p:sp>
      <p:sp>
        <p:nvSpPr>
          <p:cNvPr id="45" name="Text 43"/>
          <p:cNvSpPr/>
          <p:nvPr/>
        </p:nvSpPr>
        <p:spPr>
          <a:xfrm>
            <a:off x="10972800" y="4544568"/>
            <a:ext cx="548640" cy="274320"/>
          </a:xfrm>
          <a:prstGeom prst="rect">
            <a:avLst/>
          </a:prstGeom>
          <a:noFill/>
          <a:ln/>
        </p:spPr>
        <p:txBody>
          <a:bodyPr wrap="square" lIns="0" tIns="0" rIns="0" bIns="0" rtlCol="0" anchor="ctr"/>
          <a:lstStyle/>
          <a:p>
            <a:pPr marL="0" indent="0" algn="r">
              <a:buNone/>
            </a:pPr>
            <a:r>
              <a:rPr lang="en-US" sz="1400" b="1" dirty="0">
                <a:solidFill>
                  <a:srgbClr val="C9A961"/>
                </a:solidFill>
                <a:latin typeface="Calibri" pitchFamily="34" charset="0"/>
                <a:ea typeface="Calibri" pitchFamily="34" charset="-122"/>
                <a:cs typeface="Calibri" pitchFamily="34" charset="-120"/>
              </a:rPr>
              <a:t>18</a:t>
            </a:r>
            <a:endParaRPr lang="en-US" sz="1400" dirty="0"/>
          </a:p>
        </p:txBody>
      </p:sp>
      <p:sp>
        <p:nvSpPr>
          <p:cNvPr id="46" name="Shape 44"/>
          <p:cNvSpPr/>
          <p:nvPr/>
        </p:nvSpPr>
        <p:spPr>
          <a:xfrm>
            <a:off x="640080" y="4956048"/>
            <a:ext cx="502920" cy="384048"/>
          </a:xfrm>
          <a:prstGeom prst="rect">
            <a:avLst/>
          </a:prstGeom>
          <a:solidFill>
            <a:srgbClr val="0A1628"/>
          </a:solidFill>
          <a:ln w="12700">
            <a:solidFill>
              <a:srgbClr val="0A1628"/>
            </a:solidFill>
            <a:prstDash val="solid"/>
          </a:ln>
        </p:spPr>
      </p:sp>
      <p:sp>
        <p:nvSpPr>
          <p:cNvPr id="47" name="Text 45"/>
          <p:cNvSpPr/>
          <p:nvPr/>
        </p:nvSpPr>
        <p:spPr>
          <a:xfrm>
            <a:off x="640080" y="4956048"/>
            <a:ext cx="502920" cy="384048"/>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07</a:t>
            </a:r>
            <a:endParaRPr lang="en-US" sz="1400" dirty="0"/>
          </a:p>
        </p:txBody>
      </p:sp>
      <p:sp>
        <p:nvSpPr>
          <p:cNvPr id="48" name="Text 46"/>
          <p:cNvSpPr/>
          <p:nvPr/>
        </p:nvSpPr>
        <p:spPr>
          <a:xfrm>
            <a:off x="1280160" y="4956048"/>
            <a:ext cx="5486400" cy="201168"/>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Achievements &amp; Certifications</a:t>
            </a:r>
            <a:endParaRPr lang="en-US" sz="1400" dirty="0"/>
          </a:p>
        </p:txBody>
      </p:sp>
      <p:sp>
        <p:nvSpPr>
          <p:cNvPr id="49" name="Text 47"/>
          <p:cNvSpPr/>
          <p:nvPr/>
        </p:nvSpPr>
        <p:spPr>
          <a:xfrm>
            <a:off x="1280160" y="5157216"/>
            <a:ext cx="5486400" cy="18288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Competition wins and certifications</a:t>
            </a:r>
            <a:endParaRPr lang="en-US" sz="1400" dirty="0"/>
          </a:p>
        </p:txBody>
      </p:sp>
      <p:sp>
        <p:nvSpPr>
          <p:cNvPr id="50" name="Text 48"/>
          <p:cNvSpPr/>
          <p:nvPr/>
        </p:nvSpPr>
        <p:spPr>
          <a:xfrm>
            <a:off x="10972800" y="5020056"/>
            <a:ext cx="548640" cy="274320"/>
          </a:xfrm>
          <a:prstGeom prst="rect">
            <a:avLst/>
          </a:prstGeom>
          <a:noFill/>
          <a:ln/>
        </p:spPr>
        <p:txBody>
          <a:bodyPr wrap="square" lIns="0" tIns="0" rIns="0" bIns="0" rtlCol="0" anchor="ctr"/>
          <a:lstStyle/>
          <a:p>
            <a:pPr marL="0" indent="0" algn="r">
              <a:buNone/>
            </a:pPr>
            <a:r>
              <a:rPr lang="en-US" sz="1400" b="1" dirty="0">
                <a:solidFill>
                  <a:srgbClr val="C9A961"/>
                </a:solidFill>
                <a:latin typeface="Calibri" pitchFamily="34" charset="0"/>
                <a:ea typeface="Calibri" pitchFamily="34" charset="-122"/>
                <a:cs typeface="Calibri" pitchFamily="34" charset="-120"/>
              </a:rPr>
              <a:t>19</a:t>
            </a:r>
            <a:endParaRPr lang="en-US" sz="1400" dirty="0"/>
          </a:p>
        </p:txBody>
      </p:sp>
      <p:sp>
        <p:nvSpPr>
          <p:cNvPr id="51" name="Shape 49"/>
          <p:cNvSpPr/>
          <p:nvPr/>
        </p:nvSpPr>
        <p:spPr>
          <a:xfrm>
            <a:off x="640080" y="5431536"/>
            <a:ext cx="502920" cy="384048"/>
          </a:xfrm>
          <a:prstGeom prst="rect">
            <a:avLst/>
          </a:prstGeom>
          <a:solidFill>
            <a:srgbClr val="0A1628"/>
          </a:solidFill>
          <a:ln w="12700">
            <a:solidFill>
              <a:srgbClr val="0A1628"/>
            </a:solidFill>
            <a:prstDash val="solid"/>
          </a:ln>
        </p:spPr>
      </p:sp>
      <p:sp>
        <p:nvSpPr>
          <p:cNvPr id="52" name="Text 50"/>
          <p:cNvSpPr/>
          <p:nvPr/>
        </p:nvSpPr>
        <p:spPr>
          <a:xfrm>
            <a:off x="640080" y="5431536"/>
            <a:ext cx="502920" cy="384048"/>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08</a:t>
            </a:r>
            <a:endParaRPr lang="en-US" sz="1400" dirty="0"/>
          </a:p>
        </p:txBody>
      </p:sp>
      <p:sp>
        <p:nvSpPr>
          <p:cNvPr id="53" name="Text 51"/>
          <p:cNvSpPr/>
          <p:nvPr/>
        </p:nvSpPr>
        <p:spPr>
          <a:xfrm>
            <a:off x="1280160" y="5431536"/>
            <a:ext cx="5486400" cy="201168"/>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Contact</a:t>
            </a:r>
            <a:endParaRPr lang="en-US" sz="1400" dirty="0"/>
          </a:p>
        </p:txBody>
      </p:sp>
      <p:sp>
        <p:nvSpPr>
          <p:cNvPr id="54" name="Text 52"/>
          <p:cNvSpPr/>
          <p:nvPr/>
        </p:nvSpPr>
        <p:spPr>
          <a:xfrm>
            <a:off x="1280160" y="5632704"/>
            <a:ext cx="5486400" cy="18288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How to reach me</a:t>
            </a:r>
            <a:endParaRPr lang="en-US" sz="1400" dirty="0"/>
          </a:p>
        </p:txBody>
      </p:sp>
      <p:sp>
        <p:nvSpPr>
          <p:cNvPr id="55" name="Text 53"/>
          <p:cNvSpPr/>
          <p:nvPr/>
        </p:nvSpPr>
        <p:spPr>
          <a:xfrm>
            <a:off x="10972800" y="5495544"/>
            <a:ext cx="548640" cy="274320"/>
          </a:xfrm>
          <a:prstGeom prst="rect">
            <a:avLst/>
          </a:prstGeom>
          <a:noFill/>
          <a:ln/>
        </p:spPr>
        <p:txBody>
          <a:bodyPr wrap="square" lIns="0" tIns="0" rIns="0" bIns="0" rtlCol="0" anchor="ctr"/>
          <a:lstStyle/>
          <a:p>
            <a:pPr marL="0" indent="0" algn="r">
              <a:buNone/>
            </a:pPr>
            <a:r>
              <a:rPr lang="en-US" sz="1400" b="1" dirty="0">
                <a:solidFill>
                  <a:srgbClr val="C9A961"/>
                </a:solidFill>
                <a:latin typeface="Calibri" pitchFamily="34" charset="0"/>
                <a:ea typeface="Calibri" pitchFamily="34" charset="-122"/>
                <a:cs typeface="Calibri" pitchFamily="34" charset="-120"/>
              </a:rPr>
              <a:t>20</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EE"/>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0A1628"/>
          </a:solidFill>
          <a:ln w="12700">
            <a:solidFill>
              <a:srgbClr val="0A1628"/>
            </a:solidFill>
            <a:prstDash val="solid"/>
          </a:ln>
        </p:spPr>
      </p:sp>
      <p:sp>
        <p:nvSpPr>
          <p:cNvPr id="3" name="Shape 1"/>
          <p:cNvSpPr/>
          <p:nvPr/>
        </p:nvSpPr>
        <p:spPr>
          <a:xfrm>
            <a:off x="0" y="457200"/>
            <a:ext cx="12161520" cy="36576"/>
          </a:xfrm>
          <a:prstGeom prst="rect">
            <a:avLst/>
          </a:prstGeom>
          <a:solidFill>
            <a:srgbClr val="C9A961"/>
          </a:solidFill>
          <a:ln w="12700">
            <a:solidFill>
              <a:srgbClr val="C9A961"/>
            </a:solidFill>
            <a:prstDash val="solid"/>
          </a:ln>
        </p:spPr>
      </p:sp>
      <p:sp>
        <p:nvSpPr>
          <p:cNvPr id="4" name="Text 2"/>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5" name="Text 3"/>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6" name="Text 4"/>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3 / 17</a:t>
            </a:r>
            <a:endParaRPr lang="en-US" sz="900" dirty="0"/>
          </a:p>
        </p:txBody>
      </p:sp>
      <p:sp>
        <p:nvSpPr>
          <p:cNvPr id="7" name="Shape 5"/>
          <p:cNvSpPr/>
          <p:nvPr/>
        </p:nvSpPr>
        <p:spPr>
          <a:xfrm>
            <a:off x="0" y="6565392"/>
            <a:ext cx="12161520" cy="292608"/>
          </a:xfrm>
          <a:prstGeom prst="rect">
            <a:avLst/>
          </a:prstGeom>
          <a:solidFill>
            <a:srgbClr val="1B2D4A"/>
          </a:solidFill>
          <a:ln w="12700">
            <a:solidFill>
              <a:srgbClr val="1B2D4A"/>
            </a:solidFill>
            <a:prstDash val="solid"/>
          </a:ln>
        </p:spPr>
      </p:sp>
      <p:sp>
        <p:nvSpPr>
          <p:cNvPr id="8" name="Shape 6"/>
          <p:cNvSpPr/>
          <p:nvPr/>
        </p:nvSpPr>
        <p:spPr>
          <a:xfrm>
            <a:off x="0" y="6547104"/>
            <a:ext cx="12161520" cy="18288"/>
          </a:xfrm>
          <a:prstGeom prst="rect">
            <a:avLst/>
          </a:prstGeom>
          <a:solidFill>
            <a:srgbClr val="C9A961"/>
          </a:solidFill>
          <a:ln w="12700">
            <a:solidFill>
              <a:srgbClr val="C9A961"/>
            </a:solidFill>
            <a:prstDash val="solid"/>
          </a:ln>
        </p:spPr>
      </p:sp>
      <p:sp>
        <p:nvSpPr>
          <p:cNvPr id="9" name="Text 7"/>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0" name="Text 8"/>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11" name="Text 9"/>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12" name="Text 10"/>
          <p:cNvSpPr/>
          <p:nvPr/>
        </p:nvSpPr>
        <p:spPr>
          <a:xfrm>
            <a:off x="640080" y="822960"/>
            <a:ext cx="45720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01  ·  ABOUT ME</a:t>
            </a:r>
            <a:endParaRPr lang="en-US" sz="2000" dirty="0"/>
          </a:p>
        </p:txBody>
      </p:sp>
      <p:sp>
        <p:nvSpPr>
          <p:cNvPr id="13" name="Shape 11"/>
          <p:cNvSpPr/>
          <p:nvPr/>
        </p:nvSpPr>
        <p:spPr>
          <a:xfrm>
            <a:off x="640080" y="1115568"/>
            <a:ext cx="640080" cy="27432"/>
          </a:xfrm>
          <a:prstGeom prst="rect">
            <a:avLst/>
          </a:prstGeom>
          <a:solidFill>
            <a:srgbClr val="C9A961"/>
          </a:solidFill>
          <a:ln w="12700">
            <a:solidFill>
              <a:srgbClr val="C9A961"/>
            </a:solidFill>
            <a:prstDash val="solid"/>
          </a:ln>
        </p:spPr>
      </p:sp>
      <p:sp>
        <p:nvSpPr>
          <p:cNvPr id="14" name="Text 12"/>
          <p:cNvSpPr/>
          <p:nvPr/>
        </p:nvSpPr>
        <p:spPr>
          <a:xfrm>
            <a:off x="640080" y="1207008"/>
            <a:ext cx="8229600" cy="548640"/>
          </a:xfrm>
          <a:prstGeom prst="rect">
            <a:avLst/>
          </a:prstGeom>
          <a:noFill/>
          <a:ln/>
        </p:spPr>
        <p:txBody>
          <a:bodyPr wrap="square" lIns="0" tIns="0" rIns="0" bIns="0" rtlCol="0" anchor="ctr"/>
          <a:lstStyle/>
          <a:p>
            <a:pPr marL="0" indent="0">
              <a:buNone/>
            </a:pPr>
            <a:r>
              <a:rPr lang="en-US" sz="2800" b="1" dirty="0">
                <a:solidFill>
                  <a:srgbClr val="0A1628"/>
                </a:solidFill>
                <a:latin typeface="Calibri" pitchFamily="34" charset="0"/>
                <a:ea typeface="Calibri" pitchFamily="34" charset="-122"/>
                <a:cs typeface="Calibri" pitchFamily="34" charset="-120"/>
              </a:rPr>
              <a:t>About Me</a:t>
            </a:r>
            <a:endParaRPr lang="en-US" sz="2800" dirty="0"/>
          </a:p>
        </p:txBody>
      </p:sp>
      <p:pic>
        <p:nvPicPr>
          <p:cNvPr id="15" name="Image 0" descr="/home/claude/profile_circle.png"/>
          <p:cNvPicPr>
            <a:picLocks noChangeAspect="1"/>
          </p:cNvPicPr>
          <p:nvPr/>
        </p:nvPicPr>
        <p:blipFill>
          <a:blip r:embed="rId3"/>
          <a:stretch>
            <a:fillRect/>
          </a:stretch>
        </p:blipFill>
        <p:spPr>
          <a:xfrm>
            <a:off x="8961120" y="1828800"/>
            <a:ext cx="2286000" cy="2286000"/>
          </a:xfrm>
          <a:prstGeom prst="rect">
            <a:avLst/>
          </a:prstGeom>
        </p:spPr>
      </p:pic>
      <p:sp>
        <p:nvSpPr>
          <p:cNvPr id="16" name="Shape 13"/>
          <p:cNvSpPr/>
          <p:nvPr/>
        </p:nvSpPr>
        <p:spPr>
          <a:xfrm>
            <a:off x="8961120" y="1828800"/>
            <a:ext cx="2286000" cy="2286000"/>
          </a:xfrm>
          <a:prstGeom prst="ellipse">
            <a:avLst/>
          </a:prstGeom>
          <a:solidFill>
            <a:srgbClr val="FFFFFF">
              <a:alpha val="0"/>
            </a:srgbClr>
          </a:solidFill>
          <a:ln w="31750">
            <a:solidFill>
              <a:srgbClr val="C9A961"/>
            </a:solidFill>
            <a:prstDash val="solid"/>
          </a:ln>
        </p:spPr>
      </p:sp>
      <p:sp>
        <p:nvSpPr>
          <p:cNvPr id="17" name="Text 14"/>
          <p:cNvSpPr/>
          <p:nvPr/>
        </p:nvSpPr>
        <p:spPr>
          <a:xfrm>
            <a:off x="640080" y="1691640"/>
            <a:ext cx="8229600" cy="3657600"/>
          </a:xfrm>
          <a:prstGeom prst="rect">
            <a:avLst/>
          </a:prstGeom>
          <a:noFill/>
          <a:ln/>
        </p:spPr>
        <p:txBody>
          <a:bodyPr wrap="square" lIns="0" tIns="0" rIns="0" bIns="0" rtlCol="0" anchor="t"/>
          <a:lstStyle/>
          <a:p>
            <a:pPr marL="0" indent="0" algn="just">
              <a:buNone/>
            </a:pPr>
            <a:r>
              <a:rPr lang="en-US" sz="1400" dirty="0">
                <a:solidFill>
                  <a:srgbClr val="1A1A1A"/>
                </a:solidFill>
                <a:latin typeface="Calibri" pitchFamily="34" charset="0"/>
                <a:ea typeface="Calibri" pitchFamily="34" charset="-122"/>
                <a:cs typeface="Calibri" pitchFamily="34" charset="-120"/>
              </a:rPr>
              <a:t>I am a final-year Electrical Engineering student at Universitas Islam Indonesia with a deep enthusiasm for the intersection of power systems, embedded technology, and modern artificial intelligence. As a full scholarship awardee through the UII Excellent Community program, I have consistently maintained academic excellence while actively engaging in research, leadership, and entrepreneurial initiatives.</a:t>
            </a:r>
            <a:endParaRPr lang="en-US" sz="1400" dirty="0"/>
          </a:p>
          <a:p>
            <a:pPr marL="0" indent="0" algn="just">
              <a:buNone/>
            </a:pPr>
            <a:r>
              <a:rPr lang="en-US" sz="1400" dirty="0">
                <a:solidFill>
                  <a:srgbClr val="1A1A1A"/>
                </a:solidFill>
                <a:latin typeface="Calibri" pitchFamily="34" charset="0"/>
                <a:ea typeface="Calibri" pitchFamily="34" charset="-122"/>
                <a:cs typeface="Calibri" pitchFamily="34" charset="-120"/>
              </a:rPr>
              <a:t> </a:t>
            </a:r>
            <a:endParaRPr lang="en-US" sz="1400" dirty="0"/>
          </a:p>
          <a:p>
            <a:pPr marL="0" indent="0" algn="just">
              <a:buNone/>
            </a:pPr>
            <a:r>
              <a:rPr lang="en-US" sz="1400" dirty="0">
                <a:solidFill>
                  <a:srgbClr val="1A1A1A"/>
                </a:solidFill>
                <a:latin typeface="Calibri" pitchFamily="34" charset="0"/>
                <a:ea typeface="Calibri" pitchFamily="34" charset="-122"/>
                <a:cs typeface="Calibri" pitchFamily="34" charset="-120"/>
              </a:rPr>
              <a:t>My professional interests span Electrical Engineering, Internet of Things (IoT), Machine Learning, and Generative AI applications in industry. I have hands-on experience designing end-to-end smart systems, combining hardware (ESP32, sensors, PLC, microcontrollers) with predictive ML models and large language model integrations. Beyond technical work, I bring proven leadership in student organizations and a track record of competition wins and research grants.</a:t>
            </a:r>
            <a:endParaRPr lang="en-US" sz="1400" dirty="0"/>
          </a:p>
          <a:p>
            <a:pPr marL="0" indent="0" algn="just">
              <a:buNone/>
            </a:pPr>
            <a:r>
              <a:rPr lang="en-US" sz="1400" dirty="0">
                <a:solidFill>
                  <a:srgbClr val="1A1A1A"/>
                </a:solidFill>
                <a:latin typeface="Calibri" pitchFamily="34" charset="0"/>
                <a:ea typeface="Calibri" pitchFamily="34" charset="-122"/>
                <a:cs typeface="Calibri" pitchFamily="34" charset="-120"/>
              </a:rPr>
              <a:t> </a:t>
            </a:r>
            <a:endParaRPr lang="en-US" sz="1400" dirty="0"/>
          </a:p>
          <a:p>
            <a:pPr marL="0" indent="0" algn="just">
              <a:buNone/>
            </a:pPr>
            <a:r>
              <a:rPr lang="en-US" sz="1400" dirty="0">
                <a:solidFill>
                  <a:srgbClr val="1A1A1A"/>
                </a:solidFill>
                <a:latin typeface="Calibri" pitchFamily="34" charset="0"/>
                <a:ea typeface="Calibri" pitchFamily="34" charset="-122"/>
                <a:cs typeface="Calibri" pitchFamily="34" charset="-120"/>
              </a:rPr>
              <a:t>I am driven, adaptive, and committed to continuous learning. I thrive in collaborative, forward-thinking environments where I can contribute to meaningful innovation while growing alongside experienced professionals.</a:t>
            </a:r>
            <a:endParaRPr lang="en-US" sz="1400" dirty="0"/>
          </a:p>
        </p:txBody>
      </p:sp>
      <p:sp>
        <p:nvSpPr>
          <p:cNvPr id="18" name="Shape 15"/>
          <p:cNvSpPr/>
          <p:nvPr/>
        </p:nvSpPr>
        <p:spPr>
          <a:xfrm>
            <a:off x="640080" y="5486400"/>
            <a:ext cx="10881360" cy="914400"/>
          </a:xfrm>
          <a:prstGeom prst="rect">
            <a:avLst/>
          </a:prstGeom>
          <a:solidFill>
            <a:srgbClr val="0A1628"/>
          </a:solidFill>
          <a:ln w="12700">
            <a:solidFill>
              <a:srgbClr val="0A1628"/>
            </a:solidFill>
            <a:prstDash val="solid"/>
          </a:ln>
          <a:effectLst>
            <a:outerShdw blurRad="76200" dist="25400" dir="8100000" algn="bl" rotWithShape="0">
              <a:srgbClr val="000000">
                <a:alpha val="12000"/>
              </a:srgbClr>
            </a:outerShdw>
          </a:effectLst>
        </p:spPr>
      </p:sp>
      <p:sp>
        <p:nvSpPr>
          <p:cNvPr id="19" name="Shape 16"/>
          <p:cNvSpPr/>
          <p:nvPr/>
        </p:nvSpPr>
        <p:spPr>
          <a:xfrm>
            <a:off x="640080" y="5486400"/>
            <a:ext cx="73152" cy="914400"/>
          </a:xfrm>
          <a:prstGeom prst="rect">
            <a:avLst/>
          </a:prstGeom>
          <a:solidFill>
            <a:srgbClr val="C9A961"/>
          </a:solidFill>
          <a:ln w="12700">
            <a:solidFill>
              <a:srgbClr val="C9A961"/>
            </a:solidFill>
            <a:prstDash val="solid"/>
          </a:ln>
        </p:spPr>
      </p:sp>
      <p:sp>
        <p:nvSpPr>
          <p:cNvPr id="20" name="Text 17"/>
          <p:cNvSpPr/>
          <p:nvPr/>
        </p:nvSpPr>
        <p:spPr>
          <a:xfrm>
            <a:off x="868680" y="5577840"/>
            <a:ext cx="4572000" cy="228600"/>
          </a:xfrm>
          <a:prstGeom prst="rect">
            <a:avLst/>
          </a:prstGeom>
          <a:noFill/>
          <a:ln/>
        </p:spPr>
        <p:txBody>
          <a:bodyPr wrap="square" lIns="0" tIns="0" rIns="0" bIns="0" rtlCol="0" anchor="ctr"/>
          <a:lstStyle/>
          <a:p>
            <a:pPr marL="0" indent="0">
              <a:buNone/>
            </a:pPr>
            <a:r>
              <a:rPr lang="en-US" sz="1100" b="1" dirty="0">
                <a:solidFill>
                  <a:srgbClr val="C9A961"/>
                </a:solidFill>
                <a:latin typeface="Calibri" pitchFamily="34" charset="0"/>
                <a:ea typeface="Calibri" pitchFamily="34" charset="-122"/>
                <a:cs typeface="Calibri" pitchFamily="34" charset="-120"/>
              </a:rPr>
              <a:t>CAREER OBJECTIVE</a:t>
            </a:r>
            <a:endParaRPr lang="en-US" sz="1100" dirty="0"/>
          </a:p>
        </p:txBody>
      </p:sp>
      <p:sp>
        <p:nvSpPr>
          <p:cNvPr id="21" name="Text 18"/>
          <p:cNvSpPr/>
          <p:nvPr/>
        </p:nvSpPr>
        <p:spPr>
          <a:xfrm>
            <a:off x="868680" y="5852160"/>
            <a:ext cx="10607040" cy="502920"/>
          </a:xfrm>
          <a:prstGeom prst="rect">
            <a:avLst/>
          </a:prstGeom>
          <a:noFill/>
          <a:ln/>
        </p:spPr>
        <p:txBody>
          <a:bodyPr wrap="square" lIns="0" tIns="0" rIns="0" bIns="0" rtlCol="0" anchor="t"/>
          <a:lstStyle/>
          <a:p>
            <a:pPr marL="0" indent="0">
              <a:buNone/>
            </a:pPr>
            <a:r>
              <a:rPr lang="en-US" sz="1200" i="1" dirty="0">
                <a:solidFill>
                  <a:srgbClr val="FFFFFF"/>
                </a:solidFill>
                <a:latin typeface="Calibri" pitchFamily="34" charset="0"/>
                <a:ea typeface="Calibri" pitchFamily="34" charset="-122"/>
                <a:cs typeface="Calibri" pitchFamily="34" charset="-120"/>
              </a:rPr>
              <a:t>To contribute to a forward-thinking organization as an Engineer, Data, or AI/ML specialist — leveraging my electrical engineering foundation, programming skills, and passion for innovation to build impactful, intelligent industrial solutions.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EE"/>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0A1628"/>
          </a:solidFill>
          <a:ln w="12700">
            <a:solidFill>
              <a:srgbClr val="0A1628"/>
            </a:solidFill>
            <a:prstDash val="solid"/>
          </a:ln>
        </p:spPr>
      </p:sp>
      <p:sp>
        <p:nvSpPr>
          <p:cNvPr id="3" name="Shape 1"/>
          <p:cNvSpPr/>
          <p:nvPr/>
        </p:nvSpPr>
        <p:spPr>
          <a:xfrm>
            <a:off x="0" y="457200"/>
            <a:ext cx="12161520" cy="36576"/>
          </a:xfrm>
          <a:prstGeom prst="rect">
            <a:avLst/>
          </a:prstGeom>
          <a:solidFill>
            <a:srgbClr val="C9A961"/>
          </a:solidFill>
          <a:ln w="12700">
            <a:solidFill>
              <a:srgbClr val="C9A961"/>
            </a:solidFill>
            <a:prstDash val="solid"/>
          </a:ln>
        </p:spPr>
      </p:sp>
      <p:sp>
        <p:nvSpPr>
          <p:cNvPr id="4" name="Text 2"/>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5" name="Text 3"/>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6" name="Text 4"/>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4 / 17</a:t>
            </a:r>
            <a:endParaRPr lang="en-US" sz="900" dirty="0"/>
          </a:p>
        </p:txBody>
      </p:sp>
      <p:sp>
        <p:nvSpPr>
          <p:cNvPr id="7" name="Shape 5"/>
          <p:cNvSpPr/>
          <p:nvPr/>
        </p:nvSpPr>
        <p:spPr>
          <a:xfrm>
            <a:off x="0" y="6565392"/>
            <a:ext cx="12161520" cy="292608"/>
          </a:xfrm>
          <a:prstGeom prst="rect">
            <a:avLst/>
          </a:prstGeom>
          <a:solidFill>
            <a:srgbClr val="1B2D4A"/>
          </a:solidFill>
          <a:ln w="12700">
            <a:solidFill>
              <a:srgbClr val="1B2D4A"/>
            </a:solidFill>
            <a:prstDash val="solid"/>
          </a:ln>
        </p:spPr>
      </p:sp>
      <p:sp>
        <p:nvSpPr>
          <p:cNvPr id="8" name="Shape 6"/>
          <p:cNvSpPr/>
          <p:nvPr/>
        </p:nvSpPr>
        <p:spPr>
          <a:xfrm>
            <a:off x="0" y="6547104"/>
            <a:ext cx="12161520" cy="18288"/>
          </a:xfrm>
          <a:prstGeom prst="rect">
            <a:avLst/>
          </a:prstGeom>
          <a:solidFill>
            <a:srgbClr val="C9A961"/>
          </a:solidFill>
          <a:ln w="12700">
            <a:solidFill>
              <a:srgbClr val="C9A961"/>
            </a:solidFill>
            <a:prstDash val="solid"/>
          </a:ln>
        </p:spPr>
      </p:sp>
      <p:sp>
        <p:nvSpPr>
          <p:cNvPr id="9" name="Text 7"/>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0" name="Text 8"/>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11" name="Text 9"/>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12" name="Text 10"/>
          <p:cNvSpPr/>
          <p:nvPr/>
        </p:nvSpPr>
        <p:spPr>
          <a:xfrm>
            <a:off x="640080" y="822960"/>
            <a:ext cx="45720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02  ·  EDUCATION</a:t>
            </a:r>
            <a:endParaRPr lang="en-US" sz="2000" dirty="0"/>
          </a:p>
        </p:txBody>
      </p:sp>
      <p:sp>
        <p:nvSpPr>
          <p:cNvPr id="13" name="Shape 11"/>
          <p:cNvSpPr/>
          <p:nvPr/>
        </p:nvSpPr>
        <p:spPr>
          <a:xfrm>
            <a:off x="640080" y="1115568"/>
            <a:ext cx="640080" cy="27432"/>
          </a:xfrm>
          <a:prstGeom prst="rect">
            <a:avLst/>
          </a:prstGeom>
          <a:solidFill>
            <a:srgbClr val="C9A961"/>
          </a:solidFill>
          <a:ln w="12700">
            <a:solidFill>
              <a:srgbClr val="C9A961"/>
            </a:solidFill>
            <a:prstDash val="solid"/>
          </a:ln>
        </p:spPr>
      </p:sp>
      <p:sp>
        <p:nvSpPr>
          <p:cNvPr id="14" name="Text 12"/>
          <p:cNvSpPr/>
          <p:nvPr/>
        </p:nvSpPr>
        <p:spPr>
          <a:xfrm>
            <a:off x="640080" y="1207008"/>
            <a:ext cx="8229600" cy="548640"/>
          </a:xfrm>
          <a:prstGeom prst="rect">
            <a:avLst/>
          </a:prstGeom>
          <a:noFill/>
          <a:ln/>
        </p:spPr>
        <p:txBody>
          <a:bodyPr wrap="square" lIns="0" tIns="0" rIns="0" bIns="0" rtlCol="0" anchor="ctr"/>
          <a:lstStyle/>
          <a:p>
            <a:pPr marL="0" indent="0">
              <a:buNone/>
            </a:pPr>
            <a:r>
              <a:rPr lang="en-US" sz="2800" b="1" dirty="0">
                <a:solidFill>
                  <a:srgbClr val="0A1628"/>
                </a:solidFill>
                <a:latin typeface="Calibri" pitchFamily="34" charset="0"/>
                <a:ea typeface="Calibri" pitchFamily="34" charset="-122"/>
                <a:cs typeface="Calibri" pitchFamily="34" charset="-120"/>
              </a:rPr>
              <a:t>Education &amp; Academic Records</a:t>
            </a:r>
            <a:endParaRPr lang="en-US" sz="2800" dirty="0"/>
          </a:p>
        </p:txBody>
      </p:sp>
      <p:sp>
        <p:nvSpPr>
          <p:cNvPr id="15" name="Shape 13"/>
          <p:cNvSpPr/>
          <p:nvPr/>
        </p:nvSpPr>
        <p:spPr>
          <a:xfrm>
            <a:off x="640080" y="1828800"/>
            <a:ext cx="10881360" cy="182880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16" name="Shape 14"/>
          <p:cNvSpPr/>
          <p:nvPr/>
        </p:nvSpPr>
        <p:spPr>
          <a:xfrm>
            <a:off x="640080" y="1828800"/>
            <a:ext cx="91440" cy="1828800"/>
          </a:xfrm>
          <a:prstGeom prst="rect">
            <a:avLst/>
          </a:prstGeom>
          <a:solidFill>
            <a:srgbClr val="C9A961"/>
          </a:solidFill>
          <a:ln w="12700">
            <a:solidFill>
              <a:srgbClr val="C9A961"/>
            </a:solidFill>
            <a:prstDash val="solid"/>
          </a:ln>
        </p:spPr>
      </p:sp>
      <p:sp>
        <p:nvSpPr>
          <p:cNvPr id="17" name="Text 15"/>
          <p:cNvSpPr/>
          <p:nvPr/>
        </p:nvSpPr>
        <p:spPr>
          <a:xfrm>
            <a:off x="914400" y="1965960"/>
            <a:ext cx="7315200" cy="365760"/>
          </a:xfrm>
          <a:prstGeom prst="rect">
            <a:avLst/>
          </a:prstGeom>
          <a:noFill/>
          <a:ln/>
        </p:spPr>
        <p:txBody>
          <a:bodyPr wrap="square" lIns="0" tIns="0" rIns="0" bIns="0" rtlCol="0" anchor="ctr"/>
          <a:lstStyle/>
          <a:p>
            <a:pPr marL="0" indent="0">
              <a:buNone/>
            </a:pPr>
            <a:r>
              <a:rPr lang="en-US" sz="1800" b="1" dirty="0">
                <a:solidFill>
                  <a:srgbClr val="0A1628"/>
                </a:solidFill>
                <a:latin typeface="Calibri" pitchFamily="34" charset="0"/>
                <a:ea typeface="Calibri" pitchFamily="34" charset="-122"/>
                <a:cs typeface="Calibri" pitchFamily="34" charset="-120"/>
              </a:rPr>
              <a:t>Universitas Islam Indonesia (UII)</a:t>
            </a:r>
            <a:endParaRPr lang="en-US" sz="1800" dirty="0"/>
          </a:p>
        </p:txBody>
      </p:sp>
      <p:sp>
        <p:nvSpPr>
          <p:cNvPr id="18" name="Text 16"/>
          <p:cNvSpPr/>
          <p:nvPr/>
        </p:nvSpPr>
        <p:spPr>
          <a:xfrm>
            <a:off x="8046720" y="1965960"/>
            <a:ext cx="2743200" cy="274320"/>
          </a:xfrm>
          <a:prstGeom prst="rect">
            <a:avLst/>
          </a:prstGeom>
          <a:noFill/>
          <a:ln/>
        </p:spPr>
        <p:txBody>
          <a:bodyPr wrap="square" lIns="0" tIns="0" rIns="0" bIns="0" rtlCol="0" anchor="ctr"/>
          <a:lstStyle/>
          <a:p>
            <a:pPr marL="0" indent="0" algn="r">
              <a:buNone/>
            </a:pPr>
            <a:r>
              <a:rPr lang="en-US" sz="1200" b="1" dirty="0">
                <a:solidFill>
                  <a:srgbClr val="C9A961"/>
                </a:solidFill>
                <a:latin typeface="Calibri" pitchFamily="34" charset="0"/>
                <a:ea typeface="Calibri" pitchFamily="34" charset="-122"/>
                <a:cs typeface="Calibri" pitchFamily="34" charset="-120"/>
              </a:rPr>
              <a:t>Aug 2022 – Present</a:t>
            </a:r>
            <a:endParaRPr lang="en-US" sz="1200" dirty="0"/>
          </a:p>
        </p:txBody>
      </p:sp>
      <p:sp>
        <p:nvSpPr>
          <p:cNvPr id="19" name="Text 17"/>
          <p:cNvSpPr/>
          <p:nvPr/>
        </p:nvSpPr>
        <p:spPr>
          <a:xfrm>
            <a:off x="914400" y="2331720"/>
            <a:ext cx="10332720" cy="27432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Bachelor of Electrical Engineering · Faculty of Industrial Technology</a:t>
            </a:r>
            <a:endParaRPr lang="en-US" sz="1300" dirty="0"/>
          </a:p>
        </p:txBody>
      </p:sp>
      <p:sp>
        <p:nvSpPr>
          <p:cNvPr id="20" name="Text 18"/>
          <p:cNvSpPr/>
          <p:nvPr/>
        </p:nvSpPr>
        <p:spPr>
          <a:xfrm>
            <a:off x="914400" y="2697480"/>
            <a:ext cx="4572000" cy="548640"/>
          </a:xfrm>
          <a:prstGeom prst="rect">
            <a:avLst/>
          </a:prstGeom>
          <a:noFill/>
          <a:ln/>
        </p:spPr>
        <p:txBody>
          <a:bodyPr wrap="square" lIns="0" tIns="0" rIns="0" bIns="0" rtlCol="0" anchor="ctr"/>
          <a:lstStyle/>
          <a:p>
            <a:pPr marL="0" indent="0">
              <a:buNone/>
            </a:pPr>
            <a:r>
              <a:rPr lang="en-US" sz="1600" b="1" dirty="0">
                <a:solidFill>
                  <a:srgbClr val="0A1628"/>
                </a:solidFill>
                <a:latin typeface="Calibri" pitchFamily="34" charset="0"/>
                <a:ea typeface="Calibri" pitchFamily="34" charset="-122"/>
                <a:cs typeface="Calibri" pitchFamily="34" charset="-120"/>
              </a:rPr>
              <a:t>GPA  </a:t>
            </a:r>
            <a:r>
              <a:rPr lang="en-US" sz="2800" b="1" dirty="0">
                <a:solidFill>
                  <a:srgbClr val="C9A961"/>
                </a:solidFill>
                <a:latin typeface="Calibri" pitchFamily="34" charset="0"/>
                <a:ea typeface="Calibri" pitchFamily="34" charset="-122"/>
                <a:cs typeface="Calibri" pitchFamily="34" charset="-120"/>
              </a:rPr>
              <a:t>3.78 / 4.00</a:t>
            </a:r>
            <a:endParaRPr lang="en-US" sz="1600" dirty="0"/>
          </a:p>
        </p:txBody>
      </p:sp>
      <p:sp>
        <p:nvSpPr>
          <p:cNvPr id="21" name="Text 19"/>
          <p:cNvSpPr/>
          <p:nvPr/>
        </p:nvSpPr>
        <p:spPr>
          <a:xfrm>
            <a:off x="914400" y="3246120"/>
            <a:ext cx="7315200" cy="274320"/>
          </a:xfrm>
          <a:prstGeom prst="rect">
            <a:avLst/>
          </a:prstGeom>
          <a:noFill/>
          <a:ln/>
        </p:spPr>
        <p:txBody>
          <a:bodyPr wrap="square" lIns="0" tIns="0" rIns="0" bIns="0" rtlCol="0" anchor="ctr"/>
          <a:lstStyle/>
          <a:p>
            <a:pPr marL="0" indent="0">
              <a:buNone/>
            </a:pPr>
            <a:r>
              <a:rPr lang="en-US" sz="1100" i="1" dirty="0">
                <a:solidFill>
                  <a:srgbClr val="5A5A5A"/>
                </a:solidFill>
                <a:latin typeface="Calibri" pitchFamily="34" charset="0"/>
                <a:ea typeface="Calibri" pitchFamily="34" charset="-122"/>
                <a:cs typeface="Calibri" pitchFamily="34" charset="-120"/>
              </a:rPr>
              <a:t>140 SKS Completed  ·  UII Excellent Community Scholarship</a:t>
            </a:r>
            <a:endParaRPr lang="en-US" sz="1100" dirty="0"/>
          </a:p>
        </p:txBody>
      </p:sp>
      <p:sp>
        <p:nvSpPr>
          <p:cNvPr id="22" name="Shape 20"/>
          <p:cNvSpPr/>
          <p:nvPr/>
        </p:nvSpPr>
        <p:spPr>
          <a:xfrm>
            <a:off x="640080" y="3931920"/>
            <a:ext cx="10881360" cy="2286000"/>
          </a:xfrm>
          <a:prstGeom prst="rect">
            <a:avLst/>
          </a:prstGeom>
          <a:solidFill>
            <a:srgbClr val="0A1628"/>
          </a:solidFill>
          <a:ln w="12700">
            <a:solidFill>
              <a:srgbClr val="0A1628"/>
            </a:solidFill>
            <a:prstDash val="solid"/>
          </a:ln>
          <a:effectLst>
            <a:outerShdw blurRad="76200" dist="25400" dir="8100000" algn="bl" rotWithShape="0">
              <a:srgbClr val="000000">
                <a:alpha val="12000"/>
              </a:srgbClr>
            </a:outerShdw>
          </a:effectLst>
        </p:spPr>
      </p:sp>
      <p:sp>
        <p:nvSpPr>
          <p:cNvPr id="23" name="Shape 21"/>
          <p:cNvSpPr/>
          <p:nvPr/>
        </p:nvSpPr>
        <p:spPr>
          <a:xfrm>
            <a:off x="640080" y="3931920"/>
            <a:ext cx="73152" cy="2286000"/>
          </a:xfrm>
          <a:prstGeom prst="rect">
            <a:avLst/>
          </a:prstGeom>
          <a:solidFill>
            <a:srgbClr val="C9A961"/>
          </a:solidFill>
          <a:ln w="12700">
            <a:solidFill>
              <a:srgbClr val="C9A961"/>
            </a:solidFill>
            <a:prstDash val="solid"/>
          </a:ln>
        </p:spPr>
      </p:sp>
      <p:sp>
        <p:nvSpPr>
          <p:cNvPr id="24" name="Text 22"/>
          <p:cNvSpPr/>
          <p:nvPr/>
        </p:nvSpPr>
        <p:spPr>
          <a:xfrm>
            <a:off x="868680" y="4069080"/>
            <a:ext cx="4572000" cy="274320"/>
          </a:xfrm>
          <a:prstGeom prst="rect">
            <a:avLst/>
          </a:prstGeom>
          <a:noFill/>
          <a:ln/>
        </p:spPr>
        <p:txBody>
          <a:bodyPr wrap="square" lIns="0" tIns="0" rIns="0" bIns="0" rtlCol="0" anchor="ctr"/>
          <a:lstStyle/>
          <a:p>
            <a:pPr marL="0" indent="0">
              <a:buNone/>
            </a:pPr>
            <a:r>
              <a:rPr lang="en-US" sz="1200" b="1" dirty="0">
                <a:solidFill>
                  <a:srgbClr val="C9A961"/>
                </a:solidFill>
                <a:latin typeface="Calibri" pitchFamily="34" charset="0"/>
                <a:ea typeface="Calibri" pitchFamily="34" charset="-122"/>
                <a:cs typeface="Calibri" pitchFamily="34" charset="-120"/>
              </a:rPr>
              <a:t>KEY COURSEWORK</a:t>
            </a:r>
            <a:endParaRPr lang="en-US" sz="1200" dirty="0"/>
          </a:p>
        </p:txBody>
      </p:sp>
      <p:sp>
        <p:nvSpPr>
          <p:cNvPr id="25" name="Shape 23"/>
          <p:cNvSpPr/>
          <p:nvPr/>
        </p:nvSpPr>
        <p:spPr>
          <a:xfrm>
            <a:off x="914400" y="4507992"/>
            <a:ext cx="73152" cy="73152"/>
          </a:xfrm>
          <a:prstGeom prst="rect">
            <a:avLst/>
          </a:prstGeom>
          <a:solidFill>
            <a:srgbClr val="C9A961"/>
          </a:solidFill>
          <a:ln w="12700">
            <a:solidFill>
              <a:srgbClr val="C9A961"/>
            </a:solidFill>
            <a:prstDash val="solid"/>
          </a:ln>
        </p:spPr>
      </p:sp>
      <p:sp>
        <p:nvSpPr>
          <p:cNvPr id="26" name="Text 24"/>
          <p:cNvSpPr/>
          <p:nvPr/>
        </p:nvSpPr>
        <p:spPr>
          <a:xfrm>
            <a:off x="1097280" y="4434840"/>
            <a:ext cx="457200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Power Systems</a:t>
            </a:r>
            <a:endParaRPr lang="en-US" sz="1100" dirty="0"/>
          </a:p>
        </p:txBody>
      </p:sp>
      <p:sp>
        <p:nvSpPr>
          <p:cNvPr id="27" name="Shape 25"/>
          <p:cNvSpPr/>
          <p:nvPr/>
        </p:nvSpPr>
        <p:spPr>
          <a:xfrm>
            <a:off x="914400" y="4782312"/>
            <a:ext cx="73152" cy="73152"/>
          </a:xfrm>
          <a:prstGeom prst="rect">
            <a:avLst/>
          </a:prstGeom>
          <a:solidFill>
            <a:srgbClr val="C9A961"/>
          </a:solidFill>
          <a:ln w="12700">
            <a:solidFill>
              <a:srgbClr val="C9A961"/>
            </a:solidFill>
            <a:prstDash val="solid"/>
          </a:ln>
        </p:spPr>
      </p:sp>
      <p:sp>
        <p:nvSpPr>
          <p:cNvPr id="28" name="Text 26"/>
          <p:cNvSpPr/>
          <p:nvPr/>
        </p:nvSpPr>
        <p:spPr>
          <a:xfrm>
            <a:off x="1097280" y="4709160"/>
            <a:ext cx="457200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Control Systems</a:t>
            </a:r>
            <a:endParaRPr lang="en-US" sz="1100" dirty="0"/>
          </a:p>
        </p:txBody>
      </p:sp>
      <p:sp>
        <p:nvSpPr>
          <p:cNvPr id="29" name="Shape 27"/>
          <p:cNvSpPr/>
          <p:nvPr/>
        </p:nvSpPr>
        <p:spPr>
          <a:xfrm>
            <a:off x="914400" y="5056632"/>
            <a:ext cx="73152" cy="73152"/>
          </a:xfrm>
          <a:prstGeom prst="rect">
            <a:avLst/>
          </a:prstGeom>
          <a:solidFill>
            <a:srgbClr val="C9A961"/>
          </a:solidFill>
          <a:ln w="12700">
            <a:solidFill>
              <a:srgbClr val="C9A961"/>
            </a:solidFill>
            <a:prstDash val="solid"/>
          </a:ln>
        </p:spPr>
      </p:sp>
      <p:sp>
        <p:nvSpPr>
          <p:cNvPr id="30" name="Text 28"/>
          <p:cNvSpPr/>
          <p:nvPr/>
        </p:nvSpPr>
        <p:spPr>
          <a:xfrm>
            <a:off x="1097280" y="4983480"/>
            <a:ext cx="457200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PLC &amp; SCADA</a:t>
            </a:r>
            <a:endParaRPr lang="en-US" sz="1100" dirty="0"/>
          </a:p>
        </p:txBody>
      </p:sp>
      <p:sp>
        <p:nvSpPr>
          <p:cNvPr id="31" name="Shape 29"/>
          <p:cNvSpPr/>
          <p:nvPr/>
        </p:nvSpPr>
        <p:spPr>
          <a:xfrm>
            <a:off x="914400" y="5330952"/>
            <a:ext cx="73152" cy="73152"/>
          </a:xfrm>
          <a:prstGeom prst="rect">
            <a:avLst/>
          </a:prstGeom>
          <a:solidFill>
            <a:srgbClr val="C9A961"/>
          </a:solidFill>
          <a:ln w="12700">
            <a:solidFill>
              <a:srgbClr val="C9A961"/>
            </a:solidFill>
            <a:prstDash val="solid"/>
          </a:ln>
        </p:spPr>
      </p:sp>
      <p:sp>
        <p:nvSpPr>
          <p:cNvPr id="32" name="Text 30"/>
          <p:cNvSpPr/>
          <p:nvPr/>
        </p:nvSpPr>
        <p:spPr>
          <a:xfrm>
            <a:off x="1097280" y="5257800"/>
            <a:ext cx="457200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Renewable Energy</a:t>
            </a:r>
            <a:endParaRPr lang="en-US" sz="1100" dirty="0"/>
          </a:p>
        </p:txBody>
      </p:sp>
      <p:sp>
        <p:nvSpPr>
          <p:cNvPr id="33" name="Shape 31"/>
          <p:cNvSpPr/>
          <p:nvPr/>
        </p:nvSpPr>
        <p:spPr>
          <a:xfrm>
            <a:off x="914400" y="5605272"/>
            <a:ext cx="73152" cy="73152"/>
          </a:xfrm>
          <a:prstGeom prst="rect">
            <a:avLst/>
          </a:prstGeom>
          <a:solidFill>
            <a:srgbClr val="C9A961"/>
          </a:solidFill>
          <a:ln w="12700">
            <a:solidFill>
              <a:srgbClr val="C9A961"/>
            </a:solidFill>
            <a:prstDash val="solid"/>
          </a:ln>
        </p:spPr>
      </p:sp>
      <p:sp>
        <p:nvSpPr>
          <p:cNvPr id="34" name="Text 32"/>
          <p:cNvSpPr/>
          <p:nvPr/>
        </p:nvSpPr>
        <p:spPr>
          <a:xfrm>
            <a:off x="1097280" y="5532120"/>
            <a:ext cx="457200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Power Electronics</a:t>
            </a:r>
            <a:endParaRPr lang="en-US" sz="1100" dirty="0"/>
          </a:p>
        </p:txBody>
      </p:sp>
      <p:sp>
        <p:nvSpPr>
          <p:cNvPr id="35" name="Shape 33"/>
          <p:cNvSpPr/>
          <p:nvPr/>
        </p:nvSpPr>
        <p:spPr>
          <a:xfrm>
            <a:off x="914400" y="5879592"/>
            <a:ext cx="73152" cy="73152"/>
          </a:xfrm>
          <a:prstGeom prst="rect">
            <a:avLst/>
          </a:prstGeom>
          <a:solidFill>
            <a:srgbClr val="C9A961"/>
          </a:solidFill>
          <a:ln w="12700">
            <a:solidFill>
              <a:srgbClr val="C9A961"/>
            </a:solidFill>
            <a:prstDash val="solid"/>
          </a:ln>
        </p:spPr>
      </p:sp>
      <p:sp>
        <p:nvSpPr>
          <p:cNvPr id="36" name="Text 34"/>
          <p:cNvSpPr/>
          <p:nvPr/>
        </p:nvSpPr>
        <p:spPr>
          <a:xfrm>
            <a:off x="1097280" y="5806440"/>
            <a:ext cx="457200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Embedded Systems</a:t>
            </a:r>
            <a:endParaRPr lang="en-US" sz="1100" dirty="0"/>
          </a:p>
        </p:txBody>
      </p:sp>
      <p:sp>
        <p:nvSpPr>
          <p:cNvPr id="37" name="Shape 35"/>
          <p:cNvSpPr/>
          <p:nvPr/>
        </p:nvSpPr>
        <p:spPr>
          <a:xfrm>
            <a:off x="6400800" y="4507992"/>
            <a:ext cx="73152" cy="73152"/>
          </a:xfrm>
          <a:prstGeom prst="rect">
            <a:avLst/>
          </a:prstGeom>
          <a:solidFill>
            <a:srgbClr val="C9A961"/>
          </a:solidFill>
          <a:ln w="12700">
            <a:solidFill>
              <a:srgbClr val="C9A961"/>
            </a:solidFill>
            <a:prstDash val="solid"/>
          </a:ln>
        </p:spPr>
      </p:sp>
      <p:sp>
        <p:nvSpPr>
          <p:cNvPr id="38" name="Text 36"/>
          <p:cNvSpPr/>
          <p:nvPr/>
        </p:nvSpPr>
        <p:spPr>
          <a:xfrm>
            <a:off x="6583680" y="4434840"/>
            <a:ext cx="457200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Machine Learning</a:t>
            </a:r>
            <a:endParaRPr lang="en-US" sz="1100" dirty="0"/>
          </a:p>
        </p:txBody>
      </p:sp>
      <p:sp>
        <p:nvSpPr>
          <p:cNvPr id="39" name="Shape 37"/>
          <p:cNvSpPr/>
          <p:nvPr/>
        </p:nvSpPr>
        <p:spPr>
          <a:xfrm>
            <a:off x="6400800" y="4782312"/>
            <a:ext cx="73152" cy="73152"/>
          </a:xfrm>
          <a:prstGeom prst="rect">
            <a:avLst/>
          </a:prstGeom>
          <a:solidFill>
            <a:srgbClr val="C9A961"/>
          </a:solidFill>
          <a:ln w="12700">
            <a:solidFill>
              <a:srgbClr val="C9A961"/>
            </a:solidFill>
            <a:prstDash val="solid"/>
          </a:ln>
        </p:spPr>
      </p:sp>
      <p:sp>
        <p:nvSpPr>
          <p:cNvPr id="40" name="Text 38"/>
          <p:cNvSpPr/>
          <p:nvPr/>
        </p:nvSpPr>
        <p:spPr>
          <a:xfrm>
            <a:off x="6583680" y="4709160"/>
            <a:ext cx="457200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Digital Systems (VHDL/FPGA)</a:t>
            </a:r>
            <a:endParaRPr lang="en-US" sz="1100" dirty="0"/>
          </a:p>
        </p:txBody>
      </p:sp>
      <p:sp>
        <p:nvSpPr>
          <p:cNvPr id="41" name="Shape 39"/>
          <p:cNvSpPr/>
          <p:nvPr/>
        </p:nvSpPr>
        <p:spPr>
          <a:xfrm>
            <a:off x="6400800" y="5056632"/>
            <a:ext cx="73152" cy="73152"/>
          </a:xfrm>
          <a:prstGeom prst="rect">
            <a:avLst/>
          </a:prstGeom>
          <a:solidFill>
            <a:srgbClr val="C9A961"/>
          </a:solidFill>
          <a:ln w="12700">
            <a:solidFill>
              <a:srgbClr val="C9A961"/>
            </a:solidFill>
            <a:prstDash val="solid"/>
          </a:ln>
        </p:spPr>
      </p:sp>
      <p:sp>
        <p:nvSpPr>
          <p:cNvPr id="42" name="Text 40"/>
          <p:cNvSpPr/>
          <p:nvPr/>
        </p:nvSpPr>
        <p:spPr>
          <a:xfrm>
            <a:off x="6583680" y="4983480"/>
            <a:ext cx="457200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Microprocessor Systems</a:t>
            </a:r>
            <a:endParaRPr lang="en-US" sz="1100" dirty="0"/>
          </a:p>
        </p:txBody>
      </p:sp>
      <p:sp>
        <p:nvSpPr>
          <p:cNvPr id="43" name="Shape 41"/>
          <p:cNvSpPr/>
          <p:nvPr/>
        </p:nvSpPr>
        <p:spPr>
          <a:xfrm>
            <a:off x="6400800" y="5330952"/>
            <a:ext cx="73152" cy="73152"/>
          </a:xfrm>
          <a:prstGeom prst="rect">
            <a:avLst/>
          </a:prstGeom>
          <a:solidFill>
            <a:srgbClr val="C9A961"/>
          </a:solidFill>
          <a:ln w="12700">
            <a:solidFill>
              <a:srgbClr val="C9A961"/>
            </a:solidFill>
            <a:prstDash val="solid"/>
          </a:ln>
        </p:spPr>
      </p:sp>
      <p:sp>
        <p:nvSpPr>
          <p:cNvPr id="44" name="Text 42"/>
          <p:cNvSpPr/>
          <p:nvPr/>
        </p:nvSpPr>
        <p:spPr>
          <a:xfrm>
            <a:off x="6583680" y="5257800"/>
            <a:ext cx="457200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Telecommunications</a:t>
            </a:r>
            <a:endParaRPr lang="en-US" sz="1100" dirty="0"/>
          </a:p>
        </p:txBody>
      </p:sp>
      <p:sp>
        <p:nvSpPr>
          <p:cNvPr id="45" name="Shape 43"/>
          <p:cNvSpPr/>
          <p:nvPr/>
        </p:nvSpPr>
        <p:spPr>
          <a:xfrm>
            <a:off x="6400800" y="5605272"/>
            <a:ext cx="73152" cy="73152"/>
          </a:xfrm>
          <a:prstGeom prst="rect">
            <a:avLst/>
          </a:prstGeom>
          <a:solidFill>
            <a:srgbClr val="C9A961"/>
          </a:solidFill>
          <a:ln w="12700">
            <a:solidFill>
              <a:srgbClr val="C9A961"/>
            </a:solidFill>
            <a:prstDash val="solid"/>
          </a:ln>
        </p:spPr>
      </p:sp>
      <p:sp>
        <p:nvSpPr>
          <p:cNvPr id="46" name="Text 44"/>
          <p:cNvSpPr/>
          <p:nvPr/>
        </p:nvSpPr>
        <p:spPr>
          <a:xfrm>
            <a:off x="6583680" y="5532120"/>
            <a:ext cx="457200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Computer Networks</a:t>
            </a:r>
            <a:endParaRPr lang="en-US" sz="1100" dirty="0"/>
          </a:p>
        </p:txBody>
      </p:sp>
      <p:sp>
        <p:nvSpPr>
          <p:cNvPr id="47" name="Shape 45"/>
          <p:cNvSpPr/>
          <p:nvPr/>
        </p:nvSpPr>
        <p:spPr>
          <a:xfrm>
            <a:off x="6400800" y="5879592"/>
            <a:ext cx="73152" cy="73152"/>
          </a:xfrm>
          <a:prstGeom prst="rect">
            <a:avLst/>
          </a:prstGeom>
          <a:solidFill>
            <a:srgbClr val="C9A961"/>
          </a:solidFill>
          <a:ln w="12700">
            <a:solidFill>
              <a:srgbClr val="C9A961"/>
            </a:solidFill>
            <a:prstDash val="solid"/>
          </a:ln>
        </p:spPr>
      </p:sp>
      <p:sp>
        <p:nvSpPr>
          <p:cNvPr id="48" name="Text 46"/>
          <p:cNvSpPr/>
          <p:nvPr/>
        </p:nvSpPr>
        <p:spPr>
          <a:xfrm>
            <a:off x="6583680" y="5806440"/>
            <a:ext cx="4572000" cy="2286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Engineering Mathematics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5EE"/>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0A1628"/>
          </a:solidFill>
          <a:ln w="12700">
            <a:solidFill>
              <a:srgbClr val="0A1628"/>
            </a:solidFill>
            <a:prstDash val="solid"/>
          </a:ln>
        </p:spPr>
      </p:sp>
      <p:sp>
        <p:nvSpPr>
          <p:cNvPr id="3" name="Shape 1"/>
          <p:cNvSpPr/>
          <p:nvPr/>
        </p:nvSpPr>
        <p:spPr>
          <a:xfrm>
            <a:off x="0" y="457200"/>
            <a:ext cx="12161520" cy="36576"/>
          </a:xfrm>
          <a:prstGeom prst="rect">
            <a:avLst/>
          </a:prstGeom>
          <a:solidFill>
            <a:srgbClr val="C9A961"/>
          </a:solidFill>
          <a:ln w="12700">
            <a:solidFill>
              <a:srgbClr val="C9A961"/>
            </a:solidFill>
            <a:prstDash val="solid"/>
          </a:ln>
        </p:spPr>
      </p:sp>
      <p:sp>
        <p:nvSpPr>
          <p:cNvPr id="4" name="Text 2"/>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5" name="Text 3"/>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6" name="Text 4"/>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5 / 17</a:t>
            </a:r>
            <a:endParaRPr lang="en-US" sz="900" dirty="0"/>
          </a:p>
        </p:txBody>
      </p:sp>
      <p:sp>
        <p:nvSpPr>
          <p:cNvPr id="7" name="Shape 5"/>
          <p:cNvSpPr/>
          <p:nvPr/>
        </p:nvSpPr>
        <p:spPr>
          <a:xfrm>
            <a:off x="0" y="6565392"/>
            <a:ext cx="12161520" cy="292608"/>
          </a:xfrm>
          <a:prstGeom prst="rect">
            <a:avLst/>
          </a:prstGeom>
          <a:solidFill>
            <a:srgbClr val="1B2D4A"/>
          </a:solidFill>
          <a:ln w="12700">
            <a:solidFill>
              <a:srgbClr val="1B2D4A"/>
            </a:solidFill>
            <a:prstDash val="solid"/>
          </a:ln>
        </p:spPr>
      </p:sp>
      <p:sp>
        <p:nvSpPr>
          <p:cNvPr id="8" name="Shape 6"/>
          <p:cNvSpPr/>
          <p:nvPr/>
        </p:nvSpPr>
        <p:spPr>
          <a:xfrm>
            <a:off x="0" y="6547104"/>
            <a:ext cx="12161520" cy="18288"/>
          </a:xfrm>
          <a:prstGeom prst="rect">
            <a:avLst/>
          </a:prstGeom>
          <a:solidFill>
            <a:srgbClr val="C9A961"/>
          </a:solidFill>
          <a:ln w="12700">
            <a:solidFill>
              <a:srgbClr val="C9A961"/>
            </a:solidFill>
            <a:prstDash val="solid"/>
          </a:ln>
        </p:spPr>
      </p:sp>
      <p:sp>
        <p:nvSpPr>
          <p:cNvPr id="9" name="Text 7"/>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0" name="Text 8"/>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11" name="Text 9"/>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12" name="Text 10"/>
          <p:cNvSpPr/>
          <p:nvPr/>
        </p:nvSpPr>
        <p:spPr>
          <a:xfrm>
            <a:off x="640080" y="822960"/>
            <a:ext cx="45720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03  ·  SKILLS</a:t>
            </a:r>
            <a:endParaRPr lang="en-US" sz="2000" dirty="0"/>
          </a:p>
        </p:txBody>
      </p:sp>
      <p:sp>
        <p:nvSpPr>
          <p:cNvPr id="13" name="Shape 11"/>
          <p:cNvSpPr/>
          <p:nvPr/>
        </p:nvSpPr>
        <p:spPr>
          <a:xfrm>
            <a:off x="640080" y="1115568"/>
            <a:ext cx="640080" cy="27432"/>
          </a:xfrm>
          <a:prstGeom prst="rect">
            <a:avLst/>
          </a:prstGeom>
          <a:solidFill>
            <a:srgbClr val="C9A961"/>
          </a:solidFill>
          <a:ln w="12700">
            <a:solidFill>
              <a:srgbClr val="C9A961"/>
            </a:solidFill>
            <a:prstDash val="solid"/>
          </a:ln>
        </p:spPr>
      </p:sp>
      <p:sp>
        <p:nvSpPr>
          <p:cNvPr id="14" name="Text 12"/>
          <p:cNvSpPr/>
          <p:nvPr/>
        </p:nvSpPr>
        <p:spPr>
          <a:xfrm>
            <a:off x="640080" y="1207008"/>
            <a:ext cx="8229600" cy="548640"/>
          </a:xfrm>
          <a:prstGeom prst="rect">
            <a:avLst/>
          </a:prstGeom>
          <a:noFill/>
          <a:ln/>
        </p:spPr>
        <p:txBody>
          <a:bodyPr wrap="square" lIns="0" tIns="0" rIns="0" bIns="0" rtlCol="0" anchor="ctr"/>
          <a:lstStyle/>
          <a:p>
            <a:pPr marL="0" indent="0">
              <a:buNone/>
            </a:pPr>
            <a:r>
              <a:rPr lang="en-US" sz="2800" b="1" dirty="0">
                <a:solidFill>
                  <a:srgbClr val="0A1628"/>
                </a:solidFill>
                <a:latin typeface="Calibri" pitchFamily="34" charset="0"/>
                <a:ea typeface="Calibri" pitchFamily="34" charset="-122"/>
                <a:cs typeface="Calibri" pitchFamily="34" charset="-120"/>
              </a:rPr>
              <a:t>Technical Skills</a:t>
            </a:r>
            <a:endParaRPr lang="en-US" sz="2800" dirty="0"/>
          </a:p>
        </p:txBody>
      </p:sp>
      <p:sp>
        <p:nvSpPr>
          <p:cNvPr id="15" name="Shape 13"/>
          <p:cNvSpPr/>
          <p:nvPr/>
        </p:nvSpPr>
        <p:spPr>
          <a:xfrm>
            <a:off x="640080" y="1691640"/>
            <a:ext cx="5486400" cy="320040"/>
          </a:xfrm>
          <a:prstGeom prst="rect">
            <a:avLst/>
          </a:prstGeom>
          <a:solidFill>
            <a:srgbClr val="0A1628"/>
          </a:solidFill>
          <a:ln w="12700">
            <a:solidFill>
              <a:srgbClr val="0A1628"/>
            </a:solidFill>
            <a:prstDash val="solid"/>
          </a:ln>
        </p:spPr>
      </p:sp>
      <p:sp>
        <p:nvSpPr>
          <p:cNvPr id="16" name="Text 14"/>
          <p:cNvSpPr/>
          <p:nvPr/>
        </p:nvSpPr>
        <p:spPr>
          <a:xfrm>
            <a:off x="777240" y="1691640"/>
            <a:ext cx="4572000" cy="320040"/>
          </a:xfrm>
          <a:prstGeom prst="rect">
            <a:avLst/>
          </a:prstGeom>
          <a:noFill/>
          <a:ln/>
        </p:spPr>
        <p:txBody>
          <a:bodyPr wrap="square" lIns="0" tIns="0" rIns="0" bIns="0" rtlCol="0" anchor="ctr"/>
          <a:lstStyle/>
          <a:p>
            <a:pPr marL="0" indent="0">
              <a:buNone/>
            </a:pPr>
            <a:r>
              <a:rPr lang="en-US" sz="1200" b="1" dirty="0">
                <a:solidFill>
                  <a:srgbClr val="C9A961"/>
                </a:solidFill>
                <a:latin typeface="Calibri" pitchFamily="34" charset="0"/>
                <a:ea typeface="Calibri" pitchFamily="34" charset="-122"/>
                <a:cs typeface="Calibri" pitchFamily="34" charset="-120"/>
              </a:rPr>
              <a:t>HARD SKILLS</a:t>
            </a:r>
            <a:endParaRPr lang="en-US" sz="1200" dirty="0"/>
          </a:p>
        </p:txBody>
      </p:sp>
      <p:sp>
        <p:nvSpPr>
          <p:cNvPr id="17" name="Text 15"/>
          <p:cNvSpPr/>
          <p:nvPr/>
        </p:nvSpPr>
        <p:spPr>
          <a:xfrm>
            <a:off x="640080" y="2103120"/>
            <a:ext cx="5486400" cy="201168"/>
          </a:xfrm>
          <a:prstGeom prst="rect">
            <a:avLst/>
          </a:prstGeom>
          <a:noFill/>
          <a:ln/>
        </p:spPr>
        <p:txBody>
          <a:bodyPr wrap="square" lIns="0" tIns="0" rIns="0" bIns="0" rtlCol="0" anchor="ctr"/>
          <a:lstStyle/>
          <a:p>
            <a:pPr marL="0" indent="0">
              <a:buNone/>
            </a:pPr>
            <a:r>
              <a:rPr lang="en-US" sz="1000" b="1" dirty="0">
                <a:solidFill>
                  <a:srgbClr val="C9A961"/>
                </a:solidFill>
                <a:latin typeface="Calibri" pitchFamily="34" charset="0"/>
                <a:ea typeface="Calibri" pitchFamily="34" charset="-122"/>
                <a:cs typeface="Calibri" pitchFamily="34" charset="-120"/>
              </a:rPr>
              <a:t>POWER &amp; ELECTRICAL SYSTEMS</a:t>
            </a:r>
            <a:endParaRPr lang="en-US" sz="1000" dirty="0"/>
          </a:p>
        </p:txBody>
      </p:sp>
      <p:sp>
        <p:nvSpPr>
          <p:cNvPr id="18" name="Shape 16"/>
          <p:cNvSpPr/>
          <p:nvPr/>
        </p:nvSpPr>
        <p:spPr>
          <a:xfrm>
            <a:off x="685800" y="2377440"/>
            <a:ext cx="64008" cy="64008"/>
          </a:xfrm>
          <a:prstGeom prst="rect">
            <a:avLst/>
          </a:prstGeom>
          <a:solidFill>
            <a:srgbClr val="C9A961"/>
          </a:solidFill>
          <a:ln w="12700">
            <a:solidFill>
              <a:srgbClr val="C9A961"/>
            </a:solidFill>
            <a:prstDash val="solid"/>
          </a:ln>
        </p:spPr>
      </p:sp>
      <p:sp>
        <p:nvSpPr>
          <p:cNvPr id="19" name="Text 17"/>
          <p:cNvSpPr/>
          <p:nvPr/>
        </p:nvSpPr>
        <p:spPr>
          <a:xfrm>
            <a:off x="868680" y="2322576"/>
            <a:ext cx="5212080" cy="18288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Electrical Troubleshooting &amp; Wiring</a:t>
            </a:r>
            <a:endParaRPr lang="en-US" sz="950" dirty="0"/>
          </a:p>
        </p:txBody>
      </p:sp>
      <p:sp>
        <p:nvSpPr>
          <p:cNvPr id="20" name="Shape 18"/>
          <p:cNvSpPr/>
          <p:nvPr/>
        </p:nvSpPr>
        <p:spPr>
          <a:xfrm>
            <a:off x="685800" y="2569464"/>
            <a:ext cx="64008" cy="64008"/>
          </a:xfrm>
          <a:prstGeom prst="rect">
            <a:avLst/>
          </a:prstGeom>
          <a:solidFill>
            <a:srgbClr val="C9A961"/>
          </a:solidFill>
          <a:ln w="12700">
            <a:solidFill>
              <a:srgbClr val="C9A961"/>
            </a:solidFill>
            <a:prstDash val="solid"/>
          </a:ln>
        </p:spPr>
      </p:sp>
      <p:sp>
        <p:nvSpPr>
          <p:cNvPr id="21" name="Text 19"/>
          <p:cNvSpPr/>
          <p:nvPr/>
        </p:nvSpPr>
        <p:spPr>
          <a:xfrm>
            <a:off x="868680" y="2514600"/>
            <a:ext cx="5212080" cy="18288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Circuit Analysis (Analog &amp; Digital)</a:t>
            </a:r>
            <a:endParaRPr lang="en-US" sz="950" dirty="0"/>
          </a:p>
        </p:txBody>
      </p:sp>
      <p:sp>
        <p:nvSpPr>
          <p:cNvPr id="22" name="Shape 20"/>
          <p:cNvSpPr/>
          <p:nvPr/>
        </p:nvSpPr>
        <p:spPr>
          <a:xfrm>
            <a:off x="685800" y="2761488"/>
            <a:ext cx="64008" cy="64008"/>
          </a:xfrm>
          <a:prstGeom prst="rect">
            <a:avLst/>
          </a:prstGeom>
          <a:solidFill>
            <a:srgbClr val="C9A961"/>
          </a:solidFill>
          <a:ln w="12700">
            <a:solidFill>
              <a:srgbClr val="C9A961"/>
            </a:solidFill>
            <a:prstDash val="solid"/>
          </a:ln>
        </p:spPr>
      </p:sp>
      <p:sp>
        <p:nvSpPr>
          <p:cNvPr id="23" name="Text 21"/>
          <p:cNvSpPr/>
          <p:nvPr/>
        </p:nvSpPr>
        <p:spPr>
          <a:xfrm>
            <a:off x="868680" y="2706624"/>
            <a:ext cx="5212080" cy="18288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Power System Reliability (SAIDI/SAIFI)</a:t>
            </a:r>
            <a:endParaRPr lang="en-US" sz="950" dirty="0"/>
          </a:p>
        </p:txBody>
      </p:sp>
      <p:sp>
        <p:nvSpPr>
          <p:cNvPr id="24" name="Shape 22"/>
          <p:cNvSpPr/>
          <p:nvPr/>
        </p:nvSpPr>
        <p:spPr>
          <a:xfrm>
            <a:off x="685800" y="2953512"/>
            <a:ext cx="64008" cy="64008"/>
          </a:xfrm>
          <a:prstGeom prst="rect">
            <a:avLst/>
          </a:prstGeom>
          <a:solidFill>
            <a:srgbClr val="C9A961"/>
          </a:solidFill>
          <a:ln w="12700">
            <a:solidFill>
              <a:srgbClr val="C9A961"/>
            </a:solidFill>
            <a:prstDash val="solid"/>
          </a:ln>
        </p:spPr>
      </p:sp>
      <p:sp>
        <p:nvSpPr>
          <p:cNvPr id="25" name="Text 23"/>
          <p:cNvSpPr/>
          <p:nvPr/>
        </p:nvSpPr>
        <p:spPr>
          <a:xfrm>
            <a:off x="868680" y="2898648"/>
            <a:ext cx="5212080" cy="18288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PLC Programming · PID Control · LabVIEW</a:t>
            </a:r>
            <a:endParaRPr lang="en-US" sz="950" dirty="0"/>
          </a:p>
        </p:txBody>
      </p:sp>
      <p:sp>
        <p:nvSpPr>
          <p:cNvPr id="26" name="Text 24"/>
          <p:cNvSpPr/>
          <p:nvPr/>
        </p:nvSpPr>
        <p:spPr>
          <a:xfrm>
            <a:off x="640080" y="3163824"/>
            <a:ext cx="5486400" cy="201168"/>
          </a:xfrm>
          <a:prstGeom prst="rect">
            <a:avLst/>
          </a:prstGeom>
          <a:noFill/>
          <a:ln/>
        </p:spPr>
        <p:txBody>
          <a:bodyPr wrap="square" lIns="0" tIns="0" rIns="0" bIns="0" rtlCol="0" anchor="ctr"/>
          <a:lstStyle/>
          <a:p>
            <a:pPr marL="0" indent="0">
              <a:buNone/>
            </a:pPr>
            <a:r>
              <a:rPr lang="en-US" sz="1000" b="1" dirty="0">
                <a:solidFill>
                  <a:srgbClr val="C9A961"/>
                </a:solidFill>
                <a:latin typeface="Calibri" pitchFamily="34" charset="0"/>
                <a:ea typeface="Calibri" pitchFamily="34" charset="-122"/>
                <a:cs typeface="Calibri" pitchFamily="34" charset="-120"/>
              </a:rPr>
              <a:t>EMBEDDED &amp; IOT</a:t>
            </a:r>
            <a:endParaRPr lang="en-US" sz="1000" dirty="0"/>
          </a:p>
        </p:txBody>
      </p:sp>
      <p:sp>
        <p:nvSpPr>
          <p:cNvPr id="27" name="Shape 25"/>
          <p:cNvSpPr/>
          <p:nvPr/>
        </p:nvSpPr>
        <p:spPr>
          <a:xfrm>
            <a:off x="685800" y="3438144"/>
            <a:ext cx="64008" cy="64008"/>
          </a:xfrm>
          <a:prstGeom prst="rect">
            <a:avLst/>
          </a:prstGeom>
          <a:solidFill>
            <a:srgbClr val="C9A961"/>
          </a:solidFill>
          <a:ln w="12700">
            <a:solidFill>
              <a:srgbClr val="C9A961"/>
            </a:solidFill>
            <a:prstDash val="solid"/>
          </a:ln>
        </p:spPr>
      </p:sp>
      <p:sp>
        <p:nvSpPr>
          <p:cNvPr id="28" name="Text 26"/>
          <p:cNvSpPr/>
          <p:nvPr/>
        </p:nvSpPr>
        <p:spPr>
          <a:xfrm>
            <a:off x="868680" y="3383280"/>
            <a:ext cx="5212080" cy="18288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Microcontrollers (ESP32, Arduino, ATmega)</a:t>
            </a:r>
            <a:endParaRPr lang="en-US" sz="950" dirty="0"/>
          </a:p>
        </p:txBody>
      </p:sp>
      <p:sp>
        <p:nvSpPr>
          <p:cNvPr id="29" name="Shape 27"/>
          <p:cNvSpPr/>
          <p:nvPr/>
        </p:nvSpPr>
        <p:spPr>
          <a:xfrm>
            <a:off x="685800" y="3630168"/>
            <a:ext cx="64008" cy="64008"/>
          </a:xfrm>
          <a:prstGeom prst="rect">
            <a:avLst/>
          </a:prstGeom>
          <a:solidFill>
            <a:srgbClr val="C9A961"/>
          </a:solidFill>
          <a:ln w="12700">
            <a:solidFill>
              <a:srgbClr val="C9A961"/>
            </a:solidFill>
            <a:prstDash val="solid"/>
          </a:ln>
        </p:spPr>
      </p:sp>
      <p:sp>
        <p:nvSpPr>
          <p:cNvPr id="30" name="Text 28"/>
          <p:cNvSpPr/>
          <p:nvPr/>
        </p:nvSpPr>
        <p:spPr>
          <a:xfrm>
            <a:off x="868680" y="3575304"/>
            <a:ext cx="5212080" cy="18288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Sensors (PZEM-004T, DHT, MQ Series)</a:t>
            </a:r>
            <a:endParaRPr lang="en-US" sz="950" dirty="0"/>
          </a:p>
        </p:txBody>
      </p:sp>
      <p:sp>
        <p:nvSpPr>
          <p:cNvPr id="31" name="Shape 29"/>
          <p:cNvSpPr/>
          <p:nvPr/>
        </p:nvSpPr>
        <p:spPr>
          <a:xfrm>
            <a:off x="685800" y="3822192"/>
            <a:ext cx="64008" cy="64008"/>
          </a:xfrm>
          <a:prstGeom prst="rect">
            <a:avLst/>
          </a:prstGeom>
          <a:solidFill>
            <a:srgbClr val="C9A961"/>
          </a:solidFill>
          <a:ln w="12700">
            <a:solidFill>
              <a:srgbClr val="C9A961"/>
            </a:solidFill>
            <a:prstDash val="solid"/>
          </a:ln>
        </p:spPr>
      </p:sp>
      <p:sp>
        <p:nvSpPr>
          <p:cNvPr id="32" name="Text 30"/>
          <p:cNvSpPr/>
          <p:nvPr/>
        </p:nvSpPr>
        <p:spPr>
          <a:xfrm>
            <a:off x="868680" y="3767328"/>
            <a:ext cx="5212080" cy="18288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MQTT Protocol &amp; Real-Time Telemetry</a:t>
            </a:r>
            <a:endParaRPr lang="en-US" sz="950" dirty="0"/>
          </a:p>
        </p:txBody>
      </p:sp>
      <p:sp>
        <p:nvSpPr>
          <p:cNvPr id="33" name="Shape 31"/>
          <p:cNvSpPr/>
          <p:nvPr/>
        </p:nvSpPr>
        <p:spPr>
          <a:xfrm>
            <a:off x="685800" y="4014216"/>
            <a:ext cx="64008" cy="64008"/>
          </a:xfrm>
          <a:prstGeom prst="rect">
            <a:avLst/>
          </a:prstGeom>
          <a:solidFill>
            <a:srgbClr val="C9A961"/>
          </a:solidFill>
          <a:ln w="12700">
            <a:solidFill>
              <a:srgbClr val="C9A961"/>
            </a:solidFill>
            <a:prstDash val="solid"/>
          </a:ln>
        </p:spPr>
      </p:sp>
      <p:sp>
        <p:nvSpPr>
          <p:cNvPr id="34" name="Text 32"/>
          <p:cNvSpPr/>
          <p:nvPr/>
        </p:nvSpPr>
        <p:spPr>
          <a:xfrm>
            <a:off x="868680" y="3959352"/>
            <a:ext cx="5212080" cy="18288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Proteus, CodeVision AVR, VHDL/FPGA</a:t>
            </a:r>
            <a:endParaRPr lang="en-US" sz="950" dirty="0"/>
          </a:p>
        </p:txBody>
      </p:sp>
      <p:sp>
        <p:nvSpPr>
          <p:cNvPr id="35" name="Text 33"/>
          <p:cNvSpPr/>
          <p:nvPr/>
        </p:nvSpPr>
        <p:spPr>
          <a:xfrm>
            <a:off x="640080" y="4224528"/>
            <a:ext cx="5486400" cy="201168"/>
          </a:xfrm>
          <a:prstGeom prst="rect">
            <a:avLst/>
          </a:prstGeom>
          <a:noFill/>
          <a:ln/>
        </p:spPr>
        <p:txBody>
          <a:bodyPr wrap="square" lIns="0" tIns="0" rIns="0" bIns="0" rtlCol="0" anchor="ctr"/>
          <a:lstStyle/>
          <a:p>
            <a:pPr marL="0" indent="0">
              <a:buNone/>
            </a:pPr>
            <a:r>
              <a:rPr lang="en-US" sz="1000" b="1" dirty="0">
                <a:solidFill>
                  <a:srgbClr val="C9A961"/>
                </a:solidFill>
                <a:latin typeface="Calibri" pitchFamily="34" charset="0"/>
                <a:ea typeface="Calibri" pitchFamily="34" charset="-122"/>
                <a:cs typeface="Calibri" pitchFamily="34" charset="-120"/>
              </a:rPr>
              <a:t>PROGRAMMING &amp; DATA</a:t>
            </a:r>
            <a:endParaRPr lang="en-US" sz="1000" dirty="0"/>
          </a:p>
        </p:txBody>
      </p:sp>
      <p:sp>
        <p:nvSpPr>
          <p:cNvPr id="36" name="Shape 34"/>
          <p:cNvSpPr/>
          <p:nvPr/>
        </p:nvSpPr>
        <p:spPr>
          <a:xfrm>
            <a:off x="685800" y="4498848"/>
            <a:ext cx="64008" cy="64008"/>
          </a:xfrm>
          <a:prstGeom prst="rect">
            <a:avLst/>
          </a:prstGeom>
          <a:solidFill>
            <a:srgbClr val="C9A961"/>
          </a:solidFill>
          <a:ln w="12700">
            <a:solidFill>
              <a:srgbClr val="C9A961"/>
            </a:solidFill>
            <a:prstDash val="solid"/>
          </a:ln>
        </p:spPr>
      </p:sp>
      <p:sp>
        <p:nvSpPr>
          <p:cNvPr id="37" name="Text 35"/>
          <p:cNvSpPr/>
          <p:nvPr/>
        </p:nvSpPr>
        <p:spPr>
          <a:xfrm>
            <a:off x="868680" y="4443984"/>
            <a:ext cx="5212080" cy="18288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Python, C, C++, HTML, CSS, JS</a:t>
            </a:r>
            <a:endParaRPr lang="en-US" sz="950" dirty="0"/>
          </a:p>
        </p:txBody>
      </p:sp>
      <p:sp>
        <p:nvSpPr>
          <p:cNvPr id="38" name="Shape 36"/>
          <p:cNvSpPr/>
          <p:nvPr/>
        </p:nvSpPr>
        <p:spPr>
          <a:xfrm>
            <a:off x="685800" y="4690872"/>
            <a:ext cx="64008" cy="64008"/>
          </a:xfrm>
          <a:prstGeom prst="rect">
            <a:avLst/>
          </a:prstGeom>
          <a:solidFill>
            <a:srgbClr val="C9A961"/>
          </a:solidFill>
          <a:ln w="12700">
            <a:solidFill>
              <a:srgbClr val="C9A961"/>
            </a:solidFill>
            <a:prstDash val="solid"/>
          </a:ln>
        </p:spPr>
      </p:sp>
      <p:sp>
        <p:nvSpPr>
          <p:cNvPr id="39" name="Text 37"/>
          <p:cNvSpPr/>
          <p:nvPr/>
        </p:nvSpPr>
        <p:spPr>
          <a:xfrm>
            <a:off x="868680" y="4636008"/>
            <a:ext cx="5212080" cy="18288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Machine Learning (Scikit-learn, SVM, Random Forest)</a:t>
            </a:r>
            <a:endParaRPr lang="en-US" sz="950" dirty="0"/>
          </a:p>
        </p:txBody>
      </p:sp>
      <p:sp>
        <p:nvSpPr>
          <p:cNvPr id="40" name="Shape 38"/>
          <p:cNvSpPr/>
          <p:nvPr/>
        </p:nvSpPr>
        <p:spPr>
          <a:xfrm>
            <a:off x="685800" y="4882896"/>
            <a:ext cx="64008" cy="64008"/>
          </a:xfrm>
          <a:prstGeom prst="rect">
            <a:avLst/>
          </a:prstGeom>
          <a:solidFill>
            <a:srgbClr val="C9A961"/>
          </a:solidFill>
          <a:ln w="12700">
            <a:solidFill>
              <a:srgbClr val="C9A961"/>
            </a:solidFill>
            <a:prstDash val="solid"/>
          </a:ln>
        </p:spPr>
      </p:sp>
      <p:sp>
        <p:nvSpPr>
          <p:cNvPr id="41" name="Text 39"/>
          <p:cNvSpPr/>
          <p:nvPr/>
        </p:nvSpPr>
        <p:spPr>
          <a:xfrm>
            <a:off x="868680" y="4828032"/>
            <a:ext cx="5212080" cy="18288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Generative AI (Google Gemini API)</a:t>
            </a:r>
            <a:endParaRPr lang="en-US" sz="950" dirty="0"/>
          </a:p>
        </p:txBody>
      </p:sp>
      <p:sp>
        <p:nvSpPr>
          <p:cNvPr id="42" name="Shape 40"/>
          <p:cNvSpPr/>
          <p:nvPr/>
        </p:nvSpPr>
        <p:spPr>
          <a:xfrm>
            <a:off x="685800" y="5074920"/>
            <a:ext cx="64008" cy="64008"/>
          </a:xfrm>
          <a:prstGeom prst="rect">
            <a:avLst/>
          </a:prstGeom>
          <a:solidFill>
            <a:srgbClr val="C9A961"/>
          </a:solidFill>
          <a:ln w="12700">
            <a:solidFill>
              <a:srgbClr val="C9A961"/>
            </a:solidFill>
            <a:prstDash val="solid"/>
          </a:ln>
        </p:spPr>
      </p:sp>
      <p:sp>
        <p:nvSpPr>
          <p:cNvPr id="43" name="Text 41"/>
          <p:cNvSpPr/>
          <p:nvPr/>
        </p:nvSpPr>
        <p:spPr>
          <a:xfrm>
            <a:off x="868680" y="5020056"/>
            <a:ext cx="5212080" cy="18288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Pandas, Matplotlib, Firebase</a:t>
            </a:r>
            <a:endParaRPr lang="en-US" sz="950" dirty="0"/>
          </a:p>
        </p:txBody>
      </p:sp>
      <p:sp>
        <p:nvSpPr>
          <p:cNvPr id="44" name="Text 42"/>
          <p:cNvSpPr/>
          <p:nvPr/>
        </p:nvSpPr>
        <p:spPr>
          <a:xfrm>
            <a:off x="640080" y="5285232"/>
            <a:ext cx="5486400" cy="201168"/>
          </a:xfrm>
          <a:prstGeom prst="rect">
            <a:avLst/>
          </a:prstGeom>
          <a:noFill/>
          <a:ln/>
        </p:spPr>
        <p:txBody>
          <a:bodyPr wrap="square" lIns="0" tIns="0" rIns="0" bIns="0" rtlCol="0" anchor="ctr"/>
          <a:lstStyle/>
          <a:p>
            <a:pPr marL="0" indent="0">
              <a:buNone/>
            </a:pPr>
            <a:r>
              <a:rPr lang="en-US" sz="1000" b="1" dirty="0">
                <a:solidFill>
                  <a:srgbClr val="C9A961"/>
                </a:solidFill>
                <a:latin typeface="Calibri" pitchFamily="34" charset="0"/>
                <a:ea typeface="Calibri" pitchFamily="34" charset="-122"/>
                <a:cs typeface="Calibri" pitchFamily="34" charset="-120"/>
              </a:rPr>
              <a:t>TOOLS &amp; NETWORKING</a:t>
            </a:r>
            <a:endParaRPr lang="en-US" sz="1000" dirty="0"/>
          </a:p>
        </p:txBody>
      </p:sp>
      <p:sp>
        <p:nvSpPr>
          <p:cNvPr id="45" name="Shape 43"/>
          <p:cNvSpPr/>
          <p:nvPr/>
        </p:nvSpPr>
        <p:spPr>
          <a:xfrm>
            <a:off x="685800" y="5559552"/>
            <a:ext cx="64008" cy="64008"/>
          </a:xfrm>
          <a:prstGeom prst="rect">
            <a:avLst/>
          </a:prstGeom>
          <a:solidFill>
            <a:srgbClr val="C9A961"/>
          </a:solidFill>
          <a:ln w="12700">
            <a:solidFill>
              <a:srgbClr val="C9A961"/>
            </a:solidFill>
            <a:prstDash val="solid"/>
          </a:ln>
        </p:spPr>
      </p:sp>
      <p:sp>
        <p:nvSpPr>
          <p:cNvPr id="46" name="Text 44"/>
          <p:cNvSpPr/>
          <p:nvPr/>
        </p:nvSpPr>
        <p:spPr>
          <a:xfrm>
            <a:off x="868680" y="5504688"/>
            <a:ext cx="5212080" cy="18288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Microsoft Office Suite</a:t>
            </a:r>
            <a:endParaRPr lang="en-US" sz="950" dirty="0"/>
          </a:p>
        </p:txBody>
      </p:sp>
      <p:sp>
        <p:nvSpPr>
          <p:cNvPr id="47" name="Shape 45"/>
          <p:cNvSpPr/>
          <p:nvPr/>
        </p:nvSpPr>
        <p:spPr>
          <a:xfrm>
            <a:off x="685800" y="5751576"/>
            <a:ext cx="64008" cy="64008"/>
          </a:xfrm>
          <a:prstGeom prst="rect">
            <a:avLst/>
          </a:prstGeom>
          <a:solidFill>
            <a:srgbClr val="C9A961"/>
          </a:solidFill>
          <a:ln w="12700">
            <a:solidFill>
              <a:srgbClr val="C9A961"/>
            </a:solidFill>
            <a:prstDash val="solid"/>
          </a:ln>
        </p:spPr>
      </p:sp>
      <p:sp>
        <p:nvSpPr>
          <p:cNvPr id="48" name="Text 46"/>
          <p:cNvSpPr/>
          <p:nvPr/>
        </p:nvSpPr>
        <p:spPr>
          <a:xfrm>
            <a:off x="868680" y="5696712"/>
            <a:ext cx="5212080" cy="18288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Computer Networking (HCIA-Datacom)</a:t>
            </a:r>
            <a:endParaRPr lang="en-US" sz="950" dirty="0"/>
          </a:p>
        </p:txBody>
      </p:sp>
      <p:sp>
        <p:nvSpPr>
          <p:cNvPr id="49" name="Shape 47"/>
          <p:cNvSpPr/>
          <p:nvPr/>
        </p:nvSpPr>
        <p:spPr>
          <a:xfrm>
            <a:off x="685800" y="5943600"/>
            <a:ext cx="64008" cy="64008"/>
          </a:xfrm>
          <a:prstGeom prst="rect">
            <a:avLst/>
          </a:prstGeom>
          <a:solidFill>
            <a:srgbClr val="C9A961"/>
          </a:solidFill>
          <a:ln w="12700">
            <a:solidFill>
              <a:srgbClr val="C9A961"/>
            </a:solidFill>
            <a:prstDash val="solid"/>
          </a:ln>
        </p:spPr>
      </p:sp>
      <p:sp>
        <p:nvSpPr>
          <p:cNvPr id="50" name="Text 48"/>
          <p:cNvSpPr/>
          <p:nvPr/>
        </p:nvSpPr>
        <p:spPr>
          <a:xfrm>
            <a:off x="868680" y="5888736"/>
            <a:ext cx="5212080" cy="18288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Project Management · Git</a:t>
            </a:r>
            <a:endParaRPr lang="en-US" sz="950" dirty="0"/>
          </a:p>
        </p:txBody>
      </p:sp>
      <p:sp>
        <p:nvSpPr>
          <p:cNvPr id="51" name="Shape 49"/>
          <p:cNvSpPr/>
          <p:nvPr/>
        </p:nvSpPr>
        <p:spPr>
          <a:xfrm>
            <a:off x="6400800" y="1691640"/>
            <a:ext cx="5120640" cy="320040"/>
          </a:xfrm>
          <a:prstGeom prst="rect">
            <a:avLst/>
          </a:prstGeom>
          <a:solidFill>
            <a:srgbClr val="0A1628"/>
          </a:solidFill>
          <a:ln w="12700">
            <a:solidFill>
              <a:srgbClr val="0A1628"/>
            </a:solidFill>
            <a:prstDash val="solid"/>
          </a:ln>
        </p:spPr>
      </p:sp>
      <p:sp>
        <p:nvSpPr>
          <p:cNvPr id="52" name="Text 50"/>
          <p:cNvSpPr/>
          <p:nvPr/>
        </p:nvSpPr>
        <p:spPr>
          <a:xfrm>
            <a:off x="6537960" y="1691640"/>
            <a:ext cx="4572000" cy="320040"/>
          </a:xfrm>
          <a:prstGeom prst="rect">
            <a:avLst/>
          </a:prstGeom>
          <a:noFill/>
          <a:ln/>
        </p:spPr>
        <p:txBody>
          <a:bodyPr wrap="square" lIns="0" tIns="0" rIns="0" bIns="0" rtlCol="0" anchor="ctr"/>
          <a:lstStyle/>
          <a:p>
            <a:pPr marL="0" indent="0">
              <a:buNone/>
            </a:pPr>
            <a:r>
              <a:rPr lang="en-US" sz="1200" b="1" dirty="0">
                <a:solidFill>
                  <a:srgbClr val="C9A961"/>
                </a:solidFill>
                <a:latin typeface="Calibri" pitchFamily="34" charset="0"/>
                <a:ea typeface="Calibri" pitchFamily="34" charset="-122"/>
                <a:cs typeface="Calibri" pitchFamily="34" charset="-120"/>
              </a:rPr>
              <a:t>SOFT SKILLS</a:t>
            </a:r>
            <a:endParaRPr lang="en-US" sz="1200" dirty="0"/>
          </a:p>
        </p:txBody>
      </p:sp>
      <p:sp>
        <p:nvSpPr>
          <p:cNvPr id="53" name="Text 51"/>
          <p:cNvSpPr/>
          <p:nvPr/>
        </p:nvSpPr>
        <p:spPr>
          <a:xfrm>
            <a:off x="6400800" y="2103120"/>
            <a:ext cx="5120640" cy="18288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Critical &amp; Analytical Thinking</a:t>
            </a:r>
            <a:endParaRPr lang="en-US" sz="1000" dirty="0"/>
          </a:p>
        </p:txBody>
      </p:sp>
      <p:sp>
        <p:nvSpPr>
          <p:cNvPr id="54" name="Shape 52"/>
          <p:cNvSpPr/>
          <p:nvPr/>
        </p:nvSpPr>
        <p:spPr>
          <a:xfrm>
            <a:off x="6400800" y="2304288"/>
            <a:ext cx="4937760" cy="64008"/>
          </a:xfrm>
          <a:prstGeom prst="rect">
            <a:avLst/>
          </a:prstGeom>
          <a:solidFill>
            <a:srgbClr val="E8E0CC"/>
          </a:solidFill>
          <a:ln w="12700">
            <a:solidFill>
              <a:srgbClr val="E8E0CC"/>
            </a:solidFill>
            <a:prstDash val="solid"/>
          </a:ln>
        </p:spPr>
      </p:sp>
      <p:sp>
        <p:nvSpPr>
          <p:cNvPr id="55" name="Shape 53"/>
          <p:cNvSpPr/>
          <p:nvPr/>
        </p:nvSpPr>
        <p:spPr>
          <a:xfrm>
            <a:off x="6400800" y="2304288"/>
            <a:ext cx="4443984" cy="64008"/>
          </a:xfrm>
          <a:prstGeom prst="rect">
            <a:avLst/>
          </a:prstGeom>
          <a:solidFill>
            <a:srgbClr val="C9A961"/>
          </a:solidFill>
          <a:ln w="12700">
            <a:solidFill>
              <a:srgbClr val="C9A961"/>
            </a:solidFill>
            <a:prstDash val="solid"/>
          </a:ln>
        </p:spPr>
      </p:sp>
      <p:sp>
        <p:nvSpPr>
          <p:cNvPr id="56" name="Text 54"/>
          <p:cNvSpPr/>
          <p:nvPr/>
        </p:nvSpPr>
        <p:spPr>
          <a:xfrm>
            <a:off x="6400800" y="2468880"/>
            <a:ext cx="5120640" cy="18288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Problem Solving</a:t>
            </a:r>
            <a:endParaRPr lang="en-US" sz="1000" dirty="0"/>
          </a:p>
        </p:txBody>
      </p:sp>
      <p:sp>
        <p:nvSpPr>
          <p:cNvPr id="57" name="Shape 55"/>
          <p:cNvSpPr/>
          <p:nvPr/>
        </p:nvSpPr>
        <p:spPr>
          <a:xfrm>
            <a:off x="6400800" y="2670048"/>
            <a:ext cx="4937760" cy="64008"/>
          </a:xfrm>
          <a:prstGeom prst="rect">
            <a:avLst/>
          </a:prstGeom>
          <a:solidFill>
            <a:srgbClr val="E8E0CC"/>
          </a:solidFill>
          <a:ln w="12700">
            <a:solidFill>
              <a:srgbClr val="E8E0CC"/>
            </a:solidFill>
            <a:prstDash val="solid"/>
          </a:ln>
        </p:spPr>
      </p:sp>
      <p:sp>
        <p:nvSpPr>
          <p:cNvPr id="58" name="Shape 56"/>
          <p:cNvSpPr/>
          <p:nvPr/>
        </p:nvSpPr>
        <p:spPr>
          <a:xfrm>
            <a:off x="6400800" y="2670048"/>
            <a:ext cx="4443984" cy="64008"/>
          </a:xfrm>
          <a:prstGeom prst="rect">
            <a:avLst/>
          </a:prstGeom>
          <a:solidFill>
            <a:srgbClr val="C9A961"/>
          </a:solidFill>
          <a:ln w="12700">
            <a:solidFill>
              <a:srgbClr val="C9A961"/>
            </a:solidFill>
            <a:prstDash val="solid"/>
          </a:ln>
        </p:spPr>
      </p:sp>
      <p:sp>
        <p:nvSpPr>
          <p:cNvPr id="59" name="Text 57"/>
          <p:cNvSpPr/>
          <p:nvPr/>
        </p:nvSpPr>
        <p:spPr>
          <a:xfrm>
            <a:off x="6400800" y="2834640"/>
            <a:ext cx="5120640" cy="18288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Teamwork &amp; Collaboration</a:t>
            </a:r>
            <a:endParaRPr lang="en-US" sz="1000" dirty="0"/>
          </a:p>
        </p:txBody>
      </p:sp>
      <p:sp>
        <p:nvSpPr>
          <p:cNvPr id="60" name="Shape 58"/>
          <p:cNvSpPr/>
          <p:nvPr/>
        </p:nvSpPr>
        <p:spPr>
          <a:xfrm>
            <a:off x="6400800" y="3035808"/>
            <a:ext cx="4937760" cy="64008"/>
          </a:xfrm>
          <a:prstGeom prst="rect">
            <a:avLst/>
          </a:prstGeom>
          <a:solidFill>
            <a:srgbClr val="E8E0CC"/>
          </a:solidFill>
          <a:ln w="12700">
            <a:solidFill>
              <a:srgbClr val="E8E0CC"/>
            </a:solidFill>
            <a:prstDash val="solid"/>
          </a:ln>
        </p:spPr>
      </p:sp>
      <p:sp>
        <p:nvSpPr>
          <p:cNvPr id="61" name="Shape 59"/>
          <p:cNvSpPr/>
          <p:nvPr/>
        </p:nvSpPr>
        <p:spPr>
          <a:xfrm>
            <a:off x="6400800" y="3035808"/>
            <a:ext cx="4542739" cy="64008"/>
          </a:xfrm>
          <a:prstGeom prst="rect">
            <a:avLst/>
          </a:prstGeom>
          <a:solidFill>
            <a:srgbClr val="C9A961"/>
          </a:solidFill>
          <a:ln w="12700">
            <a:solidFill>
              <a:srgbClr val="C9A961"/>
            </a:solidFill>
            <a:prstDash val="solid"/>
          </a:ln>
        </p:spPr>
      </p:sp>
      <p:sp>
        <p:nvSpPr>
          <p:cNvPr id="62" name="Text 60"/>
          <p:cNvSpPr/>
          <p:nvPr/>
        </p:nvSpPr>
        <p:spPr>
          <a:xfrm>
            <a:off x="6400800" y="3200400"/>
            <a:ext cx="5120640" cy="18288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Communication &amp; Public Speaking</a:t>
            </a:r>
            <a:endParaRPr lang="en-US" sz="1000" dirty="0"/>
          </a:p>
        </p:txBody>
      </p:sp>
      <p:sp>
        <p:nvSpPr>
          <p:cNvPr id="63" name="Shape 61"/>
          <p:cNvSpPr/>
          <p:nvPr/>
        </p:nvSpPr>
        <p:spPr>
          <a:xfrm>
            <a:off x="6400800" y="3401568"/>
            <a:ext cx="4937760" cy="64008"/>
          </a:xfrm>
          <a:prstGeom prst="rect">
            <a:avLst/>
          </a:prstGeom>
          <a:solidFill>
            <a:srgbClr val="E8E0CC"/>
          </a:solidFill>
          <a:ln w="12700">
            <a:solidFill>
              <a:srgbClr val="E8E0CC"/>
            </a:solidFill>
            <a:prstDash val="solid"/>
          </a:ln>
        </p:spPr>
      </p:sp>
      <p:sp>
        <p:nvSpPr>
          <p:cNvPr id="64" name="Shape 62"/>
          <p:cNvSpPr/>
          <p:nvPr/>
        </p:nvSpPr>
        <p:spPr>
          <a:xfrm>
            <a:off x="6400800" y="3401568"/>
            <a:ext cx="4197096" cy="64008"/>
          </a:xfrm>
          <a:prstGeom prst="rect">
            <a:avLst/>
          </a:prstGeom>
          <a:solidFill>
            <a:srgbClr val="C9A961"/>
          </a:solidFill>
          <a:ln w="12700">
            <a:solidFill>
              <a:srgbClr val="C9A961"/>
            </a:solidFill>
            <a:prstDash val="solid"/>
          </a:ln>
        </p:spPr>
      </p:sp>
      <p:sp>
        <p:nvSpPr>
          <p:cNvPr id="65" name="Text 63"/>
          <p:cNvSpPr/>
          <p:nvPr/>
        </p:nvSpPr>
        <p:spPr>
          <a:xfrm>
            <a:off x="6400800" y="3566160"/>
            <a:ext cx="5120640" cy="18288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Leadership &amp; Coordination</a:t>
            </a:r>
            <a:endParaRPr lang="en-US" sz="1000" dirty="0"/>
          </a:p>
        </p:txBody>
      </p:sp>
      <p:sp>
        <p:nvSpPr>
          <p:cNvPr id="66" name="Shape 64"/>
          <p:cNvSpPr/>
          <p:nvPr/>
        </p:nvSpPr>
        <p:spPr>
          <a:xfrm>
            <a:off x="6400800" y="3767328"/>
            <a:ext cx="4937760" cy="64008"/>
          </a:xfrm>
          <a:prstGeom prst="rect">
            <a:avLst/>
          </a:prstGeom>
          <a:solidFill>
            <a:srgbClr val="E8E0CC"/>
          </a:solidFill>
          <a:ln w="12700">
            <a:solidFill>
              <a:srgbClr val="E8E0CC"/>
            </a:solidFill>
            <a:prstDash val="solid"/>
          </a:ln>
        </p:spPr>
      </p:sp>
      <p:sp>
        <p:nvSpPr>
          <p:cNvPr id="67" name="Shape 65"/>
          <p:cNvSpPr/>
          <p:nvPr/>
        </p:nvSpPr>
        <p:spPr>
          <a:xfrm>
            <a:off x="6400800" y="3767328"/>
            <a:ext cx="4345229" cy="64008"/>
          </a:xfrm>
          <a:prstGeom prst="rect">
            <a:avLst/>
          </a:prstGeom>
          <a:solidFill>
            <a:srgbClr val="C9A961"/>
          </a:solidFill>
          <a:ln w="12700">
            <a:solidFill>
              <a:srgbClr val="C9A961"/>
            </a:solidFill>
            <a:prstDash val="solid"/>
          </a:ln>
        </p:spPr>
      </p:sp>
      <p:sp>
        <p:nvSpPr>
          <p:cNvPr id="68" name="Text 66"/>
          <p:cNvSpPr/>
          <p:nvPr/>
        </p:nvSpPr>
        <p:spPr>
          <a:xfrm>
            <a:off x="6400800" y="3931920"/>
            <a:ext cx="5120640" cy="18288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Time Management</a:t>
            </a:r>
            <a:endParaRPr lang="en-US" sz="1000" dirty="0"/>
          </a:p>
        </p:txBody>
      </p:sp>
      <p:sp>
        <p:nvSpPr>
          <p:cNvPr id="69" name="Shape 67"/>
          <p:cNvSpPr/>
          <p:nvPr/>
        </p:nvSpPr>
        <p:spPr>
          <a:xfrm>
            <a:off x="6400800" y="4133088"/>
            <a:ext cx="4937760" cy="64008"/>
          </a:xfrm>
          <a:prstGeom prst="rect">
            <a:avLst/>
          </a:prstGeom>
          <a:solidFill>
            <a:srgbClr val="E8E0CC"/>
          </a:solidFill>
          <a:ln w="12700">
            <a:solidFill>
              <a:srgbClr val="E8E0CC"/>
            </a:solidFill>
            <a:prstDash val="solid"/>
          </a:ln>
        </p:spPr>
      </p:sp>
      <p:sp>
        <p:nvSpPr>
          <p:cNvPr id="70" name="Shape 68"/>
          <p:cNvSpPr/>
          <p:nvPr/>
        </p:nvSpPr>
        <p:spPr>
          <a:xfrm>
            <a:off x="6400800" y="4133088"/>
            <a:ext cx="4197096" cy="64008"/>
          </a:xfrm>
          <a:prstGeom prst="rect">
            <a:avLst/>
          </a:prstGeom>
          <a:solidFill>
            <a:srgbClr val="C9A961"/>
          </a:solidFill>
          <a:ln w="12700">
            <a:solidFill>
              <a:srgbClr val="C9A961"/>
            </a:solidFill>
            <a:prstDash val="solid"/>
          </a:ln>
        </p:spPr>
      </p:sp>
      <p:sp>
        <p:nvSpPr>
          <p:cNvPr id="71" name="Text 69"/>
          <p:cNvSpPr/>
          <p:nvPr/>
        </p:nvSpPr>
        <p:spPr>
          <a:xfrm>
            <a:off x="6400800" y="4297680"/>
            <a:ext cx="5120640" cy="18288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Adaptability &amp; Fast Learning</a:t>
            </a:r>
            <a:endParaRPr lang="en-US" sz="1000" dirty="0"/>
          </a:p>
        </p:txBody>
      </p:sp>
      <p:sp>
        <p:nvSpPr>
          <p:cNvPr id="72" name="Shape 70"/>
          <p:cNvSpPr/>
          <p:nvPr/>
        </p:nvSpPr>
        <p:spPr>
          <a:xfrm>
            <a:off x="6400800" y="4498848"/>
            <a:ext cx="4937760" cy="64008"/>
          </a:xfrm>
          <a:prstGeom prst="rect">
            <a:avLst/>
          </a:prstGeom>
          <a:solidFill>
            <a:srgbClr val="E8E0CC"/>
          </a:solidFill>
          <a:ln w="12700">
            <a:solidFill>
              <a:srgbClr val="E8E0CC"/>
            </a:solidFill>
            <a:prstDash val="solid"/>
          </a:ln>
        </p:spPr>
      </p:sp>
      <p:sp>
        <p:nvSpPr>
          <p:cNvPr id="73" name="Shape 71"/>
          <p:cNvSpPr/>
          <p:nvPr/>
        </p:nvSpPr>
        <p:spPr>
          <a:xfrm>
            <a:off x="6400800" y="4498848"/>
            <a:ext cx="4690872" cy="64008"/>
          </a:xfrm>
          <a:prstGeom prst="rect">
            <a:avLst/>
          </a:prstGeom>
          <a:solidFill>
            <a:srgbClr val="C9A961"/>
          </a:solidFill>
          <a:ln w="12700">
            <a:solidFill>
              <a:srgbClr val="C9A961"/>
            </a:solidFill>
            <a:prstDash val="solid"/>
          </a:ln>
        </p:spPr>
      </p:sp>
      <p:sp>
        <p:nvSpPr>
          <p:cNvPr id="74" name="Text 72"/>
          <p:cNvSpPr/>
          <p:nvPr/>
        </p:nvSpPr>
        <p:spPr>
          <a:xfrm>
            <a:off x="6400800" y="4663440"/>
            <a:ext cx="5120640" cy="18288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Detail-Oriented &amp; Initiative</a:t>
            </a:r>
            <a:endParaRPr lang="en-US" sz="1000" dirty="0"/>
          </a:p>
        </p:txBody>
      </p:sp>
      <p:sp>
        <p:nvSpPr>
          <p:cNvPr id="75" name="Shape 73"/>
          <p:cNvSpPr/>
          <p:nvPr/>
        </p:nvSpPr>
        <p:spPr>
          <a:xfrm>
            <a:off x="6400800" y="4864608"/>
            <a:ext cx="4937760" cy="64008"/>
          </a:xfrm>
          <a:prstGeom prst="rect">
            <a:avLst/>
          </a:prstGeom>
          <a:solidFill>
            <a:srgbClr val="E8E0CC"/>
          </a:solidFill>
          <a:ln w="12700">
            <a:solidFill>
              <a:srgbClr val="E8E0CC"/>
            </a:solidFill>
            <a:prstDash val="solid"/>
          </a:ln>
        </p:spPr>
      </p:sp>
      <p:sp>
        <p:nvSpPr>
          <p:cNvPr id="76" name="Shape 74"/>
          <p:cNvSpPr/>
          <p:nvPr/>
        </p:nvSpPr>
        <p:spPr>
          <a:xfrm>
            <a:off x="6400800" y="4864608"/>
            <a:ext cx="4443984" cy="64008"/>
          </a:xfrm>
          <a:prstGeom prst="rect">
            <a:avLst/>
          </a:prstGeom>
          <a:solidFill>
            <a:srgbClr val="C9A961"/>
          </a:solidFill>
          <a:ln w="12700">
            <a:solidFill>
              <a:srgbClr val="C9A961"/>
            </a:solidFill>
            <a:prstDash val="solid"/>
          </a:ln>
        </p:spPr>
      </p:sp>
      <p:sp>
        <p:nvSpPr>
          <p:cNvPr id="77" name="Shape 75"/>
          <p:cNvSpPr/>
          <p:nvPr/>
        </p:nvSpPr>
        <p:spPr>
          <a:xfrm>
            <a:off x="6400800" y="5074920"/>
            <a:ext cx="5120640" cy="320040"/>
          </a:xfrm>
          <a:prstGeom prst="rect">
            <a:avLst/>
          </a:prstGeom>
          <a:solidFill>
            <a:srgbClr val="0A1628"/>
          </a:solidFill>
          <a:ln w="12700">
            <a:solidFill>
              <a:srgbClr val="0A1628"/>
            </a:solidFill>
            <a:prstDash val="solid"/>
          </a:ln>
        </p:spPr>
      </p:sp>
      <p:sp>
        <p:nvSpPr>
          <p:cNvPr id="78" name="Text 76"/>
          <p:cNvSpPr/>
          <p:nvPr/>
        </p:nvSpPr>
        <p:spPr>
          <a:xfrm>
            <a:off x="6537960" y="5074920"/>
            <a:ext cx="4572000" cy="320040"/>
          </a:xfrm>
          <a:prstGeom prst="rect">
            <a:avLst/>
          </a:prstGeom>
          <a:noFill/>
          <a:ln/>
        </p:spPr>
        <p:txBody>
          <a:bodyPr wrap="square" lIns="0" tIns="0" rIns="0" bIns="0" rtlCol="0" anchor="ctr"/>
          <a:lstStyle/>
          <a:p>
            <a:pPr marL="0" indent="0">
              <a:buNone/>
            </a:pPr>
            <a:r>
              <a:rPr lang="en-US" sz="1200" b="1" dirty="0">
                <a:solidFill>
                  <a:srgbClr val="C9A961"/>
                </a:solidFill>
                <a:latin typeface="Calibri" pitchFamily="34" charset="0"/>
                <a:ea typeface="Calibri" pitchFamily="34" charset="-122"/>
                <a:cs typeface="Calibri" pitchFamily="34" charset="-120"/>
              </a:rPr>
              <a:t>LANGUAGES</a:t>
            </a:r>
            <a:endParaRPr lang="en-US" sz="1200" dirty="0"/>
          </a:p>
        </p:txBody>
      </p:sp>
      <p:sp>
        <p:nvSpPr>
          <p:cNvPr id="79" name="Text 77"/>
          <p:cNvSpPr/>
          <p:nvPr/>
        </p:nvSpPr>
        <p:spPr>
          <a:xfrm>
            <a:off x="6400800" y="5440680"/>
            <a:ext cx="5120640" cy="54864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Bahasa Indonesia </a:t>
            </a:r>
            <a:r>
              <a:rPr lang="en-US" sz="1100" i="1" dirty="0">
                <a:solidFill>
                  <a:srgbClr val="C9A961"/>
                </a:solidFill>
                <a:latin typeface="Calibri" pitchFamily="34" charset="0"/>
                <a:ea typeface="Calibri" pitchFamily="34" charset="-122"/>
                <a:cs typeface="Calibri" pitchFamily="34" charset="-120"/>
              </a:rPr>
              <a:t>— Native</a:t>
            </a:r>
            <a:endParaRPr lang="en-US" sz="1100" dirty="0"/>
          </a:p>
          <a:p>
            <a:pPr marL="0" indent="0">
              <a:buNone/>
            </a:pPr>
            <a:r>
              <a:rPr lang="en-US" sz="1100" b="1" dirty="0">
                <a:solidFill>
                  <a:srgbClr val="1A1A1A"/>
                </a:solidFill>
                <a:latin typeface="Calibri" pitchFamily="34" charset="0"/>
                <a:ea typeface="Calibri" pitchFamily="34" charset="-122"/>
                <a:cs typeface="Calibri" pitchFamily="34" charset="-120"/>
              </a:rPr>
              <a:t>English </a:t>
            </a:r>
            <a:r>
              <a:rPr lang="en-US" sz="1100" i="1" dirty="0">
                <a:solidFill>
                  <a:srgbClr val="C9A961"/>
                </a:solidFill>
                <a:latin typeface="Calibri" pitchFamily="34" charset="0"/>
                <a:ea typeface="Calibri" pitchFamily="34" charset="-122"/>
                <a:cs typeface="Calibri" pitchFamily="34" charset="-120"/>
              </a:rPr>
              <a:t>— Professional Working Proficiency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5EE"/>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0A1628"/>
          </a:solidFill>
          <a:ln w="12700">
            <a:solidFill>
              <a:srgbClr val="0A1628"/>
            </a:solidFill>
            <a:prstDash val="solid"/>
          </a:ln>
        </p:spPr>
      </p:sp>
      <p:sp>
        <p:nvSpPr>
          <p:cNvPr id="3" name="Shape 1"/>
          <p:cNvSpPr/>
          <p:nvPr/>
        </p:nvSpPr>
        <p:spPr>
          <a:xfrm>
            <a:off x="0" y="457200"/>
            <a:ext cx="12161520" cy="36576"/>
          </a:xfrm>
          <a:prstGeom prst="rect">
            <a:avLst/>
          </a:prstGeom>
          <a:solidFill>
            <a:srgbClr val="C9A961"/>
          </a:solidFill>
          <a:ln w="12700">
            <a:solidFill>
              <a:srgbClr val="C9A961"/>
            </a:solidFill>
            <a:prstDash val="solid"/>
          </a:ln>
        </p:spPr>
      </p:sp>
      <p:sp>
        <p:nvSpPr>
          <p:cNvPr id="4" name="Text 2"/>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5" name="Text 3"/>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6" name="Text 4"/>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6 / 17</a:t>
            </a:r>
            <a:endParaRPr lang="en-US" sz="900" dirty="0"/>
          </a:p>
        </p:txBody>
      </p:sp>
      <p:sp>
        <p:nvSpPr>
          <p:cNvPr id="7" name="Shape 5"/>
          <p:cNvSpPr/>
          <p:nvPr/>
        </p:nvSpPr>
        <p:spPr>
          <a:xfrm>
            <a:off x="0" y="6565392"/>
            <a:ext cx="12161520" cy="292608"/>
          </a:xfrm>
          <a:prstGeom prst="rect">
            <a:avLst/>
          </a:prstGeom>
          <a:solidFill>
            <a:srgbClr val="1B2D4A"/>
          </a:solidFill>
          <a:ln w="12700">
            <a:solidFill>
              <a:srgbClr val="1B2D4A"/>
            </a:solidFill>
            <a:prstDash val="solid"/>
          </a:ln>
        </p:spPr>
      </p:sp>
      <p:sp>
        <p:nvSpPr>
          <p:cNvPr id="8" name="Shape 6"/>
          <p:cNvSpPr/>
          <p:nvPr/>
        </p:nvSpPr>
        <p:spPr>
          <a:xfrm>
            <a:off x="0" y="6547104"/>
            <a:ext cx="12161520" cy="18288"/>
          </a:xfrm>
          <a:prstGeom prst="rect">
            <a:avLst/>
          </a:prstGeom>
          <a:solidFill>
            <a:srgbClr val="C9A961"/>
          </a:solidFill>
          <a:ln w="12700">
            <a:solidFill>
              <a:srgbClr val="C9A961"/>
            </a:solidFill>
            <a:prstDash val="solid"/>
          </a:ln>
        </p:spPr>
      </p:sp>
      <p:sp>
        <p:nvSpPr>
          <p:cNvPr id="9" name="Text 7"/>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0" name="Text 8"/>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11" name="Text 9"/>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12" name="Text 10"/>
          <p:cNvSpPr/>
          <p:nvPr/>
        </p:nvSpPr>
        <p:spPr>
          <a:xfrm>
            <a:off x="640080" y="822960"/>
            <a:ext cx="73152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04  ·  PROJECTS</a:t>
            </a:r>
            <a:endParaRPr lang="en-US" sz="2000" dirty="0"/>
          </a:p>
        </p:txBody>
      </p:sp>
      <p:sp>
        <p:nvSpPr>
          <p:cNvPr id="13" name="Shape 11"/>
          <p:cNvSpPr/>
          <p:nvPr/>
        </p:nvSpPr>
        <p:spPr>
          <a:xfrm>
            <a:off x="640080" y="1115568"/>
            <a:ext cx="640080" cy="27432"/>
          </a:xfrm>
          <a:prstGeom prst="rect">
            <a:avLst/>
          </a:prstGeom>
          <a:solidFill>
            <a:srgbClr val="C9A961"/>
          </a:solidFill>
          <a:ln w="12700">
            <a:solidFill>
              <a:srgbClr val="C9A961"/>
            </a:solidFill>
            <a:prstDash val="solid"/>
          </a:ln>
        </p:spPr>
      </p:sp>
      <p:sp>
        <p:nvSpPr>
          <p:cNvPr id="14" name="Text 12"/>
          <p:cNvSpPr/>
          <p:nvPr/>
        </p:nvSpPr>
        <p:spPr>
          <a:xfrm>
            <a:off x="640080" y="1207008"/>
            <a:ext cx="6400800" cy="228600"/>
          </a:xfrm>
          <a:prstGeom prst="rect">
            <a:avLst/>
          </a:prstGeom>
          <a:noFill/>
          <a:ln/>
        </p:spPr>
        <p:txBody>
          <a:bodyPr wrap="square" lIns="0" tIns="0" rIns="0" bIns="0" rtlCol="0" anchor="ctr"/>
          <a:lstStyle/>
          <a:p>
            <a:pPr marL="0" indent="0">
              <a:buNone/>
            </a:pPr>
            <a:r>
              <a:rPr lang="en-US" sz="1000" b="1" dirty="0">
                <a:solidFill>
                  <a:srgbClr val="5A5A5A"/>
                </a:solidFill>
                <a:latin typeface="Calibri" pitchFamily="34" charset="0"/>
                <a:ea typeface="Calibri" pitchFamily="34" charset="-122"/>
                <a:cs typeface="Calibri" pitchFamily="34" charset="-120"/>
              </a:rPr>
              <a:t>FINAL PROJECT · 2025</a:t>
            </a:r>
            <a:endParaRPr lang="en-US" sz="1000" dirty="0"/>
          </a:p>
        </p:txBody>
      </p:sp>
      <p:sp>
        <p:nvSpPr>
          <p:cNvPr id="15" name="Text 13"/>
          <p:cNvSpPr/>
          <p:nvPr/>
        </p:nvSpPr>
        <p:spPr>
          <a:xfrm>
            <a:off x="640080" y="1444752"/>
            <a:ext cx="6400800" cy="612648"/>
          </a:xfrm>
          <a:prstGeom prst="rect">
            <a:avLst/>
          </a:prstGeom>
          <a:noFill/>
          <a:ln/>
        </p:spPr>
        <p:txBody>
          <a:bodyPr wrap="square" lIns="0" tIns="0" rIns="0" bIns="0" rtlCol="0" anchor="t"/>
          <a:lstStyle/>
          <a:p>
            <a:pPr marL="0" indent="0">
              <a:buNone/>
            </a:pPr>
            <a:r>
              <a:rPr lang="en-US" sz="2400" b="1" dirty="0">
                <a:solidFill>
                  <a:srgbClr val="0A1628"/>
                </a:solidFill>
                <a:latin typeface="Calibri" pitchFamily="34" charset="0"/>
                <a:ea typeface="Calibri" pitchFamily="34" charset="-122"/>
                <a:cs typeface="Calibri" pitchFamily="34" charset="-120"/>
              </a:rPr>
              <a:t>SEMS — Smart Energy Management System</a:t>
            </a:r>
            <a:endParaRPr lang="en-US" sz="2400" dirty="0"/>
          </a:p>
        </p:txBody>
      </p:sp>
      <p:sp>
        <p:nvSpPr>
          <p:cNvPr id="16" name="Text 14"/>
          <p:cNvSpPr/>
          <p:nvPr/>
        </p:nvSpPr>
        <p:spPr>
          <a:xfrm>
            <a:off x="640080" y="1783080"/>
            <a:ext cx="6400800" cy="274320"/>
          </a:xfrm>
          <a:prstGeom prst="rect">
            <a:avLst/>
          </a:prstGeom>
          <a:noFill/>
          <a:ln/>
        </p:spPr>
        <p:txBody>
          <a:bodyPr wrap="square" lIns="0" tIns="0" rIns="0" bIns="0"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Sole Developer (Hardware, Firmware, ML, Web, AI Integration)</a:t>
            </a:r>
            <a:endParaRPr lang="en-US" sz="1200" dirty="0"/>
          </a:p>
        </p:txBody>
      </p:sp>
      <p:sp>
        <p:nvSpPr>
          <p:cNvPr id="17" name="Shape 15"/>
          <p:cNvSpPr/>
          <p:nvPr/>
        </p:nvSpPr>
        <p:spPr>
          <a:xfrm>
            <a:off x="6903720" y="1554480"/>
            <a:ext cx="594360" cy="594360"/>
          </a:xfrm>
          <a:prstGeom prst="ellipse">
            <a:avLst/>
          </a:prstGeom>
          <a:solidFill>
            <a:srgbClr val="0A1628"/>
          </a:solidFill>
          <a:ln w="8890">
            <a:solidFill>
              <a:srgbClr val="C9A961"/>
            </a:solidFill>
            <a:prstDash val="solid"/>
          </a:ln>
        </p:spPr>
      </p:sp>
      <p:pic>
        <p:nvPicPr>
          <p:cNvPr id="18" name="Image 0" descr="/home/claude/icons/proj_sems.png"/>
          <p:cNvPicPr>
            <a:picLocks noChangeAspect="1"/>
          </p:cNvPicPr>
          <p:nvPr/>
        </p:nvPicPr>
        <p:blipFill>
          <a:blip r:embed="rId3"/>
          <a:stretch>
            <a:fillRect/>
          </a:stretch>
        </p:blipFill>
        <p:spPr>
          <a:xfrm>
            <a:off x="7040880" y="1691640"/>
            <a:ext cx="320040" cy="320040"/>
          </a:xfrm>
          <a:prstGeom prst="rect">
            <a:avLst/>
          </a:prstGeom>
        </p:spPr>
      </p:pic>
      <p:sp>
        <p:nvSpPr>
          <p:cNvPr id="19" name="Shape 16"/>
          <p:cNvSpPr/>
          <p:nvPr/>
        </p:nvSpPr>
        <p:spPr>
          <a:xfrm>
            <a:off x="640080" y="2606040"/>
            <a:ext cx="571500" cy="292608"/>
          </a:xfrm>
          <a:prstGeom prst="rect">
            <a:avLst/>
          </a:prstGeom>
          <a:solidFill>
            <a:srgbClr val="0A1628"/>
          </a:solidFill>
          <a:ln w="12700">
            <a:solidFill>
              <a:srgbClr val="0A1628"/>
            </a:solidFill>
            <a:prstDash val="solid"/>
          </a:ln>
        </p:spPr>
      </p:sp>
      <p:sp>
        <p:nvSpPr>
          <p:cNvPr id="20" name="Text 17"/>
          <p:cNvSpPr/>
          <p:nvPr/>
        </p:nvSpPr>
        <p:spPr>
          <a:xfrm>
            <a:off x="640080" y="2606040"/>
            <a:ext cx="57150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ESP32</a:t>
            </a:r>
            <a:endParaRPr lang="en-US" sz="1000" dirty="0"/>
          </a:p>
        </p:txBody>
      </p:sp>
      <p:sp>
        <p:nvSpPr>
          <p:cNvPr id="21" name="Shape 18"/>
          <p:cNvSpPr/>
          <p:nvPr/>
        </p:nvSpPr>
        <p:spPr>
          <a:xfrm>
            <a:off x="1303020" y="2606040"/>
            <a:ext cx="457200" cy="292608"/>
          </a:xfrm>
          <a:prstGeom prst="rect">
            <a:avLst/>
          </a:prstGeom>
          <a:solidFill>
            <a:srgbClr val="0A1628"/>
          </a:solidFill>
          <a:ln w="12700">
            <a:solidFill>
              <a:srgbClr val="0A1628"/>
            </a:solidFill>
            <a:prstDash val="solid"/>
          </a:ln>
        </p:spPr>
      </p:sp>
      <p:sp>
        <p:nvSpPr>
          <p:cNvPr id="22" name="Text 19"/>
          <p:cNvSpPr/>
          <p:nvPr/>
        </p:nvSpPr>
        <p:spPr>
          <a:xfrm>
            <a:off x="1303020" y="2606040"/>
            <a:ext cx="45720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IoT</a:t>
            </a:r>
            <a:endParaRPr lang="en-US" sz="1000" dirty="0"/>
          </a:p>
        </p:txBody>
      </p:sp>
      <p:sp>
        <p:nvSpPr>
          <p:cNvPr id="23" name="Shape 20"/>
          <p:cNvSpPr/>
          <p:nvPr/>
        </p:nvSpPr>
        <p:spPr>
          <a:xfrm>
            <a:off x="1851660" y="2606040"/>
            <a:ext cx="1193292" cy="292608"/>
          </a:xfrm>
          <a:prstGeom prst="rect">
            <a:avLst/>
          </a:prstGeom>
          <a:solidFill>
            <a:srgbClr val="0A1628"/>
          </a:solidFill>
          <a:ln w="12700">
            <a:solidFill>
              <a:srgbClr val="0A1628"/>
            </a:solidFill>
            <a:prstDash val="solid"/>
          </a:ln>
        </p:spPr>
      </p:sp>
      <p:sp>
        <p:nvSpPr>
          <p:cNvPr id="24" name="Text 21"/>
          <p:cNvSpPr/>
          <p:nvPr/>
        </p:nvSpPr>
        <p:spPr>
          <a:xfrm>
            <a:off x="1851660" y="2606040"/>
            <a:ext cx="1193292"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Random Forest</a:t>
            </a:r>
            <a:endParaRPr lang="en-US" sz="1000" dirty="0"/>
          </a:p>
        </p:txBody>
      </p:sp>
      <p:sp>
        <p:nvSpPr>
          <p:cNvPr id="25" name="Shape 22"/>
          <p:cNvSpPr/>
          <p:nvPr/>
        </p:nvSpPr>
        <p:spPr>
          <a:xfrm>
            <a:off x="3136392" y="2606040"/>
            <a:ext cx="1193292" cy="292608"/>
          </a:xfrm>
          <a:prstGeom prst="rect">
            <a:avLst/>
          </a:prstGeom>
          <a:solidFill>
            <a:srgbClr val="0A1628"/>
          </a:solidFill>
          <a:ln w="12700">
            <a:solidFill>
              <a:srgbClr val="0A1628"/>
            </a:solidFill>
            <a:prstDash val="solid"/>
          </a:ln>
        </p:spPr>
      </p:sp>
      <p:sp>
        <p:nvSpPr>
          <p:cNvPr id="26" name="Text 23"/>
          <p:cNvSpPr/>
          <p:nvPr/>
        </p:nvSpPr>
        <p:spPr>
          <a:xfrm>
            <a:off x="3136392" y="2606040"/>
            <a:ext cx="1193292"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Generative AI</a:t>
            </a:r>
            <a:endParaRPr lang="en-US" sz="1000" dirty="0"/>
          </a:p>
        </p:txBody>
      </p:sp>
      <p:sp>
        <p:nvSpPr>
          <p:cNvPr id="27" name="Shape 24"/>
          <p:cNvSpPr/>
          <p:nvPr/>
        </p:nvSpPr>
        <p:spPr>
          <a:xfrm>
            <a:off x="4421124" y="2606040"/>
            <a:ext cx="804672" cy="292608"/>
          </a:xfrm>
          <a:prstGeom prst="rect">
            <a:avLst/>
          </a:prstGeom>
          <a:solidFill>
            <a:srgbClr val="0A1628"/>
          </a:solidFill>
          <a:ln w="12700">
            <a:solidFill>
              <a:srgbClr val="0A1628"/>
            </a:solidFill>
            <a:prstDash val="solid"/>
          </a:ln>
        </p:spPr>
      </p:sp>
      <p:sp>
        <p:nvSpPr>
          <p:cNvPr id="28" name="Text 25"/>
          <p:cNvSpPr/>
          <p:nvPr/>
        </p:nvSpPr>
        <p:spPr>
          <a:xfrm>
            <a:off x="4421124" y="2606040"/>
            <a:ext cx="804672"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Firebase</a:t>
            </a:r>
            <a:endParaRPr lang="en-US" sz="1000" dirty="0"/>
          </a:p>
        </p:txBody>
      </p:sp>
      <p:sp>
        <p:nvSpPr>
          <p:cNvPr id="29" name="Text 26"/>
          <p:cNvSpPr/>
          <p:nvPr/>
        </p:nvSpPr>
        <p:spPr>
          <a:xfrm>
            <a:off x="640080" y="3108960"/>
            <a:ext cx="6400800" cy="1371600"/>
          </a:xfrm>
          <a:prstGeom prst="rect">
            <a:avLst/>
          </a:prstGeom>
          <a:noFill/>
          <a:ln/>
        </p:spPr>
        <p:txBody>
          <a:bodyPr wrap="square" lIns="0" tIns="0" rIns="0" bIns="0" rtlCol="0" anchor="t"/>
          <a:lstStyle/>
          <a:p>
            <a:pPr marL="0" indent="0" algn="just">
              <a:buNone/>
            </a:pPr>
            <a:r>
              <a:rPr lang="en-US" sz="1400" dirty="0">
                <a:solidFill>
                  <a:srgbClr val="1A1A1A"/>
                </a:solidFill>
                <a:latin typeface="Calibri" pitchFamily="34" charset="0"/>
                <a:ea typeface="Calibri" pitchFamily="34" charset="-122"/>
                <a:cs typeface="Calibri" pitchFamily="34" charset="-120"/>
              </a:rPr>
              <a:t>An end-to-end smart energy monitoring and recommendation platform that combines real-time power telemetry, predictive machine learning, and generative AI to help Indonesian households reduce electricity consumption. The system integrates ESP32-based hardware, a Random Forest forecasting model, Firebase real-time database, and Google Gemini 2.5 Flash to deliver context-aware energy advice.</a:t>
            </a:r>
            <a:endParaRPr lang="en-US" sz="1400" dirty="0"/>
          </a:p>
        </p:txBody>
      </p:sp>
      <p:sp>
        <p:nvSpPr>
          <p:cNvPr id="30" name="Text 27"/>
          <p:cNvSpPr/>
          <p:nvPr/>
        </p:nvSpPr>
        <p:spPr>
          <a:xfrm>
            <a:off x="640080" y="4572000"/>
            <a:ext cx="2743200" cy="274320"/>
          </a:xfrm>
          <a:prstGeom prst="rect">
            <a:avLst/>
          </a:prstGeom>
          <a:noFill/>
          <a:ln/>
        </p:spPr>
        <p:txBody>
          <a:bodyPr wrap="square" lIns="0" tIns="0" rIns="0" bIns="0" rtlCol="0" anchor="ctr"/>
          <a:lstStyle/>
          <a:p>
            <a:pPr marL="0" indent="0">
              <a:buNone/>
            </a:pPr>
            <a:r>
              <a:rPr lang="en-US" sz="1100" b="1" dirty="0">
                <a:solidFill>
                  <a:srgbClr val="C9A961"/>
                </a:solidFill>
                <a:latin typeface="Calibri" pitchFamily="34" charset="0"/>
                <a:ea typeface="Calibri" pitchFamily="34" charset="-122"/>
                <a:cs typeface="Calibri" pitchFamily="34" charset="-120"/>
              </a:rPr>
              <a:t>KEY HIGHLIGHTS</a:t>
            </a:r>
            <a:endParaRPr lang="en-US" sz="1100" dirty="0"/>
          </a:p>
        </p:txBody>
      </p:sp>
      <p:sp>
        <p:nvSpPr>
          <p:cNvPr id="31" name="Shape 28"/>
          <p:cNvSpPr/>
          <p:nvPr/>
        </p:nvSpPr>
        <p:spPr>
          <a:xfrm>
            <a:off x="640080" y="4864608"/>
            <a:ext cx="457200" cy="22860"/>
          </a:xfrm>
          <a:prstGeom prst="rect">
            <a:avLst/>
          </a:prstGeom>
          <a:solidFill>
            <a:srgbClr val="C9A961"/>
          </a:solidFill>
          <a:ln w="12700">
            <a:solidFill>
              <a:srgbClr val="C9A961"/>
            </a:solidFill>
            <a:prstDash val="solid"/>
          </a:ln>
        </p:spPr>
      </p:sp>
      <p:sp>
        <p:nvSpPr>
          <p:cNvPr id="32" name="Text 29"/>
          <p:cNvSpPr/>
          <p:nvPr/>
        </p:nvSpPr>
        <p:spPr>
          <a:xfrm>
            <a:off x="640080" y="5029200"/>
            <a:ext cx="6400800" cy="1371600"/>
          </a:xfrm>
          <a:prstGeom prst="rect">
            <a:avLst/>
          </a:prstGeom>
          <a:noFill/>
          <a:ln/>
        </p:spPr>
        <p:txBody>
          <a:bodyPr wrap="square" lIns="0" tIns="0" rIns="0" bIns="0" rtlCol="0" anchor="t"/>
          <a:lstStyle/>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Real-time power monitoring with ESP32 + PZEM-004T + DHT22 sensors over MQTT</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Random Forest model achieved R² 0.9893 (98.93% accuracy) for monthly forecasting</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Google Gemini 2.5 Flash integration for personalized energy-saving recommendations</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Firebase dashboard with PLN tariff calculator (450VA – 5500VA customer profiles)</a:t>
            </a:r>
            <a:endParaRPr lang="en-US" sz="1400" dirty="0"/>
          </a:p>
        </p:txBody>
      </p:sp>
      <p:sp>
        <p:nvSpPr>
          <p:cNvPr id="33" name="Shape 30"/>
          <p:cNvSpPr/>
          <p:nvPr/>
        </p:nvSpPr>
        <p:spPr>
          <a:xfrm>
            <a:off x="7589520" y="1097280"/>
            <a:ext cx="4114800" cy="53035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34" name="Shape 31"/>
          <p:cNvSpPr/>
          <p:nvPr/>
        </p:nvSpPr>
        <p:spPr>
          <a:xfrm>
            <a:off x="7589520" y="1097280"/>
            <a:ext cx="73152" cy="5303520"/>
          </a:xfrm>
          <a:prstGeom prst="rect">
            <a:avLst/>
          </a:prstGeom>
          <a:solidFill>
            <a:srgbClr val="C9A961"/>
          </a:solidFill>
          <a:ln w="12700">
            <a:solidFill>
              <a:srgbClr val="C9A961"/>
            </a:solidFill>
            <a:prstDash val="solid"/>
          </a:ln>
        </p:spPr>
      </p:sp>
      <p:pic>
        <p:nvPicPr>
          <p:cNvPr id="35" name="Image 1" descr="/home/claude/project_imgs/sems_panel.jpg"/>
          <p:cNvPicPr>
            <a:picLocks noChangeAspect="1"/>
          </p:cNvPicPr>
          <p:nvPr/>
        </p:nvPicPr>
        <p:blipFill>
          <a:blip r:embed="rId4"/>
          <a:srcRect/>
          <a:stretch/>
        </p:blipFill>
        <p:spPr>
          <a:xfrm rot="5400000">
            <a:off x="7364387" y="1573187"/>
            <a:ext cx="4599432" cy="3775634"/>
          </a:xfrm>
          <a:prstGeom prst="rect">
            <a:avLst/>
          </a:prstGeom>
        </p:spPr>
      </p:pic>
      <p:sp>
        <p:nvSpPr>
          <p:cNvPr id="36" name="Text 32"/>
          <p:cNvSpPr/>
          <p:nvPr/>
        </p:nvSpPr>
        <p:spPr>
          <a:xfrm>
            <a:off x="7818120" y="5897880"/>
            <a:ext cx="3657600" cy="365760"/>
          </a:xfrm>
          <a:prstGeom prst="rect">
            <a:avLst/>
          </a:prstGeom>
          <a:noFill/>
          <a:ln/>
        </p:spPr>
        <p:txBody>
          <a:bodyPr wrap="square" lIns="0" tIns="0" rIns="0" bIns="0" rtlCol="0" anchor="ctr"/>
          <a:lstStyle/>
          <a:p>
            <a:pPr marL="0" indent="0" algn="ctr">
              <a:buNone/>
            </a:pPr>
            <a:r>
              <a:rPr lang="en-US" sz="1000" i="1" dirty="0">
                <a:solidFill>
                  <a:srgbClr val="5A5A5A"/>
                </a:solidFill>
                <a:latin typeface="Calibri" pitchFamily="34" charset="0"/>
                <a:ea typeface="Calibri" pitchFamily="34" charset="-122"/>
                <a:cs typeface="Calibri" pitchFamily="34" charset="-120"/>
              </a:rPr>
              <a:t>SEMS device — front panel with LCD display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5EE"/>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0A1628"/>
          </a:solidFill>
          <a:ln w="12700">
            <a:solidFill>
              <a:srgbClr val="0A1628"/>
            </a:solidFill>
            <a:prstDash val="solid"/>
          </a:ln>
        </p:spPr>
      </p:sp>
      <p:sp>
        <p:nvSpPr>
          <p:cNvPr id="3" name="Shape 1"/>
          <p:cNvSpPr/>
          <p:nvPr/>
        </p:nvSpPr>
        <p:spPr>
          <a:xfrm>
            <a:off x="0" y="457200"/>
            <a:ext cx="12161520" cy="36576"/>
          </a:xfrm>
          <a:prstGeom prst="rect">
            <a:avLst/>
          </a:prstGeom>
          <a:solidFill>
            <a:srgbClr val="C9A961"/>
          </a:solidFill>
          <a:ln w="12700">
            <a:solidFill>
              <a:srgbClr val="C9A961"/>
            </a:solidFill>
            <a:prstDash val="solid"/>
          </a:ln>
        </p:spPr>
      </p:sp>
      <p:sp>
        <p:nvSpPr>
          <p:cNvPr id="4" name="Text 2"/>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5" name="Text 3"/>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6" name="Text 4"/>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7 / 17</a:t>
            </a:r>
            <a:endParaRPr lang="en-US" sz="900" dirty="0"/>
          </a:p>
        </p:txBody>
      </p:sp>
      <p:sp>
        <p:nvSpPr>
          <p:cNvPr id="7" name="Shape 5"/>
          <p:cNvSpPr/>
          <p:nvPr/>
        </p:nvSpPr>
        <p:spPr>
          <a:xfrm>
            <a:off x="0" y="6565392"/>
            <a:ext cx="12161520" cy="292608"/>
          </a:xfrm>
          <a:prstGeom prst="rect">
            <a:avLst/>
          </a:prstGeom>
          <a:solidFill>
            <a:srgbClr val="1B2D4A"/>
          </a:solidFill>
          <a:ln w="12700">
            <a:solidFill>
              <a:srgbClr val="1B2D4A"/>
            </a:solidFill>
            <a:prstDash val="solid"/>
          </a:ln>
        </p:spPr>
      </p:sp>
      <p:sp>
        <p:nvSpPr>
          <p:cNvPr id="8" name="Shape 6"/>
          <p:cNvSpPr/>
          <p:nvPr/>
        </p:nvSpPr>
        <p:spPr>
          <a:xfrm>
            <a:off x="0" y="6547104"/>
            <a:ext cx="12161520" cy="18288"/>
          </a:xfrm>
          <a:prstGeom prst="rect">
            <a:avLst/>
          </a:prstGeom>
          <a:solidFill>
            <a:srgbClr val="C9A961"/>
          </a:solidFill>
          <a:ln w="12700">
            <a:solidFill>
              <a:srgbClr val="C9A961"/>
            </a:solidFill>
            <a:prstDash val="solid"/>
          </a:ln>
        </p:spPr>
      </p:sp>
      <p:sp>
        <p:nvSpPr>
          <p:cNvPr id="9" name="Text 7"/>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0" name="Text 8"/>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11" name="Text 9"/>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12" name="Text 10"/>
          <p:cNvSpPr/>
          <p:nvPr/>
        </p:nvSpPr>
        <p:spPr>
          <a:xfrm>
            <a:off x="640080" y="822960"/>
            <a:ext cx="73152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04  ·  PROJECTS (CONT.)</a:t>
            </a:r>
            <a:endParaRPr lang="en-US" sz="2000" dirty="0"/>
          </a:p>
        </p:txBody>
      </p:sp>
      <p:sp>
        <p:nvSpPr>
          <p:cNvPr id="13" name="Shape 11"/>
          <p:cNvSpPr/>
          <p:nvPr/>
        </p:nvSpPr>
        <p:spPr>
          <a:xfrm>
            <a:off x="640080" y="1115568"/>
            <a:ext cx="640080" cy="27432"/>
          </a:xfrm>
          <a:prstGeom prst="rect">
            <a:avLst/>
          </a:prstGeom>
          <a:solidFill>
            <a:srgbClr val="C9A961"/>
          </a:solidFill>
          <a:ln w="12700">
            <a:solidFill>
              <a:srgbClr val="C9A961"/>
            </a:solidFill>
            <a:prstDash val="solid"/>
          </a:ln>
        </p:spPr>
      </p:sp>
      <p:sp>
        <p:nvSpPr>
          <p:cNvPr id="14" name="Text 12"/>
          <p:cNvSpPr/>
          <p:nvPr/>
        </p:nvSpPr>
        <p:spPr>
          <a:xfrm>
            <a:off x="640080" y="1207008"/>
            <a:ext cx="10972800" cy="548640"/>
          </a:xfrm>
          <a:prstGeom prst="rect">
            <a:avLst/>
          </a:prstGeom>
          <a:noFill/>
          <a:ln/>
        </p:spPr>
        <p:txBody>
          <a:bodyPr wrap="square" lIns="0" tIns="0" rIns="0" bIns="0" rtlCol="0" anchor="ctr"/>
          <a:lstStyle/>
          <a:p>
            <a:pPr marL="0" indent="0">
              <a:buNone/>
            </a:pPr>
            <a:r>
              <a:rPr lang="en-US" sz="2200" b="1" dirty="0">
                <a:solidFill>
                  <a:srgbClr val="0A1628"/>
                </a:solidFill>
                <a:latin typeface="Calibri" pitchFamily="34" charset="0"/>
                <a:ea typeface="Calibri" pitchFamily="34" charset="-122"/>
                <a:cs typeface="Calibri" pitchFamily="34" charset="-120"/>
              </a:rPr>
              <a:t>SEMS — System Architecture &amp; Hardware</a:t>
            </a:r>
            <a:endParaRPr lang="en-US" sz="2200" dirty="0"/>
          </a:p>
        </p:txBody>
      </p:sp>
      <p:sp>
        <p:nvSpPr>
          <p:cNvPr id="15" name="Text 13"/>
          <p:cNvSpPr/>
          <p:nvPr/>
        </p:nvSpPr>
        <p:spPr>
          <a:xfrm>
            <a:off x="640080" y="1783080"/>
            <a:ext cx="10972800" cy="274320"/>
          </a:xfrm>
          <a:prstGeom prst="rect">
            <a:avLst/>
          </a:prstGeom>
          <a:noFill/>
          <a:ln/>
        </p:spPr>
        <p:txBody>
          <a:bodyPr wrap="square" lIns="0" tIns="0" rIns="0" bIns="0" rtlCol="0" anchor="ctr"/>
          <a:lstStyle/>
          <a:p>
            <a:pPr marL="0" indent="0">
              <a:buNone/>
            </a:pPr>
            <a:r>
              <a:rPr lang="en-US" sz="1100" i="1" dirty="0">
                <a:solidFill>
                  <a:srgbClr val="5A5A5A"/>
                </a:solidFill>
                <a:latin typeface="Calibri" pitchFamily="34" charset="0"/>
                <a:ea typeface="Calibri" pitchFamily="34" charset="-122"/>
                <a:cs typeface="Calibri" pitchFamily="34" charset="-120"/>
              </a:rPr>
              <a:t>A complete IoT pipeline: from physical sensors and microcontroller to cloud database, ML inference, and AI-powered dashboard.</a:t>
            </a:r>
            <a:endParaRPr lang="en-US" sz="1100" dirty="0"/>
          </a:p>
        </p:txBody>
      </p:sp>
      <p:sp>
        <p:nvSpPr>
          <p:cNvPr id="16" name="Shape 14"/>
          <p:cNvSpPr/>
          <p:nvPr/>
        </p:nvSpPr>
        <p:spPr>
          <a:xfrm>
            <a:off x="640080" y="2194560"/>
            <a:ext cx="5394960" cy="21031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17" name="Shape 15"/>
          <p:cNvSpPr/>
          <p:nvPr/>
        </p:nvSpPr>
        <p:spPr>
          <a:xfrm>
            <a:off x="640080" y="2194560"/>
            <a:ext cx="54864" cy="2103120"/>
          </a:xfrm>
          <a:prstGeom prst="rect">
            <a:avLst/>
          </a:prstGeom>
          <a:solidFill>
            <a:srgbClr val="C9A961"/>
          </a:solidFill>
          <a:ln w="12700">
            <a:solidFill>
              <a:srgbClr val="C9A961"/>
            </a:solidFill>
            <a:prstDash val="solid"/>
          </a:ln>
        </p:spPr>
      </p:sp>
      <p:pic>
        <p:nvPicPr>
          <p:cNvPr id="18" name="Image 0" descr="/home/claude/project_imgs/sems_blockdiagram.png"/>
          <p:cNvPicPr>
            <a:picLocks noChangeAspect="1"/>
          </p:cNvPicPr>
          <p:nvPr/>
        </p:nvPicPr>
        <p:blipFill>
          <a:blip r:embed="rId3"/>
          <a:srcRect/>
          <a:stretch/>
        </p:blipFill>
        <p:spPr>
          <a:xfrm>
            <a:off x="777240" y="2331720"/>
            <a:ext cx="5120640" cy="1554480"/>
          </a:xfrm>
          <a:prstGeom prst="rect">
            <a:avLst/>
          </a:prstGeom>
        </p:spPr>
      </p:pic>
      <p:sp>
        <p:nvSpPr>
          <p:cNvPr id="19" name="Text 16"/>
          <p:cNvSpPr/>
          <p:nvPr/>
        </p:nvSpPr>
        <p:spPr>
          <a:xfrm>
            <a:off x="777240" y="3886200"/>
            <a:ext cx="5120640" cy="320040"/>
          </a:xfrm>
          <a:prstGeom prst="rect">
            <a:avLst/>
          </a:prstGeom>
          <a:noFill/>
          <a:ln/>
        </p:spPr>
        <p:txBody>
          <a:bodyPr wrap="square" lIns="0" tIns="0" rIns="0" bIns="0" rtlCol="0" anchor="ctr"/>
          <a:lstStyle/>
          <a:p>
            <a:pPr marL="0" indent="0" algn="ctr">
              <a:buNone/>
            </a:pPr>
            <a:r>
              <a:rPr lang="en-US" sz="1000" i="1" dirty="0">
                <a:solidFill>
                  <a:srgbClr val="5A5A5A"/>
                </a:solidFill>
                <a:latin typeface="Calibri" pitchFamily="34" charset="0"/>
                <a:ea typeface="Calibri" pitchFamily="34" charset="-122"/>
                <a:cs typeface="Calibri" pitchFamily="34" charset="-120"/>
              </a:rPr>
              <a:t>System architecture: Input → Processing → Output Layer</a:t>
            </a:r>
            <a:endParaRPr lang="en-US" sz="1000" dirty="0"/>
          </a:p>
        </p:txBody>
      </p:sp>
      <p:sp>
        <p:nvSpPr>
          <p:cNvPr id="20" name="Shape 17"/>
          <p:cNvSpPr/>
          <p:nvPr/>
        </p:nvSpPr>
        <p:spPr>
          <a:xfrm>
            <a:off x="6126480" y="2194560"/>
            <a:ext cx="5394960" cy="21031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21" name="Shape 18"/>
          <p:cNvSpPr/>
          <p:nvPr/>
        </p:nvSpPr>
        <p:spPr>
          <a:xfrm>
            <a:off x="6126480" y="2194560"/>
            <a:ext cx="54864" cy="2103120"/>
          </a:xfrm>
          <a:prstGeom prst="rect">
            <a:avLst/>
          </a:prstGeom>
          <a:solidFill>
            <a:srgbClr val="C9A961"/>
          </a:solidFill>
          <a:ln w="12700">
            <a:solidFill>
              <a:srgbClr val="C9A961"/>
            </a:solidFill>
            <a:prstDash val="solid"/>
          </a:ln>
        </p:spPr>
      </p:sp>
      <p:pic>
        <p:nvPicPr>
          <p:cNvPr id="22" name="Image 1" descr="/home/claude/project_imgs/sems_circuit.png"/>
          <p:cNvPicPr>
            <a:picLocks noChangeAspect="1"/>
          </p:cNvPicPr>
          <p:nvPr/>
        </p:nvPicPr>
        <p:blipFill>
          <a:blip r:embed="rId4"/>
          <a:srcRect/>
          <a:stretch/>
        </p:blipFill>
        <p:spPr>
          <a:xfrm>
            <a:off x="6263640" y="2331720"/>
            <a:ext cx="5120640" cy="1554480"/>
          </a:xfrm>
          <a:prstGeom prst="rect">
            <a:avLst/>
          </a:prstGeom>
        </p:spPr>
      </p:pic>
      <p:sp>
        <p:nvSpPr>
          <p:cNvPr id="23" name="Text 19"/>
          <p:cNvSpPr/>
          <p:nvPr/>
        </p:nvSpPr>
        <p:spPr>
          <a:xfrm>
            <a:off x="6263640" y="3886200"/>
            <a:ext cx="5120640" cy="320040"/>
          </a:xfrm>
          <a:prstGeom prst="rect">
            <a:avLst/>
          </a:prstGeom>
          <a:noFill/>
          <a:ln/>
        </p:spPr>
        <p:txBody>
          <a:bodyPr wrap="square" lIns="0" tIns="0" rIns="0" bIns="0" rtlCol="0" anchor="ctr"/>
          <a:lstStyle/>
          <a:p>
            <a:pPr marL="0" indent="0" algn="ctr">
              <a:buNone/>
            </a:pPr>
            <a:r>
              <a:rPr lang="en-US" sz="1000" i="1" dirty="0">
                <a:solidFill>
                  <a:srgbClr val="5A5A5A"/>
                </a:solidFill>
                <a:latin typeface="Calibri" pitchFamily="34" charset="0"/>
                <a:ea typeface="Calibri" pitchFamily="34" charset="-122"/>
                <a:cs typeface="Calibri" pitchFamily="34" charset="-120"/>
              </a:rPr>
              <a:t>Hardware schematic — ESP32, PZEM-004T, MCB, relay, LCD</a:t>
            </a:r>
            <a:endParaRPr lang="en-US" sz="1000" dirty="0"/>
          </a:p>
        </p:txBody>
      </p:sp>
      <p:sp>
        <p:nvSpPr>
          <p:cNvPr id="24" name="Shape 20"/>
          <p:cNvSpPr/>
          <p:nvPr/>
        </p:nvSpPr>
        <p:spPr>
          <a:xfrm>
            <a:off x="640080" y="4434840"/>
            <a:ext cx="5394960" cy="21031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25" name="Shape 21"/>
          <p:cNvSpPr/>
          <p:nvPr/>
        </p:nvSpPr>
        <p:spPr>
          <a:xfrm>
            <a:off x="640080" y="4434840"/>
            <a:ext cx="54864" cy="2103120"/>
          </a:xfrm>
          <a:prstGeom prst="rect">
            <a:avLst/>
          </a:prstGeom>
          <a:solidFill>
            <a:srgbClr val="C9A961"/>
          </a:solidFill>
          <a:ln w="12700">
            <a:solidFill>
              <a:srgbClr val="C9A961"/>
            </a:solidFill>
            <a:prstDash val="solid"/>
          </a:ln>
        </p:spPr>
      </p:sp>
      <p:pic>
        <p:nvPicPr>
          <p:cNvPr id="26" name="Image 2" descr="/home/claude/project_imgs/sems_inside.jpg"/>
          <p:cNvPicPr>
            <a:picLocks noChangeAspect="1"/>
          </p:cNvPicPr>
          <p:nvPr/>
        </p:nvPicPr>
        <p:blipFill>
          <a:blip r:embed="rId5"/>
          <a:srcRect/>
          <a:stretch/>
        </p:blipFill>
        <p:spPr>
          <a:xfrm>
            <a:off x="777240" y="4572000"/>
            <a:ext cx="5120640" cy="1554480"/>
          </a:xfrm>
          <a:prstGeom prst="rect">
            <a:avLst/>
          </a:prstGeom>
        </p:spPr>
      </p:pic>
      <p:sp>
        <p:nvSpPr>
          <p:cNvPr id="27" name="Text 22"/>
          <p:cNvSpPr/>
          <p:nvPr/>
        </p:nvSpPr>
        <p:spPr>
          <a:xfrm>
            <a:off x="777240" y="6126480"/>
            <a:ext cx="5120640" cy="320040"/>
          </a:xfrm>
          <a:prstGeom prst="rect">
            <a:avLst/>
          </a:prstGeom>
          <a:noFill/>
          <a:ln/>
        </p:spPr>
        <p:txBody>
          <a:bodyPr wrap="square" lIns="0" tIns="0" rIns="0" bIns="0" rtlCol="0" anchor="ctr"/>
          <a:lstStyle/>
          <a:p>
            <a:pPr marL="0" indent="0" algn="ctr">
              <a:buNone/>
            </a:pPr>
            <a:r>
              <a:rPr lang="en-US" sz="1000" i="1" dirty="0">
                <a:solidFill>
                  <a:srgbClr val="5A5A5A"/>
                </a:solidFill>
                <a:latin typeface="Calibri" pitchFamily="34" charset="0"/>
                <a:ea typeface="Calibri" pitchFamily="34" charset="-122"/>
                <a:cs typeface="Calibri" pitchFamily="34" charset="-120"/>
              </a:rPr>
              <a:t>Internal wiring of the SEMS prototype enclosure</a:t>
            </a:r>
            <a:endParaRPr lang="en-US" sz="1000" dirty="0"/>
          </a:p>
        </p:txBody>
      </p:sp>
      <p:sp>
        <p:nvSpPr>
          <p:cNvPr id="28" name="Shape 23"/>
          <p:cNvSpPr/>
          <p:nvPr/>
        </p:nvSpPr>
        <p:spPr>
          <a:xfrm>
            <a:off x="6126480" y="4434840"/>
            <a:ext cx="5394960" cy="21031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29" name="Shape 24"/>
          <p:cNvSpPr/>
          <p:nvPr/>
        </p:nvSpPr>
        <p:spPr>
          <a:xfrm>
            <a:off x="6126480" y="4434840"/>
            <a:ext cx="54864" cy="2103120"/>
          </a:xfrm>
          <a:prstGeom prst="rect">
            <a:avLst/>
          </a:prstGeom>
          <a:solidFill>
            <a:srgbClr val="C9A961"/>
          </a:solidFill>
          <a:ln w="12700">
            <a:solidFill>
              <a:srgbClr val="C9A961"/>
            </a:solidFill>
            <a:prstDash val="solid"/>
          </a:ln>
        </p:spPr>
      </p:sp>
      <p:pic>
        <p:nvPicPr>
          <p:cNvPr id="30" name="Image 3" descr="/home/claude/project_imgs/sems_dashboard.png"/>
          <p:cNvPicPr>
            <a:picLocks noChangeAspect="1"/>
          </p:cNvPicPr>
          <p:nvPr/>
        </p:nvPicPr>
        <p:blipFill>
          <a:blip r:embed="rId6"/>
          <a:srcRect/>
          <a:stretch/>
        </p:blipFill>
        <p:spPr>
          <a:xfrm>
            <a:off x="6263640" y="4572000"/>
            <a:ext cx="5120640" cy="1554480"/>
          </a:xfrm>
          <a:prstGeom prst="rect">
            <a:avLst/>
          </a:prstGeom>
        </p:spPr>
      </p:pic>
      <p:sp>
        <p:nvSpPr>
          <p:cNvPr id="31" name="Text 25"/>
          <p:cNvSpPr/>
          <p:nvPr/>
        </p:nvSpPr>
        <p:spPr>
          <a:xfrm>
            <a:off x="6263640" y="6126480"/>
            <a:ext cx="5120640" cy="320040"/>
          </a:xfrm>
          <a:prstGeom prst="rect">
            <a:avLst/>
          </a:prstGeom>
          <a:noFill/>
          <a:ln/>
        </p:spPr>
        <p:txBody>
          <a:bodyPr wrap="square" lIns="0" tIns="0" rIns="0" bIns="0" rtlCol="0" anchor="ctr"/>
          <a:lstStyle/>
          <a:p>
            <a:pPr marL="0" indent="0" algn="ctr">
              <a:buNone/>
            </a:pPr>
            <a:r>
              <a:rPr lang="en-US" sz="1000" i="1" dirty="0">
                <a:solidFill>
                  <a:srgbClr val="5A5A5A"/>
                </a:solidFill>
                <a:latin typeface="Calibri" pitchFamily="34" charset="0"/>
                <a:ea typeface="Calibri" pitchFamily="34" charset="-122"/>
                <a:cs typeface="Calibri" pitchFamily="34" charset="-120"/>
              </a:rPr>
              <a:t>Real-time dashboard with SEMS AI Assistant (Gemini)</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5D9BFF0F-79B7-2678-D184-54AF15205967}"/>
              </a:ext>
            </a:extLst>
          </p:cNvPr>
          <p:cNvSpPr/>
          <p:nvPr/>
        </p:nvSpPr>
        <p:spPr>
          <a:xfrm>
            <a:off x="0" y="0"/>
            <a:ext cx="12161520" cy="457200"/>
          </a:xfrm>
          <a:prstGeom prst="rect">
            <a:avLst/>
          </a:prstGeom>
          <a:solidFill>
            <a:srgbClr val="0A1628"/>
          </a:solidFill>
          <a:ln w="12700">
            <a:solidFill>
              <a:srgbClr val="0A1628"/>
            </a:solidFill>
            <a:prstDash val="solid"/>
          </a:ln>
        </p:spPr>
      </p:sp>
      <p:sp>
        <p:nvSpPr>
          <p:cNvPr id="5" name="Shape 1">
            <a:extLst>
              <a:ext uri="{FF2B5EF4-FFF2-40B4-BE49-F238E27FC236}">
                <a16:creationId xmlns:a16="http://schemas.microsoft.com/office/drawing/2014/main" id="{A1041F28-EB8E-6829-0987-B5ECDE4D76F2}"/>
              </a:ext>
            </a:extLst>
          </p:cNvPr>
          <p:cNvSpPr/>
          <p:nvPr/>
        </p:nvSpPr>
        <p:spPr>
          <a:xfrm>
            <a:off x="0" y="457200"/>
            <a:ext cx="12161520" cy="36576"/>
          </a:xfrm>
          <a:prstGeom prst="rect">
            <a:avLst/>
          </a:prstGeom>
          <a:solidFill>
            <a:srgbClr val="C9A961"/>
          </a:solidFill>
          <a:ln w="12700">
            <a:solidFill>
              <a:srgbClr val="C9A961"/>
            </a:solidFill>
            <a:prstDash val="solid"/>
          </a:ln>
        </p:spPr>
      </p:sp>
      <p:sp>
        <p:nvSpPr>
          <p:cNvPr id="7" name="Text 2">
            <a:extLst>
              <a:ext uri="{FF2B5EF4-FFF2-40B4-BE49-F238E27FC236}">
                <a16:creationId xmlns:a16="http://schemas.microsoft.com/office/drawing/2014/main" id="{5B33E8EC-4869-C33B-06C0-2F0B151C49BD}"/>
              </a:ext>
            </a:extLst>
          </p:cNvPr>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9" name="Text 3">
            <a:extLst>
              <a:ext uri="{FF2B5EF4-FFF2-40B4-BE49-F238E27FC236}">
                <a16:creationId xmlns:a16="http://schemas.microsoft.com/office/drawing/2014/main" id="{C7240CD2-83E1-0637-C1CB-4DCBDFD5B176}"/>
              </a:ext>
            </a:extLst>
          </p:cNvPr>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11" name="Text 4">
            <a:extLst>
              <a:ext uri="{FF2B5EF4-FFF2-40B4-BE49-F238E27FC236}">
                <a16:creationId xmlns:a16="http://schemas.microsoft.com/office/drawing/2014/main" id="{2061F42C-6A05-92E0-2EF4-97C4A2D9DF02}"/>
              </a:ext>
            </a:extLst>
          </p:cNvPr>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18 / 20</a:t>
            </a:r>
            <a:endParaRPr lang="en-US" sz="900" dirty="0"/>
          </a:p>
        </p:txBody>
      </p:sp>
      <p:sp>
        <p:nvSpPr>
          <p:cNvPr id="13" name="Shape 5">
            <a:extLst>
              <a:ext uri="{FF2B5EF4-FFF2-40B4-BE49-F238E27FC236}">
                <a16:creationId xmlns:a16="http://schemas.microsoft.com/office/drawing/2014/main" id="{12C9C273-C3FB-A636-2ED1-555C17289F77}"/>
              </a:ext>
            </a:extLst>
          </p:cNvPr>
          <p:cNvSpPr/>
          <p:nvPr/>
        </p:nvSpPr>
        <p:spPr>
          <a:xfrm>
            <a:off x="0" y="6565392"/>
            <a:ext cx="12161520" cy="292608"/>
          </a:xfrm>
          <a:prstGeom prst="rect">
            <a:avLst/>
          </a:prstGeom>
          <a:solidFill>
            <a:srgbClr val="1B2D4A"/>
          </a:solidFill>
          <a:ln w="12700">
            <a:solidFill>
              <a:srgbClr val="1B2D4A"/>
            </a:solidFill>
            <a:prstDash val="solid"/>
          </a:ln>
        </p:spPr>
      </p:sp>
      <p:sp>
        <p:nvSpPr>
          <p:cNvPr id="15" name="Shape 6">
            <a:extLst>
              <a:ext uri="{FF2B5EF4-FFF2-40B4-BE49-F238E27FC236}">
                <a16:creationId xmlns:a16="http://schemas.microsoft.com/office/drawing/2014/main" id="{118E6E13-AB90-3993-2CB4-DF0935F27237}"/>
              </a:ext>
            </a:extLst>
          </p:cNvPr>
          <p:cNvSpPr/>
          <p:nvPr/>
        </p:nvSpPr>
        <p:spPr>
          <a:xfrm>
            <a:off x="0" y="6547104"/>
            <a:ext cx="12161520" cy="18288"/>
          </a:xfrm>
          <a:prstGeom prst="rect">
            <a:avLst/>
          </a:prstGeom>
          <a:solidFill>
            <a:srgbClr val="C9A961"/>
          </a:solidFill>
          <a:ln w="12700">
            <a:solidFill>
              <a:srgbClr val="C9A961"/>
            </a:solidFill>
            <a:prstDash val="solid"/>
          </a:ln>
        </p:spPr>
      </p:sp>
      <p:sp>
        <p:nvSpPr>
          <p:cNvPr id="17" name="Text 7">
            <a:extLst>
              <a:ext uri="{FF2B5EF4-FFF2-40B4-BE49-F238E27FC236}">
                <a16:creationId xmlns:a16="http://schemas.microsoft.com/office/drawing/2014/main" id="{11298A24-7441-040F-28C8-D04E45C64C40}"/>
              </a:ext>
            </a:extLst>
          </p:cNvPr>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9" name="Text 8">
            <a:extLst>
              <a:ext uri="{FF2B5EF4-FFF2-40B4-BE49-F238E27FC236}">
                <a16:creationId xmlns:a16="http://schemas.microsoft.com/office/drawing/2014/main" id="{15BC4D73-F12B-7268-7F0F-E981211F879A}"/>
              </a:ext>
            </a:extLst>
          </p:cNvPr>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21" name="Text 9">
            <a:extLst>
              <a:ext uri="{FF2B5EF4-FFF2-40B4-BE49-F238E27FC236}">
                <a16:creationId xmlns:a16="http://schemas.microsoft.com/office/drawing/2014/main" id="{76AEE0AB-8191-4442-9799-DB0CD89B6245}"/>
              </a:ext>
            </a:extLst>
          </p:cNvPr>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23" name="Text 10">
            <a:extLst>
              <a:ext uri="{FF2B5EF4-FFF2-40B4-BE49-F238E27FC236}">
                <a16:creationId xmlns:a16="http://schemas.microsoft.com/office/drawing/2014/main" id="{81754418-FB39-9CA3-E3BF-CCF567D9C2CF}"/>
              </a:ext>
            </a:extLst>
          </p:cNvPr>
          <p:cNvSpPr/>
          <p:nvPr/>
        </p:nvSpPr>
        <p:spPr>
          <a:xfrm>
            <a:off x="640080" y="822960"/>
            <a:ext cx="73152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04  ·  PROJECTS (CONT.)</a:t>
            </a:r>
            <a:endParaRPr lang="en-US" sz="2000" dirty="0"/>
          </a:p>
        </p:txBody>
      </p:sp>
      <p:sp>
        <p:nvSpPr>
          <p:cNvPr id="25" name="Shape 11">
            <a:extLst>
              <a:ext uri="{FF2B5EF4-FFF2-40B4-BE49-F238E27FC236}">
                <a16:creationId xmlns:a16="http://schemas.microsoft.com/office/drawing/2014/main" id="{8F45271D-F42A-6E37-261C-A9F9202C65E7}"/>
              </a:ext>
            </a:extLst>
          </p:cNvPr>
          <p:cNvSpPr/>
          <p:nvPr/>
        </p:nvSpPr>
        <p:spPr>
          <a:xfrm>
            <a:off x="640080" y="1115568"/>
            <a:ext cx="640080" cy="27432"/>
          </a:xfrm>
          <a:prstGeom prst="rect">
            <a:avLst/>
          </a:prstGeom>
          <a:solidFill>
            <a:srgbClr val="C9A961"/>
          </a:solidFill>
          <a:ln w="12700">
            <a:solidFill>
              <a:srgbClr val="C9A961"/>
            </a:solidFill>
            <a:prstDash val="solid"/>
          </a:ln>
        </p:spPr>
      </p:sp>
      <p:sp>
        <p:nvSpPr>
          <p:cNvPr id="27" name="Text 12">
            <a:extLst>
              <a:ext uri="{FF2B5EF4-FFF2-40B4-BE49-F238E27FC236}">
                <a16:creationId xmlns:a16="http://schemas.microsoft.com/office/drawing/2014/main" id="{85BA5E26-0901-25F1-C401-C1BCACC7EA0E}"/>
              </a:ext>
            </a:extLst>
          </p:cNvPr>
          <p:cNvSpPr/>
          <p:nvPr/>
        </p:nvSpPr>
        <p:spPr>
          <a:xfrm>
            <a:off x="640080" y="1207008"/>
            <a:ext cx="6400800" cy="228600"/>
          </a:xfrm>
          <a:prstGeom prst="rect">
            <a:avLst/>
          </a:prstGeom>
          <a:noFill/>
          <a:ln/>
        </p:spPr>
        <p:txBody>
          <a:bodyPr wrap="square" lIns="0" tIns="0" rIns="0" bIns="0" rtlCol="0" anchor="ctr"/>
          <a:lstStyle/>
          <a:p>
            <a:pPr marL="0" indent="0">
              <a:buNone/>
            </a:pPr>
            <a:r>
              <a:rPr lang="en-US" sz="1000" b="1" dirty="0">
                <a:solidFill>
                  <a:srgbClr val="5A5A5A"/>
                </a:solidFill>
                <a:latin typeface="Calibri" pitchFamily="34" charset="0"/>
                <a:ea typeface="Calibri" pitchFamily="34" charset="-122"/>
                <a:cs typeface="Calibri" pitchFamily="34" charset="-120"/>
              </a:rPr>
              <a:t>PERSONAL PRODUCT · NOORA DEEN TECHNOLOGY · 2026</a:t>
            </a:r>
            <a:endParaRPr lang="en-US" sz="1000" dirty="0"/>
          </a:p>
        </p:txBody>
      </p:sp>
      <p:sp>
        <p:nvSpPr>
          <p:cNvPr id="29" name="Text 13">
            <a:extLst>
              <a:ext uri="{FF2B5EF4-FFF2-40B4-BE49-F238E27FC236}">
                <a16:creationId xmlns:a16="http://schemas.microsoft.com/office/drawing/2014/main" id="{6AC262C2-F5A5-FB26-FD6F-F0C3BA62D1CC}"/>
              </a:ext>
            </a:extLst>
          </p:cNvPr>
          <p:cNvSpPr/>
          <p:nvPr/>
        </p:nvSpPr>
        <p:spPr>
          <a:xfrm>
            <a:off x="640080" y="1444752"/>
            <a:ext cx="6400800" cy="612648"/>
          </a:xfrm>
          <a:prstGeom prst="rect">
            <a:avLst/>
          </a:prstGeom>
          <a:noFill/>
          <a:ln/>
        </p:spPr>
        <p:txBody>
          <a:bodyPr wrap="square" lIns="0" tIns="0" rIns="0" bIns="0" rtlCol="0" anchor="t"/>
          <a:lstStyle/>
          <a:p>
            <a:pPr marL="0" indent="0">
              <a:buNone/>
            </a:pPr>
            <a:r>
              <a:rPr lang="en-US" sz="2400" b="1" dirty="0">
                <a:solidFill>
                  <a:srgbClr val="0A1628"/>
                </a:solidFill>
                <a:latin typeface="Calibri" pitchFamily="34" charset="0"/>
                <a:ea typeface="Calibri" pitchFamily="34" charset="-122"/>
                <a:cs typeface="Calibri" pitchFamily="34" charset="-120"/>
              </a:rPr>
              <a:t>Noora: Muslim Habit-Building App</a:t>
            </a:r>
            <a:endParaRPr lang="en-US" sz="2400" dirty="0"/>
          </a:p>
        </p:txBody>
      </p:sp>
      <p:sp>
        <p:nvSpPr>
          <p:cNvPr id="31" name="Text 14">
            <a:extLst>
              <a:ext uri="{FF2B5EF4-FFF2-40B4-BE49-F238E27FC236}">
                <a16:creationId xmlns:a16="http://schemas.microsoft.com/office/drawing/2014/main" id="{E060EC75-6C84-707F-B4A5-E50F72BC0F2A}"/>
              </a:ext>
            </a:extLst>
          </p:cNvPr>
          <p:cNvSpPr/>
          <p:nvPr/>
        </p:nvSpPr>
        <p:spPr>
          <a:xfrm>
            <a:off x="640080" y="1783080"/>
            <a:ext cx="6400800" cy="274320"/>
          </a:xfrm>
          <a:prstGeom prst="rect">
            <a:avLst/>
          </a:prstGeom>
          <a:noFill/>
          <a:ln/>
        </p:spPr>
        <p:txBody>
          <a:bodyPr wrap="square" lIns="0" tIns="0" rIns="0" bIns="0"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Co-Founder &amp; Sole Engineer (Mobile, Backend, UI)</a:t>
            </a:r>
            <a:endParaRPr lang="en-US" sz="1200" dirty="0"/>
          </a:p>
        </p:txBody>
      </p:sp>
      <p:sp>
        <p:nvSpPr>
          <p:cNvPr id="33" name="Shape 15">
            <a:extLst>
              <a:ext uri="{FF2B5EF4-FFF2-40B4-BE49-F238E27FC236}">
                <a16:creationId xmlns:a16="http://schemas.microsoft.com/office/drawing/2014/main" id="{078B3341-35E8-03C2-7C7A-7CFA3DF7E3CA}"/>
              </a:ext>
            </a:extLst>
          </p:cNvPr>
          <p:cNvSpPr/>
          <p:nvPr/>
        </p:nvSpPr>
        <p:spPr>
          <a:xfrm>
            <a:off x="6903720" y="1554480"/>
            <a:ext cx="594360" cy="594360"/>
          </a:xfrm>
          <a:prstGeom prst="ellipse">
            <a:avLst/>
          </a:prstGeom>
          <a:solidFill>
            <a:srgbClr val="0A1628"/>
          </a:solidFill>
          <a:ln w="8890">
            <a:solidFill>
              <a:srgbClr val="C9A961"/>
            </a:solidFill>
            <a:prstDash val="solid"/>
          </a:ln>
        </p:spPr>
      </p:sp>
      <p:pic>
        <p:nvPicPr>
          <p:cNvPr id="35" name="Image 0" descr="/home/claude/icons/proj_sems.png">
            <a:extLst>
              <a:ext uri="{FF2B5EF4-FFF2-40B4-BE49-F238E27FC236}">
                <a16:creationId xmlns:a16="http://schemas.microsoft.com/office/drawing/2014/main" id="{0F940C21-0D26-8C54-7D31-26F0D366BCAB}"/>
              </a:ext>
            </a:extLst>
          </p:cNvPr>
          <p:cNvPicPr>
            <a:picLocks noChangeAspect="1"/>
          </p:cNvPicPr>
          <p:nvPr/>
        </p:nvPicPr>
        <p:blipFill>
          <a:blip r:embed="rId2"/>
          <a:stretch>
            <a:fillRect/>
          </a:stretch>
        </p:blipFill>
        <p:spPr>
          <a:xfrm>
            <a:off x="7040880" y="1691640"/>
            <a:ext cx="320040" cy="320040"/>
          </a:xfrm>
          <a:prstGeom prst="rect">
            <a:avLst/>
          </a:prstGeom>
        </p:spPr>
      </p:pic>
      <p:sp>
        <p:nvSpPr>
          <p:cNvPr id="37" name="Shape 16">
            <a:extLst>
              <a:ext uri="{FF2B5EF4-FFF2-40B4-BE49-F238E27FC236}">
                <a16:creationId xmlns:a16="http://schemas.microsoft.com/office/drawing/2014/main" id="{0ABBA1CF-F389-02CA-6843-D00F1ADA1966}"/>
              </a:ext>
            </a:extLst>
          </p:cNvPr>
          <p:cNvSpPr/>
          <p:nvPr/>
        </p:nvSpPr>
        <p:spPr>
          <a:xfrm>
            <a:off x="640080" y="2046202"/>
            <a:ext cx="937259" cy="292608"/>
          </a:xfrm>
          <a:prstGeom prst="rect">
            <a:avLst/>
          </a:prstGeom>
          <a:solidFill>
            <a:srgbClr val="0A1628"/>
          </a:solidFill>
          <a:ln w="12700">
            <a:solidFill>
              <a:srgbClr val="0A1628"/>
            </a:solidFill>
            <a:prstDash val="solid"/>
          </a:ln>
        </p:spPr>
      </p:sp>
      <p:sp>
        <p:nvSpPr>
          <p:cNvPr id="39" name="Text 17">
            <a:extLst>
              <a:ext uri="{FF2B5EF4-FFF2-40B4-BE49-F238E27FC236}">
                <a16:creationId xmlns:a16="http://schemas.microsoft.com/office/drawing/2014/main" id="{F36C41DB-EE29-5C10-ED6F-2F94ED317A46}"/>
              </a:ext>
            </a:extLst>
          </p:cNvPr>
          <p:cNvSpPr/>
          <p:nvPr/>
        </p:nvSpPr>
        <p:spPr>
          <a:xfrm>
            <a:off x="640080" y="2046202"/>
            <a:ext cx="937259"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Capacitor 8</a:t>
            </a:r>
            <a:endParaRPr lang="en-US" sz="1000" dirty="0"/>
          </a:p>
        </p:txBody>
      </p:sp>
      <p:sp>
        <p:nvSpPr>
          <p:cNvPr id="41" name="Shape 18">
            <a:extLst>
              <a:ext uri="{FF2B5EF4-FFF2-40B4-BE49-F238E27FC236}">
                <a16:creationId xmlns:a16="http://schemas.microsoft.com/office/drawing/2014/main" id="{5705EBAB-B57E-3D57-5298-631664171593}"/>
              </a:ext>
            </a:extLst>
          </p:cNvPr>
          <p:cNvSpPr/>
          <p:nvPr/>
        </p:nvSpPr>
        <p:spPr>
          <a:xfrm>
            <a:off x="1659636" y="2046202"/>
            <a:ext cx="868680" cy="292608"/>
          </a:xfrm>
          <a:prstGeom prst="rect">
            <a:avLst/>
          </a:prstGeom>
          <a:solidFill>
            <a:srgbClr val="0A1628"/>
          </a:solidFill>
          <a:ln w="12700">
            <a:solidFill>
              <a:srgbClr val="0A1628"/>
            </a:solidFill>
            <a:prstDash val="solid"/>
          </a:ln>
        </p:spPr>
      </p:sp>
      <p:sp>
        <p:nvSpPr>
          <p:cNvPr id="43" name="Text 19">
            <a:extLst>
              <a:ext uri="{FF2B5EF4-FFF2-40B4-BE49-F238E27FC236}">
                <a16:creationId xmlns:a16="http://schemas.microsoft.com/office/drawing/2014/main" id="{FFF81921-C602-0BC0-0B89-4CB204DD919C}"/>
              </a:ext>
            </a:extLst>
          </p:cNvPr>
          <p:cNvSpPr/>
          <p:nvPr/>
        </p:nvSpPr>
        <p:spPr>
          <a:xfrm>
            <a:off x="1659636" y="2046202"/>
            <a:ext cx="86868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JavaScript</a:t>
            </a:r>
            <a:endParaRPr lang="en-US" sz="1000" dirty="0"/>
          </a:p>
        </p:txBody>
      </p:sp>
      <p:sp>
        <p:nvSpPr>
          <p:cNvPr id="45" name="Shape 20">
            <a:extLst>
              <a:ext uri="{FF2B5EF4-FFF2-40B4-BE49-F238E27FC236}">
                <a16:creationId xmlns:a16="http://schemas.microsoft.com/office/drawing/2014/main" id="{A575D832-E002-D8AE-7B09-854E4E47CA44}"/>
              </a:ext>
            </a:extLst>
          </p:cNvPr>
          <p:cNvSpPr/>
          <p:nvPr/>
        </p:nvSpPr>
        <p:spPr>
          <a:xfrm>
            <a:off x="2610612" y="2046202"/>
            <a:ext cx="731520" cy="292608"/>
          </a:xfrm>
          <a:prstGeom prst="rect">
            <a:avLst/>
          </a:prstGeom>
          <a:solidFill>
            <a:srgbClr val="0A1628"/>
          </a:solidFill>
          <a:ln w="12700">
            <a:solidFill>
              <a:srgbClr val="0A1628"/>
            </a:solidFill>
            <a:prstDash val="solid"/>
          </a:ln>
        </p:spPr>
      </p:sp>
      <p:sp>
        <p:nvSpPr>
          <p:cNvPr id="47" name="Text 21">
            <a:extLst>
              <a:ext uri="{FF2B5EF4-FFF2-40B4-BE49-F238E27FC236}">
                <a16:creationId xmlns:a16="http://schemas.microsoft.com/office/drawing/2014/main" id="{D8058A14-BCF6-BF79-C4D8-4FDA5CAFD490}"/>
              </a:ext>
            </a:extLst>
          </p:cNvPr>
          <p:cNvSpPr/>
          <p:nvPr/>
        </p:nvSpPr>
        <p:spPr>
          <a:xfrm>
            <a:off x="2610612" y="2046202"/>
            <a:ext cx="73152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Supabase</a:t>
            </a:r>
            <a:endParaRPr lang="en-US" sz="1000" dirty="0"/>
          </a:p>
        </p:txBody>
      </p:sp>
      <p:sp>
        <p:nvSpPr>
          <p:cNvPr id="49" name="Shape 22">
            <a:extLst>
              <a:ext uri="{FF2B5EF4-FFF2-40B4-BE49-F238E27FC236}">
                <a16:creationId xmlns:a16="http://schemas.microsoft.com/office/drawing/2014/main" id="{FFAA2F89-B101-6E89-0F71-B8E5BA575A2B}"/>
              </a:ext>
            </a:extLst>
          </p:cNvPr>
          <p:cNvSpPr/>
          <p:nvPr/>
        </p:nvSpPr>
        <p:spPr>
          <a:xfrm>
            <a:off x="3424428" y="2046202"/>
            <a:ext cx="731520" cy="292608"/>
          </a:xfrm>
          <a:prstGeom prst="rect">
            <a:avLst/>
          </a:prstGeom>
          <a:solidFill>
            <a:srgbClr val="0A1628"/>
          </a:solidFill>
          <a:ln w="12700">
            <a:solidFill>
              <a:srgbClr val="0A1628"/>
            </a:solidFill>
            <a:prstDash val="solid"/>
          </a:ln>
        </p:spPr>
      </p:sp>
      <p:sp>
        <p:nvSpPr>
          <p:cNvPr id="51" name="Text 23">
            <a:extLst>
              <a:ext uri="{FF2B5EF4-FFF2-40B4-BE49-F238E27FC236}">
                <a16:creationId xmlns:a16="http://schemas.microsoft.com/office/drawing/2014/main" id="{125FA078-903F-224C-4AB3-B258A8E8BBBB}"/>
              </a:ext>
            </a:extLst>
          </p:cNvPr>
          <p:cNvSpPr/>
          <p:nvPr/>
        </p:nvSpPr>
        <p:spPr>
          <a:xfrm>
            <a:off x="3424428" y="2046202"/>
            <a:ext cx="73152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REST API</a:t>
            </a:r>
            <a:endParaRPr lang="en-US" sz="1000" dirty="0"/>
          </a:p>
        </p:txBody>
      </p:sp>
      <p:sp>
        <p:nvSpPr>
          <p:cNvPr id="53" name="Shape 24">
            <a:extLst>
              <a:ext uri="{FF2B5EF4-FFF2-40B4-BE49-F238E27FC236}">
                <a16:creationId xmlns:a16="http://schemas.microsoft.com/office/drawing/2014/main" id="{265A866B-0E5A-D55B-7046-90BB5364FCC0}"/>
              </a:ext>
            </a:extLst>
          </p:cNvPr>
          <p:cNvSpPr/>
          <p:nvPr/>
        </p:nvSpPr>
        <p:spPr>
          <a:xfrm>
            <a:off x="4238244" y="2046202"/>
            <a:ext cx="662940" cy="292608"/>
          </a:xfrm>
          <a:prstGeom prst="rect">
            <a:avLst/>
          </a:prstGeom>
          <a:solidFill>
            <a:srgbClr val="0A1628"/>
          </a:solidFill>
          <a:ln w="12700">
            <a:solidFill>
              <a:srgbClr val="0A1628"/>
            </a:solidFill>
            <a:prstDash val="solid"/>
          </a:ln>
        </p:spPr>
      </p:sp>
      <p:sp>
        <p:nvSpPr>
          <p:cNvPr id="55" name="Text 25">
            <a:extLst>
              <a:ext uri="{FF2B5EF4-FFF2-40B4-BE49-F238E27FC236}">
                <a16:creationId xmlns:a16="http://schemas.microsoft.com/office/drawing/2014/main" id="{CE8313F6-4FD8-4A98-AD39-CD5C095AE299}"/>
              </a:ext>
            </a:extLst>
          </p:cNvPr>
          <p:cNvSpPr/>
          <p:nvPr/>
        </p:nvSpPr>
        <p:spPr>
          <a:xfrm>
            <a:off x="4238244" y="2046202"/>
            <a:ext cx="66294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Android</a:t>
            </a:r>
            <a:endParaRPr lang="en-US" sz="1000" dirty="0"/>
          </a:p>
        </p:txBody>
      </p:sp>
      <p:sp>
        <p:nvSpPr>
          <p:cNvPr id="57" name="Text 26">
            <a:extLst>
              <a:ext uri="{FF2B5EF4-FFF2-40B4-BE49-F238E27FC236}">
                <a16:creationId xmlns:a16="http://schemas.microsoft.com/office/drawing/2014/main" id="{EC6F590A-2DB9-7796-6D77-895FA2DEE5A0}"/>
              </a:ext>
            </a:extLst>
          </p:cNvPr>
          <p:cNvSpPr/>
          <p:nvPr/>
        </p:nvSpPr>
        <p:spPr>
          <a:xfrm>
            <a:off x="640080" y="2427819"/>
            <a:ext cx="6400800" cy="1371600"/>
          </a:xfrm>
          <a:prstGeom prst="rect">
            <a:avLst/>
          </a:prstGeom>
          <a:noFill/>
          <a:ln/>
        </p:spPr>
        <p:txBody>
          <a:bodyPr wrap="square" lIns="0" tIns="0" rIns="0" bIns="0" rtlCol="0" anchor="t"/>
          <a:lstStyle/>
          <a:p>
            <a:pPr marL="0" indent="0" algn="just">
              <a:buNone/>
            </a:pPr>
            <a:r>
              <a:rPr lang="en-US" sz="1400" dirty="0">
                <a:solidFill>
                  <a:srgbClr val="1A1A1A"/>
                </a:solidFill>
                <a:latin typeface="Calibri" pitchFamily="34" charset="0"/>
                <a:ea typeface="Calibri" pitchFamily="34" charset="-122"/>
                <a:cs typeface="Calibri" pitchFamily="34" charset="-120"/>
              </a:rPr>
              <a:t>A mobile application that helps Muslims build consistent daily worship habits in a positive, engaging way. Noora combines an international prayer-time engine, a complete digital Qur'an with an authentic 604-page Madinah mushaf mode, and a gamified “Garden” that grows with the user's consistency. Built as the flagship product of Noora Deen Technology, it runs fully online and offline, and is currently in closed testing on the Google Play Store.</a:t>
            </a:r>
            <a:endParaRPr lang="en-US" sz="1400" dirty="0"/>
          </a:p>
        </p:txBody>
      </p:sp>
      <p:sp>
        <p:nvSpPr>
          <p:cNvPr id="59" name="Text 27">
            <a:extLst>
              <a:ext uri="{FF2B5EF4-FFF2-40B4-BE49-F238E27FC236}">
                <a16:creationId xmlns:a16="http://schemas.microsoft.com/office/drawing/2014/main" id="{550F044A-7FCF-B7EB-76B5-2481C7F3350D}"/>
              </a:ext>
            </a:extLst>
          </p:cNvPr>
          <p:cNvSpPr/>
          <p:nvPr/>
        </p:nvSpPr>
        <p:spPr>
          <a:xfrm>
            <a:off x="640080" y="3713584"/>
            <a:ext cx="2743200" cy="274320"/>
          </a:xfrm>
          <a:prstGeom prst="rect">
            <a:avLst/>
          </a:prstGeom>
          <a:noFill/>
          <a:ln/>
        </p:spPr>
        <p:txBody>
          <a:bodyPr wrap="square" lIns="0" tIns="0" rIns="0" bIns="0" rtlCol="0" anchor="ctr"/>
          <a:lstStyle/>
          <a:p>
            <a:pPr marL="0" indent="0">
              <a:buNone/>
            </a:pPr>
            <a:r>
              <a:rPr lang="en-US" sz="1100" b="1" dirty="0">
                <a:solidFill>
                  <a:srgbClr val="C9A961"/>
                </a:solidFill>
                <a:latin typeface="Calibri" pitchFamily="34" charset="0"/>
                <a:ea typeface="Calibri" pitchFamily="34" charset="-122"/>
                <a:cs typeface="Calibri" pitchFamily="34" charset="-120"/>
              </a:rPr>
              <a:t>KEY HIGHLIGHTS</a:t>
            </a:r>
            <a:endParaRPr lang="en-US" sz="1100" dirty="0"/>
          </a:p>
        </p:txBody>
      </p:sp>
      <p:sp>
        <p:nvSpPr>
          <p:cNvPr id="61" name="Shape 28">
            <a:extLst>
              <a:ext uri="{FF2B5EF4-FFF2-40B4-BE49-F238E27FC236}">
                <a16:creationId xmlns:a16="http://schemas.microsoft.com/office/drawing/2014/main" id="{8C6C1E30-504B-272A-E876-FEA834FE07EF}"/>
              </a:ext>
            </a:extLst>
          </p:cNvPr>
          <p:cNvSpPr/>
          <p:nvPr/>
        </p:nvSpPr>
        <p:spPr>
          <a:xfrm>
            <a:off x="640080" y="3959526"/>
            <a:ext cx="457200" cy="22860"/>
          </a:xfrm>
          <a:prstGeom prst="rect">
            <a:avLst/>
          </a:prstGeom>
          <a:solidFill>
            <a:srgbClr val="C9A961"/>
          </a:solidFill>
          <a:ln w="12700">
            <a:solidFill>
              <a:srgbClr val="C9A961"/>
            </a:solidFill>
            <a:prstDash val="solid"/>
          </a:ln>
        </p:spPr>
      </p:sp>
      <p:sp>
        <p:nvSpPr>
          <p:cNvPr id="63" name="Text 29">
            <a:extLst>
              <a:ext uri="{FF2B5EF4-FFF2-40B4-BE49-F238E27FC236}">
                <a16:creationId xmlns:a16="http://schemas.microsoft.com/office/drawing/2014/main" id="{601D3136-DD60-6ACB-962C-FFF9FF3650FA}"/>
              </a:ext>
            </a:extLst>
          </p:cNvPr>
          <p:cNvSpPr/>
          <p:nvPr/>
        </p:nvSpPr>
        <p:spPr>
          <a:xfrm>
            <a:off x="640080" y="4068134"/>
            <a:ext cx="6400800" cy="1371600"/>
          </a:xfrm>
          <a:prstGeom prst="rect">
            <a:avLst/>
          </a:prstGeom>
          <a:noFill/>
          <a:ln/>
        </p:spPr>
        <p:txBody>
          <a:bodyPr wrap="square" lIns="0" tIns="0" rIns="0" bIns="0" rtlCol="0" anchor="t"/>
          <a:lstStyle/>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Region-aware prayer times: Kemenag for Indonesia, auto-switching to JAKIM, MUIS, Umm al-Qura, ISNA or Diyanet abroad</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Full Qur'an with verified Saheeh International translation, tafsir, and a 604-page Madinah mushaf with page-turn animation</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Gamified habit engine: per-category and combined streaks, freeze tokens, an evolving garden and claimable achievements</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Works fully offline, or syncs progress across devices in real time via Supabase; custom real-time ID/EN i18n engine</a:t>
            </a:r>
            <a:endParaRPr lang="en-US" sz="1400" dirty="0"/>
          </a:p>
        </p:txBody>
      </p:sp>
      <p:sp>
        <p:nvSpPr>
          <p:cNvPr id="65" name="Shape 30">
            <a:extLst>
              <a:ext uri="{FF2B5EF4-FFF2-40B4-BE49-F238E27FC236}">
                <a16:creationId xmlns:a16="http://schemas.microsoft.com/office/drawing/2014/main" id="{62720EB9-EFFE-C65F-9570-A58883754AE4}"/>
              </a:ext>
            </a:extLst>
          </p:cNvPr>
          <p:cNvSpPr/>
          <p:nvPr/>
        </p:nvSpPr>
        <p:spPr>
          <a:xfrm>
            <a:off x="7589520" y="1097280"/>
            <a:ext cx="4114800" cy="53035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67" name="Shape 31">
            <a:extLst>
              <a:ext uri="{FF2B5EF4-FFF2-40B4-BE49-F238E27FC236}">
                <a16:creationId xmlns:a16="http://schemas.microsoft.com/office/drawing/2014/main" id="{562F721C-C9AD-60FD-824F-790FB98EEFFD}"/>
              </a:ext>
            </a:extLst>
          </p:cNvPr>
          <p:cNvSpPr/>
          <p:nvPr/>
        </p:nvSpPr>
        <p:spPr>
          <a:xfrm>
            <a:off x="7589520" y="1097280"/>
            <a:ext cx="73152" cy="5303520"/>
          </a:xfrm>
          <a:prstGeom prst="rect">
            <a:avLst/>
          </a:prstGeom>
          <a:solidFill>
            <a:srgbClr val="C9A961"/>
          </a:solidFill>
          <a:ln w="12700">
            <a:solidFill>
              <a:srgbClr val="C9A961"/>
            </a:solidFill>
            <a:prstDash val="solid"/>
          </a:ln>
        </p:spPr>
      </p:sp>
      <p:sp>
        <p:nvSpPr>
          <p:cNvPr id="69" name="Text 32">
            <a:extLst>
              <a:ext uri="{FF2B5EF4-FFF2-40B4-BE49-F238E27FC236}">
                <a16:creationId xmlns:a16="http://schemas.microsoft.com/office/drawing/2014/main" id="{387B738B-8CD9-ACA7-C5E0-2762D19EE71D}"/>
              </a:ext>
            </a:extLst>
          </p:cNvPr>
          <p:cNvSpPr/>
          <p:nvPr/>
        </p:nvSpPr>
        <p:spPr>
          <a:xfrm>
            <a:off x="7818120" y="5897880"/>
            <a:ext cx="3657600" cy="365760"/>
          </a:xfrm>
          <a:prstGeom prst="rect">
            <a:avLst/>
          </a:prstGeom>
          <a:noFill/>
          <a:ln/>
        </p:spPr>
        <p:txBody>
          <a:bodyPr wrap="square" lIns="0" tIns="0" rIns="0" bIns="0" rtlCol="0" anchor="ctr"/>
          <a:lstStyle/>
          <a:p>
            <a:pPr marL="0" indent="0" algn="ctr">
              <a:buNone/>
            </a:pPr>
            <a:r>
              <a:rPr lang="en-US" sz="1000" i="1" dirty="0">
                <a:solidFill>
                  <a:srgbClr val="5A5A5A"/>
                </a:solidFill>
                <a:latin typeface="Calibri" pitchFamily="34" charset="0"/>
                <a:ea typeface="Calibri" pitchFamily="34" charset="-122"/>
                <a:cs typeface="Calibri" pitchFamily="34" charset="-120"/>
              </a:rPr>
              <a:t>Noora : habit-building app (closed testing on Play Store)</a:t>
            </a:r>
            <a:endParaRPr lang="en-US" sz="1000" dirty="0"/>
          </a:p>
        </p:txBody>
      </p:sp>
      <p:pic>
        <p:nvPicPr>
          <p:cNvPr id="71" name="Picture 70">
            <a:extLst>
              <a:ext uri="{FF2B5EF4-FFF2-40B4-BE49-F238E27FC236}">
                <a16:creationId xmlns:a16="http://schemas.microsoft.com/office/drawing/2014/main" id="{03B9DBB0-74BC-F829-2BD4-F44BCF3376C3}"/>
              </a:ext>
            </a:extLst>
          </p:cNvPr>
          <p:cNvPicPr>
            <a:picLocks noChangeAspect="1"/>
          </p:cNvPicPr>
          <p:nvPr/>
        </p:nvPicPr>
        <p:blipFill>
          <a:blip r:embed="rId3"/>
          <a:stretch>
            <a:fillRect/>
          </a:stretch>
        </p:blipFill>
        <p:spPr>
          <a:xfrm>
            <a:off x="9131813" y="1162215"/>
            <a:ext cx="1099647" cy="2302745"/>
          </a:xfrm>
          <a:prstGeom prst="rect">
            <a:avLst/>
          </a:prstGeom>
        </p:spPr>
      </p:pic>
      <p:pic>
        <p:nvPicPr>
          <p:cNvPr id="73" name="Picture 72">
            <a:extLst>
              <a:ext uri="{FF2B5EF4-FFF2-40B4-BE49-F238E27FC236}">
                <a16:creationId xmlns:a16="http://schemas.microsoft.com/office/drawing/2014/main" id="{457F46CA-32B0-316E-A0FB-CFAE2A5113B2}"/>
              </a:ext>
            </a:extLst>
          </p:cNvPr>
          <p:cNvPicPr>
            <a:picLocks noChangeAspect="1"/>
          </p:cNvPicPr>
          <p:nvPr/>
        </p:nvPicPr>
        <p:blipFill>
          <a:blip r:embed="rId4"/>
          <a:stretch>
            <a:fillRect/>
          </a:stretch>
        </p:blipFill>
        <p:spPr>
          <a:xfrm>
            <a:off x="7701306" y="3548183"/>
            <a:ext cx="3972978" cy="2245737"/>
          </a:xfrm>
          <a:prstGeom prst="rect">
            <a:avLst/>
          </a:prstGeom>
        </p:spPr>
      </p:pic>
    </p:spTree>
    <p:extLst>
      <p:ext uri="{BB962C8B-B14F-4D97-AF65-F5344CB8AC3E}">
        <p14:creationId xmlns:p14="http://schemas.microsoft.com/office/powerpoint/2010/main" val="3129154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5CA5C22-A1A0-D35E-C1FD-B16C5017A8D3}"/>
              </a:ext>
            </a:extLst>
          </p:cNvPr>
          <p:cNvSpPr/>
          <p:nvPr/>
        </p:nvSpPr>
        <p:spPr>
          <a:xfrm>
            <a:off x="0" y="0"/>
            <a:ext cx="12161520" cy="457200"/>
          </a:xfrm>
          <a:prstGeom prst="rect">
            <a:avLst/>
          </a:prstGeom>
          <a:solidFill>
            <a:srgbClr val="0A1628"/>
          </a:solidFill>
          <a:ln w="12700">
            <a:solidFill>
              <a:srgbClr val="0A1628"/>
            </a:solidFill>
            <a:prstDash val="solid"/>
          </a:ln>
        </p:spPr>
      </p:sp>
      <p:sp>
        <p:nvSpPr>
          <p:cNvPr id="5" name="Shape 1">
            <a:extLst>
              <a:ext uri="{FF2B5EF4-FFF2-40B4-BE49-F238E27FC236}">
                <a16:creationId xmlns:a16="http://schemas.microsoft.com/office/drawing/2014/main" id="{A51ECEE3-3D23-D1EC-D36A-375141E5B5E2}"/>
              </a:ext>
            </a:extLst>
          </p:cNvPr>
          <p:cNvSpPr/>
          <p:nvPr/>
        </p:nvSpPr>
        <p:spPr>
          <a:xfrm>
            <a:off x="0" y="457200"/>
            <a:ext cx="12161520" cy="36576"/>
          </a:xfrm>
          <a:prstGeom prst="rect">
            <a:avLst/>
          </a:prstGeom>
          <a:solidFill>
            <a:srgbClr val="C9A961"/>
          </a:solidFill>
          <a:ln w="12700">
            <a:solidFill>
              <a:srgbClr val="C9A961"/>
            </a:solidFill>
            <a:prstDash val="solid"/>
          </a:ln>
        </p:spPr>
      </p:sp>
      <p:sp>
        <p:nvSpPr>
          <p:cNvPr id="7" name="Text 2">
            <a:extLst>
              <a:ext uri="{FF2B5EF4-FFF2-40B4-BE49-F238E27FC236}">
                <a16:creationId xmlns:a16="http://schemas.microsoft.com/office/drawing/2014/main" id="{904ECF52-DBB3-71F8-E5D4-4F0DCCC6D6D0}"/>
              </a:ext>
            </a:extLst>
          </p:cNvPr>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9" name="Text 3">
            <a:extLst>
              <a:ext uri="{FF2B5EF4-FFF2-40B4-BE49-F238E27FC236}">
                <a16:creationId xmlns:a16="http://schemas.microsoft.com/office/drawing/2014/main" id="{8AE83083-28BB-91FE-DA86-F4ACFD7F3293}"/>
              </a:ext>
            </a:extLst>
          </p:cNvPr>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11" name="Text 4">
            <a:extLst>
              <a:ext uri="{FF2B5EF4-FFF2-40B4-BE49-F238E27FC236}">
                <a16:creationId xmlns:a16="http://schemas.microsoft.com/office/drawing/2014/main" id="{B6A4D308-D44F-4CE0-BD31-A16317CB4644}"/>
              </a:ext>
            </a:extLst>
          </p:cNvPr>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19 / 20</a:t>
            </a:r>
            <a:endParaRPr lang="en-US" sz="900" dirty="0"/>
          </a:p>
        </p:txBody>
      </p:sp>
      <p:sp>
        <p:nvSpPr>
          <p:cNvPr id="13" name="Shape 5">
            <a:extLst>
              <a:ext uri="{FF2B5EF4-FFF2-40B4-BE49-F238E27FC236}">
                <a16:creationId xmlns:a16="http://schemas.microsoft.com/office/drawing/2014/main" id="{4A7E33E0-A65C-48A4-BF41-C5A32CF8E035}"/>
              </a:ext>
            </a:extLst>
          </p:cNvPr>
          <p:cNvSpPr/>
          <p:nvPr/>
        </p:nvSpPr>
        <p:spPr>
          <a:xfrm>
            <a:off x="0" y="6565392"/>
            <a:ext cx="12161520" cy="292608"/>
          </a:xfrm>
          <a:prstGeom prst="rect">
            <a:avLst/>
          </a:prstGeom>
          <a:solidFill>
            <a:srgbClr val="1B2D4A"/>
          </a:solidFill>
          <a:ln w="12700">
            <a:solidFill>
              <a:srgbClr val="1B2D4A"/>
            </a:solidFill>
            <a:prstDash val="solid"/>
          </a:ln>
        </p:spPr>
      </p:sp>
      <p:sp>
        <p:nvSpPr>
          <p:cNvPr id="15" name="Shape 6">
            <a:extLst>
              <a:ext uri="{FF2B5EF4-FFF2-40B4-BE49-F238E27FC236}">
                <a16:creationId xmlns:a16="http://schemas.microsoft.com/office/drawing/2014/main" id="{B5C53153-BB79-B9F2-58CB-74EC63176D1A}"/>
              </a:ext>
            </a:extLst>
          </p:cNvPr>
          <p:cNvSpPr/>
          <p:nvPr/>
        </p:nvSpPr>
        <p:spPr>
          <a:xfrm>
            <a:off x="0" y="6547104"/>
            <a:ext cx="12161520" cy="18288"/>
          </a:xfrm>
          <a:prstGeom prst="rect">
            <a:avLst/>
          </a:prstGeom>
          <a:solidFill>
            <a:srgbClr val="C9A961"/>
          </a:solidFill>
          <a:ln w="12700">
            <a:solidFill>
              <a:srgbClr val="C9A961"/>
            </a:solidFill>
            <a:prstDash val="solid"/>
          </a:ln>
        </p:spPr>
      </p:sp>
      <p:sp>
        <p:nvSpPr>
          <p:cNvPr id="17" name="Text 7">
            <a:extLst>
              <a:ext uri="{FF2B5EF4-FFF2-40B4-BE49-F238E27FC236}">
                <a16:creationId xmlns:a16="http://schemas.microsoft.com/office/drawing/2014/main" id="{AFBDBE9D-8FDC-671A-4AC2-9C6ECC79F19C}"/>
              </a:ext>
            </a:extLst>
          </p:cNvPr>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9" name="Text 8">
            <a:extLst>
              <a:ext uri="{FF2B5EF4-FFF2-40B4-BE49-F238E27FC236}">
                <a16:creationId xmlns:a16="http://schemas.microsoft.com/office/drawing/2014/main" id="{E12583B8-F9FA-A020-8F62-0CB29164DDD7}"/>
              </a:ext>
            </a:extLst>
          </p:cNvPr>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21" name="Text 9">
            <a:extLst>
              <a:ext uri="{FF2B5EF4-FFF2-40B4-BE49-F238E27FC236}">
                <a16:creationId xmlns:a16="http://schemas.microsoft.com/office/drawing/2014/main" id="{E2E4297A-7A0D-B13A-5725-AAB4FA800DD7}"/>
              </a:ext>
            </a:extLst>
          </p:cNvPr>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23" name="Text 10">
            <a:extLst>
              <a:ext uri="{FF2B5EF4-FFF2-40B4-BE49-F238E27FC236}">
                <a16:creationId xmlns:a16="http://schemas.microsoft.com/office/drawing/2014/main" id="{EF2917DB-A18E-224C-419C-783169101353}"/>
              </a:ext>
            </a:extLst>
          </p:cNvPr>
          <p:cNvSpPr/>
          <p:nvPr/>
        </p:nvSpPr>
        <p:spPr>
          <a:xfrm>
            <a:off x="640080" y="822960"/>
            <a:ext cx="73152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04  ·  PROJECTS (CONT.)</a:t>
            </a:r>
            <a:endParaRPr lang="en-US" sz="2000" dirty="0"/>
          </a:p>
        </p:txBody>
      </p:sp>
      <p:sp>
        <p:nvSpPr>
          <p:cNvPr id="25" name="Shape 11">
            <a:extLst>
              <a:ext uri="{FF2B5EF4-FFF2-40B4-BE49-F238E27FC236}">
                <a16:creationId xmlns:a16="http://schemas.microsoft.com/office/drawing/2014/main" id="{22EB8981-BB73-FD99-2F94-8D21E8CF4DFA}"/>
              </a:ext>
            </a:extLst>
          </p:cNvPr>
          <p:cNvSpPr/>
          <p:nvPr/>
        </p:nvSpPr>
        <p:spPr>
          <a:xfrm>
            <a:off x="640080" y="1115568"/>
            <a:ext cx="640080" cy="27432"/>
          </a:xfrm>
          <a:prstGeom prst="rect">
            <a:avLst/>
          </a:prstGeom>
          <a:solidFill>
            <a:srgbClr val="C9A961"/>
          </a:solidFill>
          <a:ln w="12700">
            <a:solidFill>
              <a:srgbClr val="C9A961"/>
            </a:solidFill>
            <a:prstDash val="solid"/>
          </a:ln>
        </p:spPr>
      </p:sp>
      <p:sp>
        <p:nvSpPr>
          <p:cNvPr id="27" name="Text 12">
            <a:extLst>
              <a:ext uri="{FF2B5EF4-FFF2-40B4-BE49-F238E27FC236}">
                <a16:creationId xmlns:a16="http://schemas.microsoft.com/office/drawing/2014/main" id="{B899B6B8-D998-4D95-6546-C8B27F332C00}"/>
              </a:ext>
            </a:extLst>
          </p:cNvPr>
          <p:cNvSpPr/>
          <p:nvPr/>
        </p:nvSpPr>
        <p:spPr>
          <a:xfrm>
            <a:off x="640080" y="1207008"/>
            <a:ext cx="6400800" cy="228600"/>
          </a:xfrm>
          <a:prstGeom prst="rect">
            <a:avLst/>
          </a:prstGeom>
          <a:noFill/>
          <a:ln/>
        </p:spPr>
        <p:txBody>
          <a:bodyPr wrap="square" lIns="0" tIns="0" rIns="0" bIns="0" rtlCol="0" anchor="ctr"/>
          <a:lstStyle/>
          <a:p>
            <a:pPr marL="0" indent="0">
              <a:buNone/>
            </a:pPr>
            <a:r>
              <a:rPr lang="en-US" sz="1000" b="1" dirty="0">
                <a:solidFill>
                  <a:srgbClr val="5A5A5A"/>
                </a:solidFill>
                <a:latin typeface="Calibri" pitchFamily="34" charset="0"/>
                <a:ea typeface="Calibri" pitchFamily="34" charset="-122"/>
                <a:cs typeface="Calibri" pitchFamily="34" charset="-120"/>
              </a:rPr>
              <a:t>CORPORATE WEBSITE · NOORA DEEN TECHNOLOGY · 2026</a:t>
            </a:r>
            <a:endParaRPr lang="en-US" sz="1000" dirty="0"/>
          </a:p>
        </p:txBody>
      </p:sp>
      <p:sp>
        <p:nvSpPr>
          <p:cNvPr id="29" name="Text 13">
            <a:extLst>
              <a:ext uri="{FF2B5EF4-FFF2-40B4-BE49-F238E27FC236}">
                <a16:creationId xmlns:a16="http://schemas.microsoft.com/office/drawing/2014/main" id="{0CBD7B89-A472-4E2F-B39B-FE93FA2D343C}"/>
              </a:ext>
            </a:extLst>
          </p:cNvPr>
          <p:cNvSpPr/>
          <p:nvPr/>
        </p:nvSpPr>
        <p:spPr>
          <a:xfrm>
            <a:off x="640080" y="1444752"/>
            <a:ext cx="6400800" cy="612648"/>
          </a:xfrm>
          <a:prstGeom prst="rect">
            <a:avLst/>
          </a:prstGeom>
          <a:noFill/>
          <a:ln/>
        </p:spPr>
        <p:txBody>
          <a:bodyPr wrap="square" lIns="0" tIns="0" rIns="0" bIns="0" rtlCol="0" anchor="t"/>
          <a:lstStyle/>
          <a:p>
            <a:pPr marL="0" indent="0">
              <a:buNone/>
            </a:pPr>
            <a:r>
              <a:rPr lang="en-US" sz="2400" b="1" dirty="0">
                <a:solidFill>
                  <a:srgbClr val="0A1628"/>
                </a:solidFill>
                <a:latin typeface="Calibri" pitchFamily="34" charset="0"/>
                <a:ea typeface="Calibri" pitchFamily="34" charset="-122"/>
                <a:cs typeface="Calibri" pitchFamily="34" charset="-120"/>
              </a:rPr>
              <a:t>Noora Deen Technology: Company Website</a:t>
            </a:r>
            <a:endParaRPr lang="en-US" sz="2400" dirty="0"/>
          </a:p>
        </p:txBody>
      </p:sp>
      <p:sp>
        <p:nvSpPr>
          <p:cNvPr id="31" name="Text 14">
            <a:extLst>
              <a:ext uri="{FF2B5EF4-FFF2-40B4-BE49-F238E27FC236}">
                <a16:creationId xmlns:a16="http://schemas.microsoft.com/office/drawing/2014/main" id="{303C2B95-2369-3E97-059B-D8E176713273}"/>
              </a:ext>
            </a:extLst>
          </p:cNvPr>
          <p:cNvSpPr/>
          <p:nvPr/>
        </p:nvSpPr>
        <p:spPr>
          <a:xfrm>
            <a:off x="640080" y="1783080"/>
            <a:ext cx="6400800" cy="274320"/>
          </a:xfrm>
          <a:prstGeom prst="rect">
            <a:avLst/>
          </a:prstGeom>
          <a:noFill/>
          <a:ln/>
        </p:spPr>
        <p:txBody>
          <a:bodyPr wrap="square" lIns="0" tIns="0" rIns="0" bIns="0"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Designer &amp; Developer (Front-End, Branding)</a:t>
            </a:r>
            <a:endParaRPr lang="en-US" sz="1200" dirty="0"/>
          </a:p>
        </p:txBody>
      </p:sp>
      <p:sp>
        <p:nvSpPr>
          <p:cNvPr id="33" name="Shape 15">
            <a:extLst>
              <a:ext uri="{FF2B5EF4-FFF2-40B4-BE49-F238E27FC236}">
                <a16:creationId xmlns:a16="http://schemas.microsoft.com/office/drawing/2014/main" id="{526D115A-103D-A91A-212E-08B447EB95FE}"/>
              </a:ext>
            </a:extLst>
          </p:cNvPr>
          <p:cNvSpPr/>
          <p:nvPr/>
        </p:nvSpPr>
        <p:spPr>
          <a:xfrm>
            <a:off x="6903720" y="1554480"/>
            <a:ext cx="594360" cy="594360"/>
          </a:xfrm>
          <a:prstGeom prst="ellipse">
            <a:avLst/>
          </a:prstGeom>
          <a:solidFill>
            <a:srgbClr val="0A1628"/>
          </a:solidFill>
          <a:ln w="8890">
            <a:solidFill>
              <a:srgbClr val="C9A961"/>
            </a:solidFill>
            <a:prstDash val="solid"/>
          </a:ln>
        </p:spPr>
      </p:sp>
      <p:pic>
        <p:nvPicPr>
          <p:cNvPr id="35" name="Image 0" descr="/home/claude/icons/proj_sems.png">
            <a:extLst>
              <a:ext uri="{FF2B5EF4-FFF2-40B4-BE49-F238E27FC236}">
                <a16:creationId xmlns:a16="http://schemas.microsoft.com/office/drawing/2014/main" id="{A921736A-1368-5431-FCD2-E7FBE979C767}"/>
              </a:ext>
            </a:extLst>
          </p:cNvPr>
          <p:cNvPicPr>
            <a:picLocks noChangeAspect="1"/>
          </p:cNvPicPr>
          <p:nvPr/>
        </p:nvPicPr>
        <p:blipFill>
          <a:blip r:embed="rId2"/>
          <a:stretch>
            <a:fillRect/>
          </a:stretch>
        </p:blipFill>
        <p:spPr>
          <a:xfrm>
            <a:off x="7040880" y="1691640"/>
            <a:ext cx="320040" cy="320040"/>
          </a:xfrm>
          <a:prstGeom prst="rect">
            <a:avLst/>
          </a:prstGeom>
        </p:spPr>
      </p:pic>
      <p:sp>
        <p:nvSpPr>
          <p:cNvPr id="37" name="Shape 16">
            <a:extLst>
              <a:ext uri="{FF2B5EF4-FFF2-40B4-BE49-F238E27FC236}">
                <a16:creationId xmlns:a16="http://schemas.microsoft.com/office/drawing/2014/main" id="{590804E4-773B-2940-E714-21D3015E6694}"/>
              </a:ext>
            </a:extLst>
          </p:cNvPr>
          <p:cNvSpPr/>
          <p:nvPr/>
        </p:nvSpPr>
        <p:spPr>
          <a:xfrm>
            <a:off x="640080" y="2064862"/>
            <a:ext cx="457200" cy="292608"/>
          </a:xfrm>
          <a:prstGeom prst="rect">
            <a:avLst/>
          </a:prstGeom>
          <a:solidFill>
            <a:srgbClr val="0A1628"/>
          </a:solidFill>
          <a:ln w="12700">
            <a:solidFill>
              <a:srgbClr val="0A1628"/>
            </a:solidFill>
            <a:prstDash val="solid"/>
          </a:ln>
        </p:spPr>
      </p:sp>
      <p:sp>
        <p:nvSpPr>
          <p:cNvPr id="39" name="Text 17">
            <a:extLst>
              <a:ext uri="{FF2B5EF4-FFF2-40B4-BE49-F238E27FC236}">
                <a16:creationId xmlns:a16="http://schemas.microsoft.com/office/drawing/2014/main" id="{999225FE-551E-2DF4-803F-48039F12D20A}"/>
              </a:ext>
            </a:extLst>
          </p:cNvPr>
          <p:cNvSpPr/>
          <p:nvPr/>
        </p:nvSpPr>
        <p:spPr>
          <a:xfrm>
            <a:off x="640080" y="2064862"/>
            <a:ext cx="45720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HTML</a:t>
            </a:r>
            <a:endParaRPr lang="en-US" sz="1000" dirty="0"/>
          </a:p>
        </p:txBody>
      </p:sp>
      <p:sp>
        <p:nvSpPr>
          <p:cNvPr id="41" name="Shape 18">
            <a:extLst>
              <a:ext uri="{FF2B5EF4-FFF2-40B4-BE49-F238E27FC236}">
                <a16:creationId xmlns:a16="http://schemas.microsoft.com/office/drawing/2014/main" id="{BCA30FE5-C34D-AC22-9AE6-67D1D100AC1B}"/>
              </a:ext>
            </a:extLst>
          </p:cNvPr>
          <p:cNvSpPr/>
          <p:nvPr/>
        </p:nvSpPr>
        <p:spPr>
          <a:xfrm>
            <a:off x="1179576" y="2064862"/>
            <a:ext cx="411480" cy="292608"/>
          </a:xfrm>
          <a:prstGeom prst="rect">
            <a:avLst/>
          </a:prstGeom>
          <a:solidFill>
            <a:srgbClr val="0A1628"/>
          </a:solidFill>
          <a:ln w="12700">
            <a:solidFill>
              <a:srgbClr val="0A1628"/>
            </a:solidFill>
            <a:prstDash val="solid"/>
          </a:ln>
        </p:spPr>
      </p:sp>
      <p:sp>
        <p:nvSpPr>
          <p:cNvPr id="43" name="Text 19">
            <a:extLst>
              <a:ext uri="{FF2B5EF4-FFF2-40B4-BE49-F238E27FC236}">
                <a16:creationId xmlns:a16="http://schemas.microsoft.com/office/drawing/2014/main" id="{78FE1229-00A5-65BA-8A83-DD13406ED05D}"/>
              </a:ext>
            </a:extLst>
          </p:cNvPr>
          <p:cNvSpPr/>
          <p:nvPr/>
        </p:nvSpPr>
        <p:spPr>
          <a:xfrm>
            <a:off x="1179576" y="2064862"/>
            <a:ext cx="41148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CSS</a:t>
            </a:r>
            <a:endParaRPr lang="en-US" sz="1000" dirty="0"/>
          </a:p>
        </p:txBody>
      </p:sp>
      <p:sp>
        <p:nvSpPr>
          <p:cNvPr id="45" name="Shape 20">
            <a:extLst>
              <a:ext uri="{FF2B5EF4-FFF2-40B4-BE49-F238E27FC236}">
                <a16:creationId xmlns:a16="http://schemas.microsoft.com/office/drawing/2014/main" id="{2686C3B6-D239-3DFB-3A8E-F036BB51C5B0}"/>
              </a:ext>
            </a:extLst>
          </p:cNvPr>
          <p:cNvSpPr/>
          <p:nvPr/>
        </p:nvSpPr>
        <p:spPr>
          <a:xfrm>
            <a:off x="1673352" y="2064862"/>
            <a:ext cx="868680" cy="292608"/>
          </a:xfrm>
          <a:prstGeom prst="rect">
            <a:avLst/>
          </a:prstGeom>
          <a:solidFill>
            <a:srgbClr val="0A1628"/>
          </a:solidFill>
          <a:ln w="12700">
            <a:solidFill>
              <a:srgbClr val="0A1628"/>
            </a:solidFill>
            <a:prstDash val="solid"/>
          </a:ln>
        </p:spPr>
      </p:sp>
      <p:sp>
        <p:nvSpPr>
          <p:cNvPr id="47" name="Text 21">
            <a:extLst>
              <a:ext uri="{FF2B5EF4-FFF2-40B4-BE49-F238E27FC236}">
                <a16:creationId xmlns:a16="http://schemas.microsoft.com/office/drawing/2014/main" id="{6705642A-BC16-227B-073E-29C9A88FFADE}"/>
              </a:ext>
            </a:extLst>
          </p:cNvPr>
          <p:cNvSpPr/>
          <p:nvPr/>
        </p:nvSpPr>
        <p:spPr>
          <a:xfrm>
            <a:off x="1673352" y="2064862"/>
            <a:ext cx="86868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JavaScript</a:t>
            </a:r>
            <a:endParaRPr lang="en-US" sz="1000" dirty="0"/>
          </a:p>
        </p:txBody>
      </p:sp>
      <p:sp>
        <p:nvSpPr>
          <p:cNvPr id="49" name="Shape 22">
            <a:extLst>
              <a:ext uri="{FF2B5EF4-FFF2-40B4-BE49-F238E27FC236}">
                <a16:creationId xmlns:a16="http://schemas.microsoft.com/office/drawing/2014/main" id="{BD1DE26D-3E00-03DC-CE08-1E2A2B7EB5A7}"/>
              </a:ext>
            </a:extLst>
          </p:cNvPr>
          <p:cNvSpPr/>
          <p:nvPr/>
        </p:nvSpPr>
        <p:spPr>
          <a:xfrm>
            <a:off x="2624328" y="2064862"/>
            <a:ext cx="868680" cy="292608"/>
          </a:xfrm>
          <a:prstGeom prst="rect">
            <a:avLst/>
          </a:prstGeom>
          <a:solidFill>
            <a:srgbClr val="0A1628"/>
          </a:solidFill>
          <a:ln w="12700">
            <a:solidFill>
              <a:srgbClr val="0A1628"/>
            </a:solidFill>
            <a:prstDash val="solid"/>
          </a:ln>
        </p:spPr>
      </p:sp>
      <p:sp>
        <p:nvSpPr>
          <p:cNvPr id="51" name="Text 23">
            <a:extLst>
              <a:ext uri="{FF2B5EF4-FFF2-40B4-BE49-F238E27FC236}">
                <a16:creationId xmlns:a16="http://schemas.microsoft.com/office/drawing/2014/main" id="{4F50F267-37A3-0862-AED4-B354B45DDE21}"/>
              </a:ext>
            </a:extLst>
          </p:cNvPr>
          <p:cNvSpPr/>
          <p:nvPr/>
        </p:nvSpPr>
        <p:spPr>
          <a:xfrm>
            <a:off x="2624328" y="2064862"/>
            <a:ext cx="86868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Responsive</a:t>
            </a:r>
            <a:endParaRPr lang="en-US" sz="1000" dirty="0"/>
          </a:p>
        </p:txBody>
      </p:sp>
      <p:sp>
        <p:nvSpPr>
          <p:cNvPr id="53" name="Shape 24">
            <a:extLst>
              <a:ext uri="{FF2B5EF4-FFF2-40B4-BE49-F238E27FC236}">
                <a16:creationId xmlns:a16="http://schemas.microsoft.com/office/drawing/2014/main" id="{64DAD7DF-1992-2667-780B-D73606B7471A}"/>
              </a:ext>
            </a:extLst>
          </p:cNvPr>
          <p:cNvSpPr/>
          <p:nvPr/>
        </p:nvSpPr>
        <p:spPr>
          <a:xfrm>
            <a:off x="3575304" y="2064862"/>
            <a:ext cx="1074420" cy="292608"/>
          </a:xfrm>
          <a:prstGeom prst="rect">
            <a:avLst/>
          </a:prstGeom>
          <a:solidFill>
            <a:srgbClr val="0A1628"/>
          </a:solidFill>
          <a:ln w="12700">
            <a:solidFill>
              <a:srgbClr val="0A1628"/>
            </a:solidFill>
            <a:prstDash val="solid"/>
          </a:ln>
        </p:spPr>
      </p:sp>
      <p:sp>
        <p:nvSpPr>
          <p:cNvPr id="55" name="Text 25">
            <a:extLst>
              <a:ext uri="{FF2B5EF4-FFF2-40B4-BE49-F238E27FC236}">
                <a16:creationId xmlns:a16="http://schemas.microsoft.com/office/drawing/2014/main" id="{FC214D26-B568-67EE-DD95-F8D057852183}"/>
              </a:ext>
            </a:extLst>
          </p:cNvPr>
          <p:cNvSpPr/>
          <p:nvPr/>
        </p:nvSpPr>
        <p:spPr>
          <a:xfrm>
            <a:off x="3575304" y="2064862"/>
            <a:ext cx="107442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Accessibility</a:t>
            </a:r>
            <a:endParaRPr lang="en-US" sz="1000" dirty="0"/>
          </a:p>
        </p:txBody>
      </p:sp>
      <p:sp>
        <p:nvSpPr>
          <p:cNvPr id="57" name="Text 26">
            <a:extLst>
              <a:ext uri="{FF2B5EF4-FFF2-40B4-BE49-F238E27FC236}">
                <a16:creationId xmlns:a16="http://schemas.microsoft.com/office/drawing/2014/main" id="{6F6BE997-6A1A-E8F8-A8B9-1C2586140742}"/>
              </a:ext>
            </a:extLst>
          </p:cNvPr>
          <p:cNvSpPr/>
          <p:nvPr/>
        </p:nvSpPr>
        <p:spPr>
          <a:xfrm>
            <a:off x="640080" y="2418486"/>
            <a:ext cx="6400800" cy="1117250"/>
          </a:xfrm>
          <a:prstGeom prst="rect">
            <a:avLst/>
          </a:prstGeom>
          <a:noFill/>
          <a:ln/>
        </p:spPr>
        <p:txBody>
          <a:bodyPr wrap="square" lIns="0" tIns="0" rIns="0" bIns="0" rtlCol="0" anchor="t"/>
          <a:lstStyle/>
          <a:p>
            <a:pPr marL="0" indent="0" algn="just">
              <a:buNone/>
            </a:pPr>
            <a:r>
              <a:rPr lang="en-US" sz="1400" dirty="0">
                <a:solidFill>
                  <a:srgbClr val="1A1A1A"/>
                </a:solidFill>
                <a:latin typeface="Calibri" pitchFamily="34" charset="0"/>
                <a:ea typeface="Calibri" pitchFamily="34" charset="-122"/>
                <a:cs typeface="Calibri" pitchFamily="34" charset="-120"/>
              </a:rPr>
              <a:t>A lightweight, fast single-page company profile for Noora Deen Technology, built entirely with vanilla HTML, CSS and JavaScript, no framework, no build step. The site presents the company's mission (“Making Everyday Life Simpler”), its products, values and contact channels, and is engineered for accessibility and smooth performance on any device.</a:t>
            </a:r>
            <a:endParaRPr lang="en-US" sz="1400" dirty="0"/>
          </a:p>
        </p:txBody>
      </p:sp>
      <p:sp>
        <p:nvSpPr>
          <p:cNvPr id="59" name="Text 27">
            <a:extLst>
              <a:ext uri="{FF2B5EF4-FFF2-40B4-BE49-F238E27FC236}">
                <a16:creationId xmlns:a16="http://schemas.microsoft.com/office/drawing/2014/main" id="{3C4FD8D7-B0AC-6536-5AA4-FD4C1453A885}"/>
              </a:ext>
            </a:extLst>
          </p:cNvPr>
          <p:cNvSpPr/>
          <p:nvPr/>
        </p:nvSpPr>
        <p:spPr>
          <a:xfrm>
            <a:off x="640080" y="3536295"/>
            <a:ext cx="2743200" cy="274320"/>
          </a:xfrm>
          <a:prstGeom prst="rect">
            <a:avLst/>
          </a:prstGeom>
          <a:noFill/>
          <a:ln/>
        </p:spPr>
        <p:txBody>
          <a:bodyPr wrap="square" lIns="0" tIns="0" rIns="0" bIns="0" rtlCol="0" anchor="ctr"/>
          <a:lstStyle/>
          <a:p>
            <a:pPr marL="0" indent="0">
              <a:buNone/>
            </a:pPr>
            <a:r>
              <a:rPr lang="en-US" sz="1100" b="1" dirty="0">
                <a:solidFill>
                  <a:srgbClr val="C9A961"/>
                </a:solidFill>
                <a:latin typeface="Calibri" pitchFamily="34" charset="0"/>
                <a:ea typeface="Calibri" pitchFamily="34" charset="-122"/>
                <a:cs typeface="Calibri" pitchFamily="34" charset="-120"/>
              </a:rPr>
              <a:t>KEY HIGHLIGHTS</a:t>
            </a:r>
            <a:endParaRPr lang="en-US" sz="1100" dirty="0"/>
          </a:p>
        </p:txBody>
      </p:sp>
      <p:sp>
        <p:nvSpPr>
          <p:cNvPr id="61" name="Shape 28">
            <a:extLst>
              <a:ext uri="{FF2B5EF4-FFF2-40B4-BE49-F238E27FC236}">
                <a16:creationId xmlns:a16="http://schemas.microsoft.com/office/drawing/2014/main" id="{AA76FE2C-1FF0-785B-B56E-73686E2BD303}"/>
              </a:ext>
            </a:extLst>
          </p:cNvPr>
          <p:cNvSpPr/>
          <p:nvPr/>
        </p:nvSpPr>
        <p:spPr>
          <a:xfrm>
            <a:off x="640080" y="3791579"/>
            <a:ext cx="457200" cy="22860"/>
          </a:xfrm>
          <a:prstGeom prst="rect">
            <a:avLst/>
          </a:prstGeom>
          <a:solidFill>
            <a:srgbClr val="C9A961"/>
          </a:solidFill>
          <a:ln w="12700">
            <a:solidFill>
              <a:srgbClr val="C9A961"/>
            </a:solidFill>
            <a:prstDash val="solid"/>
          </a:ln>
        </p:spPr>
      </p:sp>
      <p:sp>
        <p:nvSpPr>
          <p:cNvPr id="63" name="Text 29">
            <a:extLst>
              <a:ext uri="{FF2B5EF4-FFF2-40B4-BE49-F238E27FC236}">
                <a16:creationId xmlns:a16="http://schemas.microsoft.com/office/drawing/2014/main" id="{FD7736C0-B5F9-908E-6D72-8B78B623A553}"/>
              </a:ext>
            </a:extLst>
          </p:cNvPr>
          <p:cNvSpPr/>
          <p:nvPr/>
        </p:nvSpPr>
        <p:spPr>
          <a:xfrm>
            <a:off x="640080" y="3844202"/>
            <a:ext cx="6400800" cy="1371600"/>
          </a:xfrm>
          <a:prstGeom prst="rect">
            <a:avLst/>
          </a:prstGeom>
          <a:noFill/>
          <a:ln/>
        </p:spPr>
        <p:txBody>
          <a:bodyPr wrap="square" lIns="0" tIns="0" rIns="0" bIns="0" rtlCol="0" anchor="t"/>
          <a:lstStyle/>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Fully responsive with a sticky navbar, hamburger menu and scroll-spy navigation across desktop, tablet and mobile</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Scroll-reveal animations and animated statistic counters built without any external animation library</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Accessibility-first: keyboard navigation, ARIA labels, and respect for prefers-reduced-motion</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Custom brand system: navy-and-green palette, north-star logo with an “ND” monogram, zero-backend contact form</a:t>
            </a:r>
            <a:endParaRPr lang="en-US" sz="1400" dirty="0"/>
          </a:p>
        </p:txBody>
      </p:sp>
      <p:sp>
        <p:nvSpPr>
          <p:cNvPr id="65" name="Shape 30">
            <a:extLst>
              <a:ext uri="{FF2B5EF4-FFF2-40B4-BE49-F238E27FC236}">
                <a16:creationId xmlns:a16="http://schemas.microsoft.com/office/drawing/2014/main" id="{792FAAE4-FCB8-390B-3DAE-44170487B63B}"/>
              </a:ext>
            </a:extLst>
          </p:cNvPr>
          <p:cNvSpPr/>
          <p:nvPr/>
        </p:nvSpPr>
        <p:spPr>
          <a:xfrm>
            <a:off x="7589520" y="1097280"/>
            <a:ext cx="4114800" cy="53035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67" name="Shape 31">
            <a:extLst>
              <a:ext uri="{FF2B5EF4-FFF2-40B4-BE49-F238E27FC236}">
                <a16:creationId xmlns:a16="http://schemas.microsoft.com/office/drawing/2014/main" id="{9285E748-5FB2-AFFA-E28E-E3940AF6ECD8}"/>
              </a:ext>
            </a:extLst>
          </p:cNvPr>
          <p:cNvSpPr/>
          <p:nvPr/>
        </p:nvSpPr>
        <p:spPr>
          <a:xfrm>
            <a:off x="7589520" y="1097280"/>
            <a:ext cx="73152" cy="5303520"/>
          </a:xfrm>
          <a:prstGeom prst="rect">
            <a:avLst/>
          </a:prstGeom>
          <a:solidFill>
            <a:srgbClr val="C9A961"/>
          </a:solidFill>
          <a:ln w="12700">
            <a:solidFill>
              <a:srgbClr val="C9A961"/>
            </a:solidFill>
            <a:prstDash val="solid"/>
          </a:ln>
        </p:spPr>
      </p:sp>
      <p:sp>
        <p:nvSpPr>
          <p:cNvPr id="69" name="Text 32">
            <a:extLst>
              <a:ext uri="{FF2B5EF4-FFF2-40B4-BE49-F238E27FC236}">
                <a16:creationId xmlns:a16="http://schemas.microsoft.com/office/drawing/2014/main" id="{140D01A6-98EE-0585-89A2-4EDC26B8AEA1}"/>
              </a:ext>
            </a:extLst>
          </p:cNvPr>
          <p:cNvSpPr/>
          <p:nvPr/>
        </p:nvSpPr>
        <p:spPr>
          <a:xfrm>
            <a:off x="7818120" y="6093826"/>
            <a:ext cx="3657600" cy="365760"/>
          </a:xfrm>
          <a:prstGeom prst="rect">
            <a:avLst/>
          </a:prstGeom>
          <a:noFill/>
          <a:ln/>
        </p:spPr>
        <p:txBody>
          <a:bodyPr wrap="square" lIns="0" tIns="0" rIns="0" bIns="0" rtlCol="0" anchor="ctr"/>
          <a:lstStyle/>
          <a:p>
            <a:pPr marL="0" indent="0" algn="ctr">
              <a:buNone/>
            </a:pPr>
            <a:r>
              <a:rPr lang="en-US" sz="1000" i="1" dirty="0">
                <a:solidFill>
                  <a:srgbClr val="5A5A5A"/>
                </a:solidFill>
                <a:latin typeface="Calibri" pitchFamily="34" charset="0"/>
                <a:ea typeface="Calibri" pitchFamily="34" charset="-122"/>
                <a:cs typeface="Calibri" pitchFamily="34" charset="-120"/>
              </a:rPr>
              <a:t>nooradeen.com single-page company profile</a:t>
            </a:r>
            <a:endParaRPr lang="en-US" sz="1000" dirty="0"/>
          </a:p>
        </p:txBody>
      </p:sp>
      <p:pic>
        <p:nvPicPr>
          <p:cNvPr id="71" name="Picture 70">
            <a:extLst>
              <a:ext uri="{FF2B5EF4-FFF2-40B4-BE49-F238E27FC236}">
                <a16:creationId xmlns:a16="http://schemas.microsoft.com/office/drawing/2014/main" id="{3E88CCA6-89E0-409B-3100-18535A8B2EFF}"/>
              </a:ext>
            </a:extLst>
          </p:cNvPr>
          <p:cNvPicPr>
            <a:picLocks noChangeAspect="1"/>
          </p:cNvPicPr>
          <p:nvPr/>
        </p:nvPicPr>
        <p:blipFill>
          <a:blip r:embed="rId3"/>
          <a:stretch>
            <a:fillRect/>
          </a:stretch>
        </p:blipFill>
        <p:spPr>
          <a:xfrm>
            <a:off x="7681005" y="1059405"/>
            <a:ext cx="4020625" cy="1562870"/>
          </a:xfrm>
          <a:prstGeom prst="rect">
            <a:avLst/>
          </a:prstGeom>
        </p:spPr>
      </p:pic>
      <p:pic>
        <p:nvPicPr>
          <p:cNvPr id="73" name="Picture 72">
            <a:extLst>
              <a:ext uri="{FF2B5EF4-FFF2-40B4-BE49-F238E27FC236}">
                <a16:creationId xmlns:a16="http://schemas.microsoft.com/office/drawing/2014/main" id="{1169800A-58DF-62AC-029F-E620BEFC53C4}"/>
              </a:ext>
            </a:extLst>
          </p:cNvPr>
          <p:cNvPicPr>
            <a:picLocks noChangeAspect="1"/>
          </p:cNvPicPr>
          <p:nvPr/>
        </p:nvPicPr>
        <p:blipFill>
          <a:blip r:embed="rId4"/>
          <a:stretch>
            <a:fillRect/>
          </a:stretch>
        </p:blipFill>
        <p:spPr>
          <a:xfrm>
            <a:off x="7681201" y="2635522"/>
            <a:ext cx="4014659" cy="1837576"/>
          </a:xfrm>
          <a:prstGeom prst="rect">
            <a:avLst/>
          </a:prstGeom>
        </p:spPr>
      </p:pic>
      <p:pic>
        <p:nvPicPr>
          <p:cNvPr id="75" name="Picture 74">
            <a:extLst>
              <a:ext uri="{FF2B5EF4-FFF2-40B4-BE49-F238E27FC236}">
                <a16:creationId xmlns:a16="http://schemas.microsoft.com/office/drawing/2014/main" id="{D6120EC5-5DD5-5348-C24A-73B85DC9B39B}"/>
              </a:ext>
            </a:extLst>
          </p:cNvPr>
          <p:cNvPicPr>
            <a:picLocks noChangeAspect="1"/>
          </p:cNvPicPr>
          <p:nvPr/>
        </p:nvPicPr>
        <p:blipFill>
          <a:blip r:embed="rId5"/>
          <a:stretch>
            <a:fillRect/>
          </a:stretch>
        </p:blipFill>
        <p:spPr>
          <a:xfrm>
            <a:off x="7681201" y="4479997"/>
            <a:ext cx="4023119" cy="1750618"/>
          </a:xfrm>
          <a:prstGeom prst="rect">
            <a:avLst/>
          </a:prstGeom>
        </p:spPr>
      </p:pic>
    </p:spTree>
    <p:extLst>
      <p:ext uri="{BB962C8B-B14F-4D97-AF65-F5344CB8AC3E}">
        <p14:creationId xmlns:p14="http://schemas.microsoft.com/office/powerpoint/2010/main" val="2548323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B90C53D5-0EED-42FB-1FE7-53042F5FD51C}"/>
              </a:ext>
            </a:extLst>
          </p:cNvPr>
          <p:cNvSpPr/>
          <p:nvPr/>
        </p:nvSpPr>
        <p:spPr>
          <a:xfrm>
            <a:off x="0" y="0"/>
            <a:ext cx="12161520" cy="457200"/>
          </a:xfrm>
          <a:prstGeom prst="rect">
            <a:avLst/>
          </a:prstGeom>
          <a:solidFill>
            <a:srgbClr val="0A1628"/>
          </a:solidFill>
          <a:ln w="12700">
            <a:solidFill>
              <a:srgbClr val="0A1628"/>
            </a:solidFill>
            <a:prstDash val="solid"/>
          </a:ln>
        </p:spPr>
      </p:sp>
      <p:sp>
        <p:nvSpPr>
          <p:cNvPr id="5" name="Shape 1">
            <a:extLst>
              <a:ext uri="{FF2B5EF4-FFF2-40B4-BE49-F238E27FC236}">
                <a16:creationId xmlns:a16="http://schemas.microsoft.com/office/drawing/2014/main" id="{55824A1F-47D9-47C6-6B23-F19048D79399}"/>
              </a:ext>
            </a:extLst>
          </p:cNvPr>
          <p:cNvSpPr/>
          <p:nvPr/>
        </p:nvSpPr>
        <p:spPr>
          <a:xfrm>
            <a:off x="0" y="457200"/>
            <a:ext cx="12161520" cy="36576"/>
          </a:xfrm>
          <a:prstGeom prst="rect">
            <a:avLst/>
          </a:prstGeom>
          <a:solidFill>
            <a:srgbClr val="C9A961"/>
          </a:solidFill>
          <a:ln w="12700">
            <a:solidFill>
              <a:srgbClr val="C9A961"/>
            </a:solidFill>
            <a:prstDash val="solid"/>
          </a:ln>
        </p:spPr>
      </p:sp>
      <p:sp>
        <p:nvSpPr>
          <p:cNvPr id="7" name="Text 2">
            <a:extLst>
              <a:ext uri="{FF2B5EF4-FFF2-40B4-BE49-F238E27FC236}">
                <a16:creationId xmlns:a16="http://schemas.microsoft.com/office/drawing/2014/main" id="{F01CCCA4-521B-7DDF-1AED-94C7FE9129DB}"/>
              </a:ext>
            </a:extLst>
          </p:cNvPr>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9" name="Text 3">
            <a:extLst>
              <a:ext uri="{FF2B5EF4-FFF2-40B4-BE49-F238E27FC236}">
                <a16:creationId xmlns:a16="http://schemas.microsoft.com/office/drawing/2014/main" id="{8EE55C44-59C3-9384-CFF7-A84C1B43A7B1}"/>
              </a:ext>
            </a:extLst>
          </p:cNvPr>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11" name="Text 4">
            <a:extLst>
              <a:ext uri="{FF2B5EF4-FFF2-40B4-BE49-F238E27FC236}">
                <a16:creationId xmlns:a16="http://schemas.microsoft.com/office/drawing/2014/main" id="{1212024B-397C-F976-37E2-F692028BBF52}"/>
              </a:ext>
            </a:extLst>
          </p:cNvPr>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20 / 20</a:t>
            </a:r>
            <a:endParaRPr lang="en-US" sz="900" dirty="0"/>
          </a:p>
        </p:txBody>
      </p:sp>
      <p:sp>
        <p:nvSpPr>
          <p:cNvPr id="13" name="Shape 5">
            <a:extLst>
              <a:ext uri="{FF2B5EF4-FFF2-40B4-BE49-F238E27FC236}">
                <a16:creationId xmlns:a16="http://schemas.microsoft.com/office/drawing/2014/main" id="{FA625148-ADEB-DC23-98A3-D0308D46956B}"/>
              </a:ext>
            </a:extLst>
          </p:cNvPr>
          <p:cNvSpPr/>
          <p:nvPr/>
        </p:nvSpPr>
        <p:spPr>
          <a:xfrm>
            <a:off x="0" y="6565392"/>
            <a:ext cx="12161520" cy="292608"/>
          </a:xfrm>
          <a:prstGeom prst="rect">
            <a:avLst/>
          </a:prstGeom>
          <a:solidFill>
            <a:srgbClr val="1B2D4A"/>
          </a:solidFill>
          <a:ln w="12700">
            <a:solidFill>
              <a:srgbClr val="1B2D4A"/>
            </a:solidFill>
            <a:prstDash val="solid"/>
          </a:ln>
        </p:spPr>
      </p:sp>
      <p:sp>
        <p:nvSpPr>
          <p:cNvPr id="15" name="Shape 6">
            <a:extLst>
              <a:ext uri="{FF2B5EF4-FFF2-40B4-BE49-F238E27FC236}">
                <a16:creationId xmlns:a16="http://schemas.microsoft.com/office/drawing/2014/main" id="{6CD8B076-7395-5315-F3B8-C53A9B31EB55}"/>
              </a:ext>
            </a:extLst>
          </p:cNvPr>
          <p:cNvSpPr/>
          <p:nvPr/>
        </p:nvSpPr>
        <p:spPr>
          <a:xfrm>
            <a:off x="0" y="6547104"/>
            <a:ext cx="12161520" cy="18288"/>
          </a:xfrm>
          <a:prstGeom prst="rect">
            <a:avLst/>
          </a:prstGeom>
          <a:solidFill>
            <a:srgbClr val="C9A961"/>
          </a:solidFill>
          <a:ln w="12700">
            <a:solidFill>
              <a:srgbClr val="C9A961"/>
            </a:solidFill>
            <a:prstDash val="solid"/>
          </a:ln>
        </p:spPr>
      </p:sp>
      <p:sp>
        <p:nvSpPr>
          <p:cNvPr id="17" name="Text 7">
            <a:extLst>
              <a:ext uri="{FF2B5EF4-FFF2-40B4-BE49-F238E27FC236}">
                <a16:creationId xmlns:a16="http://schemas.microsoft.com/office/drawing/2014/main" id="{56296B20-CAC0-B6B2-9377-B0A2E390322C}"/>
              </a:ext>
            </a:extLst>
          </p:cNvPr>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9" name="Text 8">
            <a:extLst>
              <a:ext uri="{FF2B5EF4-FFF2-40B4-BE49-F238E27FC236}">
                <a16:creationId xmlns:a16="http://schemas.microsoft.com/office/drawing/2014/main" id="{C6E84F65-72E0-0F27-E671-C6A247BE66C8}"/>
              </a:ext>
            </a:extLst>
          </p:cNvPr>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21" name="Text 9">
            <a:extLst>
              <a:ext uri="{FF2B5EF4-FFF2-40B4-BE49-F238E27FC236}">
                <a16:creationId xmlns:a16="http://schemas.microsoft.com/office/drawing/2014/main" id="{3C2C0180-F5B0-34AE-5E29-E6E6A8E87A84}"/>
              </a:ext>
            </a:extLst>
          </p:cNvPr>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23" name="Text 10">
            <a:extLst>
              <a:ext uri="{FF2B5EF4-FFF2-40B4-BE49-F238E27FC236}">
                <a16:creationId xmlns:a16="http://schemas.microsoft.com/office/drawing/2014/main" id="{E103B3A0-C1C8-1DDA-1387-A787C4636088}"/>
              </a:ext>
            </a:extLst>
          </p:cNvPr>
          <p:cNvSpPr/>
          <p:nvPr/>
        </p:nvSpPr>
        <p:spPr>
          <a:xfrm>
            <a:off x="640080" y="822960"/>
            <a:ext cx="73152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04  ·  PROJECTS (CONT.)</a:t>
            </a:r>
            <a:endParaRPr lang="en-US" sz="2000" dirty="0"/>
          </a:p>
        </p:txBody>
      </p:sp>
      <p:sp>
        <p:nvSpPr>
          <p:cNvPr id="25" name="Shape 11">
            <a:extLst>
              <a:ext uri="{FF2B5EF4-FFF2-40B4-BE49-F238E27FC236}">
                <a16:creationId xmlns:a16="http://schemas.microsoft.com/office/drawing/2014/main" id="{256F30A2-8C94-9142-9F64-A29C696C4474}"/>
              </a:ext>
            </a:extLst>
          </p:cNvPr>
          <p:cNvSpPr/>
          <p:nvPr/>
        </p:nvSpPr>
        <p:spPr>
          <a:xfrm>
            <a:off x="640080" y="1115568"/>
            <a:ext cx="640080" cy="27432"/>
          </a:xfrm>
          <a:prstGeom prst="rect">
            <a:avLst/>
          </a:prstGeom>
          <a:solidFill>
            <a:srgbClr val="C9A961"/>
          </a:solidFill>
          <a:ln w="12700">
            <a:solidFill>
              <a:srgbClr val="C9A961"/>
            </a:solidFill>
            <a:prstDash val="solid"/>
          </a:ln>
        </p:spPr>
      </p:sp>
      <p:sp>
        <p:nvSpPr>
          <p:cNvPr id="27" name="Text 12">
            <a:extLst>
              <a:ext uri="{FF2B5EF4-FFF2-40B4-BE49-F238E27FC236}">
                <a16:creationId xmlns:a16="http://schemas.microsoft.com/office/drawing/2014/main" id="{7BECAF65-D952-6230-0168-7E876C28D241}"/>
              </a:ext>
            </a:extLst>
          </p:cNvPr>
          <p:cNvSpPr/>
          <p:nvPr/>
        </p:nvSpPr>
        <p:spPr>
          <a:xfrm>
            <a:off x="640080" y="1207008"/>
            <a:ext cx="6400800" cy="228600"/>
          </a:xfrm>
          <a:prstGeom prst="rect">
            <a:avLst/>
          </a:prstGeom>
          <a:noFill/>
          <a:ln/>
        </p:spPr>
        <p:txBody>
          <a:bodyPr wrap="square" lIns="0" tIns="0" rIns="0" bIns="0" rtlCol="0" anchor="ctr"/>
          <a:lstStyle/>
          <a:p>
            <a:pPr marL="0" indent="0">
              <a:buNone/>
            </a:pPr>
            <a:r>
              <a:rPr lang="en-US" sz="1000" b="1" dirty="0">
                <a:solidFill>
                  <a:srgbClr val="5A5A5A"/>
                </a:solidFill>
                <a:latin typeface="Calibri" pitchFamily="34" charset="0"/>
                <a:ea typeface="Calibri" pitchFamily="34" charset="-122"/>
                <a:cs typeface="Calibri" pitchFamily="34" charset="-120"/>
              </a:rPr>
              <a:t>PERSONAL PRODUCT · AI FINANCE · 2026</a:t>
            </a:r>
            <a:endParaRPr lang="en-US" sz="1000" dirty="0"/>
          </a:p>
        </p:txBody>
      </p:sp>
      <p:sp>
        <p:nvSpPr>
          <p:cNvPr id="29" name="Text 13">
            <a:extLst>
              <a:ext uri="{FF2B5EF4-FFF2-40B4-BE49-F238E27FC236}">
                <a16:creationId xmlns:a16="http://schemas.microsoft.com/office/drawing/2014/main" id="{77CB1672-3274-620E-2ABD-63DB4D7611FB}"/>
              </a:ext>
            </a:extLst>
          </p:cNvPr>
          <p:cNvSpPr/>
          <p:nvPr/>
        </p:nvSpPr>
        <p:spPr>
          <a:xfrm>
            <a:off x="640080" y="1444752"/>
            <a:ext cx="6400800" cy="612648"/>
          </a:xfrm>
          <a:prstGeom prst="rect">
            <a:avLst/>
          </a:prstGeom>
          <a:noFill/>
          <a:ln/>
        </p:spPr>
        <p:txBody>
          <a:bodyPr wrap="square" lIns="0" tIns="0" rIns="0" bIns="0" rtlCol="0" anchor="t"/>
          <a:lstStyle/>
          <a:p>
            <a:pPr marL="0" indent="0">
              <a:buNone/>
            </a:pPr>
            <a:r>
              <a:rPr lang="en-US" sz="2400" b="1" dirty="0">
                <a:solidFill>
                  <a:srgbClr val="0A1628"/>
                </a:solidFill>
                <a:latin typeface="Calibri" pitchFamily="34" charset="0"/>
                <a:ea typeface="Calibri" pitchFamily="34" charset="-122"/>
                <a:cs typeface="Calibri" pitchFamily="34" charset="-120"/>
              </a:rPr>
              <a:t>Saku: AI-Powered Personal Finance Manager</a:t>
            </a:r>
            <a:endParaRPr lang="en-US" sz="2400" dirty="0"/>
          </a:p>
        </p:txBody>
      </p:sp>
      <p:sp>
        <p:nvSpPr>
          <p:cNvPr id="31" name="Text 14">
            <a:extLst>
              <a:ext uri="{FF2B5EF4-FFF2-40B4-BE49-F238E27FC236}">
                <a16:creationId xmlns:a16="http://schemas.microsoft.com/office/drawing/2014/main" id="{35AE7AD9-8893-AA1F-5A26-28B97C5ED512}"/>
              </a:ext>
            </a:extLst>
          </p:cNvPr>
          <p:cNvSpPr/>
          <p:nvPr/>
        </p:nvSpPr>
        <p:spPr>
          <a:xfrm>
            <a:off x="640080" y="1783080"/>
            <a:ext cx="6400800" cy="274320"/>
          </a:xfrm>
          <a:prstGeom prst="rect">
            <a:avLst/>
          </a:prstGeom>
          <a:noFill/>
          <a:ln/>
        </p:spPr>
        <p:txBody>
          <a:bodyPr wrap="square" lIns="0" tIns="0" rIns="0" bIns="0"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Sole Developer (Front-End, Backend, AI, Mobile)</a:t>
            </a:r>
            <a:endParaRPr lang="en-US" sz="1200" dirty="0"/>
          </a:p>
        </p:txBody>
      </p:sp>
      <p:sp>
        <p:nvSpPr>
          <p:cNvPr id="33" name="Shape 15">
            <a:extLst>
              <a:ext uri="{FF2B5EF4-FFF2-40B4-BE49-F238E27FC236}">
                <a16:creationId xmlns:a16="http://schemas.microsoft.com/office/drawing/2014/main" id="{D39FCE83-C110-BB26-3623-74F9A21296DF}"/>
              </a:ext>
            </a:extLst>
          </p:cNvPr>
          <p:cNvSpPr/>
          <p:nvPr/>
        </p:nvSpPr>
        <p:spPr>
          <a:xfrm>
            <a:off x="6903720" y="1554480"/>
            <a:ext cx="594360" cy="594360"/>
          </a:xfrm>
          <a:prstGeom prst="ellipse">
            <a:avLst/>
          </a:prstGeom>
          <a:solidFill>
            <a:srgbClr val="0A1628"/>
          </a:solidFill>
          <a:ln w="8890">
            <a:solidFill>
              <a:srgbClr val="C9A961"/>
            </a:solidFill>
            <a:prstDash val="solid"/>
          </a:ln>
        </p:spPr>
      </p:sp>
      <p:pic>
        <p:nvPicPr>
          <p:cNvPr id="35" name="Image 0" descr="/home/claude/icons/proj_sems.png">
            <a:extLst>
              <a:ext uri="{FF2B5EF4-FFF2-40B4-BE49-F238E27FC236}">
                <a16:creationId xmlns:a16="http://schemas.microsoft.com/office/drawing/2014/main" id="{FBC8C52A-060F-D1A4-E7A1-CDB7AB50CB8F}"/>
              </a:ext>
            </a:extLst>
          </p:cNvPr>
          <p:cNvPicPr>
            <a:picLocks noChangeAspect="1"/>
          </p:cNvPicPr>
          <p:nvPr/>
        </p:nvPicPr>
        <p:blipFill>
          <a:blip r:embed="rId2"/>
          <a:stretch>
            <a:fillRect/>
          </a:stretch>
        </p:blipFill>
        <p:spPr>
          <a:xfrm>
            <a:off x="7040880" y="1691640"/>
            <a:ext cx="320040" cy="320040"/>
          </a:xfrm>
          <a:prstGeom prst="rect">
            <a:avLst/>
          </a:prstGeom>
        </p:spPr>
      </p:pic>
      <p:sp>
        <p:nvSpPr>
          <p:cNvPr id="37" name="Shape 16">
            <a:extLst>
              <a:ext uri="{FF2B5EF4-FFF2-40B4-BE49-F238E27FC236}">
                <a16:creationId xmlns:a16="http://schemas.microsoft.com/office/drawing/2014/main" id="{76AD4C7A-4515-058F-754A-A45290DF509D}"/>
              </a:ext>
            </a:extLst>
          </p:cNvPr>
          <p:cNvSpPr/>
          <p:nvPr/>
        </p:nvSpPr>
        <p:spPr>
          <a:xfrm>
            <a:off x="640080" y="2064864"/>
            <a:ext cx="731520" cy="292608"/>
          </a:xfrm>
          <a:prstGeom prst="rect">
            <a:avLst/>
          </a:prstGeom>
          <a:solidFill>
            <a:srgbClr val="0A1628"/>
          </a:solidFill>
          <a:ln w="12700">
            <a:solidFill>
              <a:srgbClr val="0A1628"/>
            </a:solidFill>
            <a:prstDash val="solid"/>
          </a:ln>
        </p:spPr>
      </p:sp>
      <p:sp>
        <p:nvSpPr>
          <p:cNvPr id="39" name="Text 17">
            <a:extLst>
              <a:ext uri="{FF2B5EF4-FFF2-40B4-BE49-F238E27FC236}">
                <a16:creationId xmlns:a16="http://schemas.microsoft.com/office/drawing/2014/main" id="{C7DC274E-5081-3595-7796-38A0D55ABEDB}"/>
              </a:ext>
            </a:extLst>
          </p:cNvPr>
          <p:cNvSpPr/>
          <p:nvPr/>
        </p:nvSpPr>
        <p:spPr>
          <a:xfrm>
            <a:off x="640080" y="2064864"/>
            <a:ext cx="73152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React 19</a:t>
            </a:r>
            <a:endParaRPr lang="en-US" sz="1000" dirty="0"/>
          </a:p>
        </p:txBody>
      </p:sp>
      <p:sp>
        <p:nvSpPr>
          <p:cNvPr id="41" name="Shape 18">
            <a:extLst>
              <a:ext uri="{FF2B5EF4-FFF2-40B4-BE49-F238E27FC236}">
                <a16:creationId xmlns:a16="http://schemas.microsoft.com/office/drawing/2014/main" id="{B4361673-FFC4-AF4C-417A-A02C4EEB9C36}"/>
              </a:ext>
            </a:extLst>
          </p:cNvPr>
          <p:cNvSpPr/>
          <p:nvPr/>
        </p:nvSpPr>
        <p:spPr>
          <a:xfrm>
            <a:off x="1453895" y="2064864"/>
            <a:ext cx="868680" cy="292608"/>
          </a:xfrm>
          <a:prstGeom prst="rect">
            <a:avLst/>
          </a:prstGeom>
          <a:solidFill>
            <a:srgbClr val="0A1628"/>
          </a:solidFill>
          <a:ln w="12700">
            <a:solidFill>
              <a:srgbClr val="0A1628"/>
            </a:solidFill>
            <a:prstDash val="solid"/>
          </a:ln>
        </p:spPr>
      </p:sp>
      <p:sp>
        <p:nvSpPr>
          <p:cNvPr id="43" name="Text 19">
            <a:extLst>
              <a:ext uri="{FF2B5EF4-FFF2-40B4-BE49-F238E27FC236}">
                <a16:creationId xmlns:a16="http://schemas.microsoft.com/office/drawing/2014/main" id="{C6AE1287-208D-EC3D-CBD0-5CE789608E75}"/>
              </a:ext>
            </a:extLst>
          </p:cNvPr>
          <p:cNvSpPr/>
          <p:nvPr/>
        </p:nvSpPr>
        <p:spPr>
          <a:xfrm>
            <a:off x="1453895" y="2064864"/>
            <a:ext cx="86868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TypeScript</a:t>
            </a:r>
            <a:endParaRPr lang="en-US" sz="1000" dirty="0"/>
          </a:p>
        </p:txBody>
      </p:sp>
      <p:sp>
        <p:nvSpPr>
          <p:cNvPr id="45" name="Shape 20">
            <a:extLst>
              <a:ext uri="{FF2B5EF4-FFF2-40B4-BE49-F238E27FC236}">
                <a16:creationId xmlns:a16="http://schemas.microsoft.com/office/drawing/2014/main" id="{F3F1FC18-BDE1-1049-7C42-43739FF1D8A6}"/>
              </a:ext>
            </a:extLst>
          </p:cNvPr>
          <p:cNvSpPr/>
          <p:nvPr/>
        </p:nvSpPr>
        <p:spPr>
          <a:xfrm>
            <a:off x="2404872" y="2064864"/>
            <a:ext cx="868680" cy="292608"/>
          </a:xfrm>
          <a:prstGeom prst="rect">
            <a:avLst/>
          </a:prstGeom>
          <a:solidFill>
            <a:srgbClr val="0A1628"/>
          </a:solidFill>
          <a:ln w="12700">
            <a:solidFill>
              <a:srgbClr val="0A1628"/>
            </a:solidFill>
            <a:prstDash val="solid"/>
          </a:ln>
        </p:spPr>
      </p:sp>
      <p:sp>
        <p:nvSpPr>
          <p:cNvPr id="47" name="Text 21">
            <a:extLst>
              <a:ext uri="{FF2B5EF4-FFF2-40B4-BE49-F238E27FC236}">
                <a16:creationId xmlns:a16="http://schemas.microsoft.com/office/drawing/2014/main" id="{4B5DBEEF-BA16-44D0-F4B9-CC6C9E55C749}"/>
              </a:ext>
            </a:extLst>
          </p:cNvPr>
          <p:cNvSpPr/>
          <p:nvPr/>
        </p:nvSpPr>
        <p:spPr>
          <a:xfrm>
            <a:off x="2404872" y="2064864"/>
            <a:ext cx="86868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Gemini 2.5</a:t>
            </a:r>
            <a:endParaRPr lang="en-US" sz="1000" dirty="0"/>
          </a:p>
        </p:txBody>
      </p:sp>
      <p:sp>
        <p:nvSpPr>
          <p:cNvPr id="49" name="Shape 22">
            <a:extLst>
              <a:ext uri="{FF2B5EF4-FFF2-40B4-BE49-F238E27FC236}">
                <a16:creationId xmlns:a16="http://schemas.microsoft.com/office/drawing/2014/main" id="{BC1E56E5-16BB-6983-9A59-55AA4EA512BB}"/>
              </a:ext>
            </a:extLst>
          </p:cNvPr>
          <p:cNvSpPr/>
          <p:nvPr/>
        </p:nvSpPr>
        <p:spPr>
          <a:xfrm>
            <a:off x="3355848" y="2064864"/>
            <a:ext cx="662940" cy="292608"/>
          </a:xfrm>
          <a:prstGeom prst="rect">
            <a:avLst/>
          </a:prstGeom>
          <a:solidFill>
            <a:srgbClr val="0A1628"/>
          </a:solidFill>
          <a:ln w="12700">
            <a:solidFill>
              <a:srgbClr val="0A1628"/>
            </a:solidFill>
            <a:prstDash val="solid"/>
          </a:ln>
        </p:spPr>
      </p:sp>
      <p:sp>
        <p:nvSpPr>
          <p:cNvPr id="51" name="Text 23">
            <a:extLst>
              <a:ext uri="{FF2B5EF4-FFF2-40B4-BE49-F238E27FC236}">
                <a16:creationId xmlns:a16="http://schemas.microsoft.com/office/drawing/2014/main" id="{F90808A0-6C6F-75A2-EE46-B109D963C927}"/>
              </a:ext>
            </a:extLst>
          </p:cNvPr>
          <p:cNvSpPr/>
          <p:nvPr/>
        </p:nvSpPr>
        <p:spPr>
          <a:xfrm>
            <a:off x="3355848" y="2064864"/>
            <a:ext cx="66294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Express</a:t>
            </a:r>
            <a:endParaRPr lang="en-US" sz="1000" dirty="0"/>
          </a:p>
        </p:txBody>
      </p:sp>
      <p:sp>
        <p:nvSpPr>
          <p:cNvPr id="53" name="Shape 24">
            <a:extLst>
              <a:ext uri="{FF2B5EF4-FFF2-40B4-BE49-F238E27FC236}">
                <a16:creationId xmlns:a16="http://schemas.microsoft.com/office/drawing/2014/main" id="{881A81E2-59C2-67AD-3174-4E6856265C67}"/>
              </a:ext>
            </a:extLst>
          </p:cNvPr>
          <p:cNvSpPr/>
          <p:nvPr/>
        </p:nvSpPr>
        <p:spPr>
          <a:xfrm>
            <a:off x="4101084" y="2064864"/>
            <a:ext cx="800100" cy="292608"/>
          </a:xfrm>
          <a:prstGeom prst="rect">
            <a:avLst/>
          </a:prstGeom>
          <a:solidFill>
            <a:srgbClr val="0A1628"/>
          </a:solidFill>
          <a:ln w="12700">
            <a:solidFill>
              <a:srgbClr val="0A1628"/>
            </a:solidFill>
            <a:prstDash val="solid"/>
          </a:ln>
        </p:spPr>
      </p:sp>
      <p:sp>
        <p:nvSpPr>
          <p:cNvPr id="55" name="Text 25">
            <a:extLst>
              <a:ext uri="{FF2B5EF4-FFF2-40B4-BE49-F238E27FC236}">
                <a16:creationId xmlns:a16="http://schemas.microsoft.com/office/drawing/2014/main" id="{CFDE58AB-BD3D-DCAA-CDF3-D75C76C0F171}"/>
              </a:ext>
            </a:extLst>
          </p:cNvPr>
          <p:cNvSpPr/>
          <p:nvPr/>
        </p:nvSpPr>
        <p:spPr>
          <a:xfrm>
            <a:off x="4101084" y="2064864"/>
            <a:ext cx="80010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Capacitor</a:t>
            </a:r>
            <a:endParaRPr lang="en-US" sz="1000" dirty="0"/>
          </a:p>
        </p:txBody>
      </p:sp>
      <p:sp>
        <p:nvSpPr>
          <p:cNvPr id="57" name="Text 26">
            <a:extLst>
              <a:ext uri="{FF2B5EF4-FFF2-40B4-BE49-F238E27FC236}">
                <a16:creationId xmlns:a16="http://schemas.microsoft.com/office/drawing/2014/main" id="{E068FC3D-6C39-316D-AF4F-58B1BBB7C800}"/>
              </a:ext>
            </a:extLst>
          </p:cNvPr>
          <p:cNvSpPr/>
          <p:nvPr/>
        </p:nvSpPr>
        <p:spPr>
          <a:xfrm>
            <a:off x="640080" y="2399828"/>
            <a:ext cx="6400800" cy="1371600"/>
          </a:xfrm>
          <a:prstGeom prst="rect">
            <a:avLst/>
          </a:prstGeom>
          <a:noFill/>
          <a:ln/>
        </p:spPr>
        <p:txBody>
          <a:bodyPr wrap="square" lIns="0" tIns="0" rIns="0" bIns="0" rtlCol="0" anchor="t"/>
          <a:lstStyle/>
          <a:p>
            <a:pPr marL="0" indent="0" algn="just">
              <a:buNone/>
            </a:pPr>
            <a:r>
              <a:rPr lang="en-US" sz="1400" dirty="0">
                <a:solidFill>
                  <a:srgbClr val="1A1A1A"/>
                </a:solidFill>
                <a:latin typeface="Calibri" pitchFamily="34" charset="0"/>
                <a:ea typeface="Calibri" pitchFamily="34" charset="-122"/>
                <a:cs typeface="Calibri" pitchFamily="34" charset="-120"/>
              </a:rPr>
              <a:t>A mobile-first personal finance manager for Indonesian users. Saku makes logging income and expenses nearly frictionless, then layers on an AI advisor (Google Gemini 2.5 Flash) that is grounded on the user's own transactions and replies in natural Bahasa Indonesia. A Telegram bot lets users record spending simply by chatting, “60rb makan siang” becomes a categorised expense of Rp 60.000.</a:t>
            </a:r>
            <a:endParaRPr lang="en-US" sz="1400" dirty="0"/>
          </a:p>
        </p:txBody>
      </p:sp>
      <p:sp>
        <p:nvSpPr>
          <p:cNvPr id="59" name="Text 27">
            <a:extLst>
              <a:ext uri="{FF2B5EF4-FFF2-40B4-BE49-F238E27FC236}">
                <a16:creationId xmlns:a16="http://schemas.microsoft.com/office/drawing/2014/main" id="{29A2C6C4-C6F4-346E-1333-FA6FD59D3265}"/>
              </a:ext>
            </a:extLst>
          </p:cNvPr>
          <p:cNvSpPr/>
          <p:nvPr/>
        </p:nvSpPr>
        <p:spPr>
          <a:xfrm>
            <a:off x="640080" y="3526964"/>
            <a:ext cx="2743200" cy="274320"/>
          </a:xfrm>
          <a:prstGeom prst="rect">
            <a:avLst/>
          </a:prstGeom>
          <a:noFill/>
          <a:ln/>
        </p:spPr>
        <p:txBody>
          <a:bodyPr wrap="square" lIns="0" tIns="0" rIns="0" bIns="0" rtlCol="0" anchor="ctr"/>
          <a:lstStyle/>
          <a:p>
            <a:pPr marL="0" indent="0">
              <a:buNone/>
            </a:pPr>
            <a:r>
              <a:rPr lang="en-US" sz="1100" b="1" dirty="0">
                <a:solidFill>
                  <a:srgbClr val="C9A961"/>
                </a:solidFill>
                <a:latin typeface="Calibri" pitchFamily="34" charset="0"/>
                <a:ea typeface="Calibri" pitchFamily="34" charset="-122"/>
                <a:cs typeface="Calibri" pitchFamily="34" charset="-120"/>
              </a:rPr>
              <a:t>KEY HIGHLIGHTS</a:t>
            </a:r>
            <a:endParaRPr lang="en-US" sz="1100" dirty="0"/>
          </a:p>
        </p:txBody>
      </p:sp>
      <p:sp>
        <p:nvSpPr>
          <p:cNvPr id="61" name="Shape 28">
            <a:extLst>
              <a:ext uri="{FF2B5EF4-FFF2-40B4-BE49-F238E27FC236}">
                <a16:creationId xmlns:a16="http://schemas.microsoft.com/office/drawing/2014/main" id="{746A5AE9-05C5-B36A-0C35-6D1CA5B22EC3}"/>
              </a:ext>
            </a:extLst>
          </p:cNvPr>
          <p:cNvSpPr/>
          <p:nvPr/>
        </p:nvSpPr>
        <p:spPr>
          <a:xfrm>
            <a:off x="640080" y="3782251"/>
            <a:ext cx="457200" cy="22860"/>
          </a:xfrm>
          <a:prstGeom prst="rect">
            <a:avLst/>
          </a:prstGeom>
          <a:solidFill>
            <a:srgbClr val="C9A961"/>
          </a:solidFill>
          <a:ln w="12700">
            <a:solidFill>
              <a:srgbClr val="C9A961"/>
            </a:solidFill>
            <a:prstDash val="solid"/>
          </a:ln>
        </p:spPr>
      </p:sp>
      <p:sp>
        <p:nvSpPr>
          <p:cNvPr id="63" name="Text 29">
            <a:extLst>
              <a:ext uri="{FF2B5EF4-FFF2-40B4-BE49-F238E27FC236}">
                <a16:creationId xmlns:a16="http://schemas.microsoft.com/office/drawing/2014/main" id="{E81E91A0-A745-7AC3-72F3-AC5C7FE97A8D}"/>
              </a:ext>
            </a:extLst>
          </p:cNvPr>
          <p:cNvSpPr/>
          <p:nvPr/>
        </p:nvSpPr>
        <p:spPr>
          <a:xfrm>
            <a:off x="640080" y="3862864"/>
            <a:ext cx="6400800" cy="1371600"/>
          </a:xfrm>
          <a:prstGeom prst="rect">
            <a:avLst/>
          </a:prstGeom>
          <a:noFill/>
          <a:ln/>
        </p:spPr>
        <p:txBody>
          <a:bodyPr wrap="square" lIns="0" tIns="0" rIns="0" bIns="0" rtlCol="0" anchor="t"/>
          <a:lstStyle/>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Telegram bot logs spending from natural language:  “60rb makan siang” becomes a categorised Rp 60.000 expense</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Grounded AI advisor: WhatsApp-style chat answering questions about the user's real transactions in Bahasa Indonesia</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Analytics suite: category donut, 7-day income-vs-expense trends, budget progress and AI-generated insights</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Cross-platform React 19 + Vite client wrapped with Capacitor 8, deployed serverless on Vercel with Excel export</a:t>
            </a:r>
            <a:endParaRPr lang="en-US" sz="1400" dirty="0"/>
          </a:p>
        </p:txBody>
      </p:sp>
      <p:sp>
        <p:nvSpPr>
          <p:cNvPr id="65" name="Shape 30">
            <a:extLst>
              <a:ext uri="{FF2B5EF4-FFF2-40B4-BE49-F238E27FC236}">
                <a16:creationId xmlns:a16="http://schemas.microsoft.com/office/drawing/2014/main" id="{D665FA71-42DD-536C-C951-47099D41A201}"/>
              </a:ext>
            </a:extLst>
          </p:cNvPr>
          <p:cNvSpPr/>
          <p:nvPr/>
        </p:nvSpPr>
        <p:spPr>
          <a:xfrm>
            <a:off x="7589520" y="1097280"/>
            <a:ext cx="4114800" cy="53035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txBody>
          <a:bodyPr/>
          <a:lstStyle/>
          <a:p>
            <a:endParaRPr lang="en-ID" dirty="0"/>
          </a:p>
        </p:txBody>
      </p:sp>
      <p:sp>
        <p:nvSpPr>
          <p:cNvPr id="67" name="Shape 31">
            <a:extLst>
              <a:ext uri="{FF2B5EF4-FFF2-40B4-BE49-F238E27FC236}">
                <a16:creationId xmlns:a16="http://schemas.microsoft.com/office/drawing/2014/main" id="{0EC16814-CBC6-F4B4-FF74-F50299AE3982}"/>
              </a:ext>
            </a:extLst>
          </p:cNvPr>
          <p:cNvSpPr/>
          <p:nvPr/>
        </p:nvSpPr>
        <p:spPr>
          <a:xfrm>
            <a:off x="7589520" y="1097280"/>
            <a:ext cx="73152" cy="5303520"/>
          </a:xfrm>
          <a:prstGeom prst="rect">
            <a:avLst/>
          </a:prstGeom>
          <a:solidFill>
            <a:srgbClr val="C9A961"/>
          </a:solidFill>
          <a:ln w="12700">
            <a:solidFill>
              <a:srgbClr val="C9A961"/>
            </a:solidFill>
            <a:prstDash val="solid"/>
          </a:ln>
        </p:spPr>
      </p:sp>
      <p:sp>
        <p:nvSpPr>
          <p:cNvPr id="69" name="Text 32">
            <a:extLst>
              <a:ext uri="{FF2B5EF4-FFF2-40B4-BE49-F238E27FC236}">
                <a16:creationId xmlns:a16="http://schemas.microsoft.com/office/drawing/2014/main" id="{4AF7C5A4-5B93-0B1E-2AC7-35AC2017399B}"/>
              </a:ext>
            </a:extLst>
          </p:cNvPr>
          <p:cNvSpPr/>
          <p:nvPr/>
        </p:nvSpPr>
        <p:spPr>
          <a:xfrm>
            <a:off x="7818120" y="5897880"/>
            <a:ext cx="3657600" cy="365760"/>
          </a:xfrm>
          <a:prstGeom prst="rect">
            <a:avLst/>
          </a:prstGeom>
          <a:noFill/>
          <a:ln/>
        </p:spPr>
        <p:txBody>
          <a:bodyPr wrap="square" lIns="0" tIns="0" rIns="0" bIns="0" rtlCol="0" anchor="ctr"/>
          <a:lstStyle/>
          <a:p>
            <a:pPr marL="0" indent="0" algn="ctr">
              <a:buNone/>
            </a:pPr>
            <a:r>
              <a:rPr lang="en-US" sz="1000" i="1" dirty="0">
                <a:solidFill>
                  <a:srgbClr val="5A5A5A"/>
                </a:solidFill>
                <a:latin typeface="Calibri" pitchFamily="34" charset="0"/>
                <a:ea typeface="Calibri" pitchFamily="34" charset="-122"/>
                <a:cs typeface="Calibri" pitchFamily="34" charset="-120"/>
              </a:rPr>
              <a:t>Saku dashboard, analytics and AI advisor</a:t>
            </a:r>
            <a:endParaRPr lang="en-US" sz="1000" dirty="0"/>
          </a:p>
        </p:txBody>
      </p:sp>
      <p:pic>
        <p:nvPicPr>
          <p:cNvPr id="71" name="Picture 70">
            <a:extLst>
              <a:ext uri="{FF2B5EF4-FFF2-40B4-BE49-F238E27FC236}">
                <a16:creationId xmlns:a16="http://schemas.microsoft.com/office/drawing/2014/main" id="{F0148691-08E3-A4ED-7DD6-C9CF3AEC4AF6}"/>
              </a:ext>
            </a:extLst>
          </p:cNvPr>
          <p:cNvPicPr>
            <a:picLocks noChangeAspect="1"/>
          </p:cNvPicPr>
          <p:nvPr/>
        </p:nvPicPr>
        <p:blipFill>
          <a:blip r:embed="rId3"/>
          <a:stretch>
            <a:fillRect/>
          </a:stretch>
        </p:blipFill>
        <p:spPr>
          <a:xfrm>
            <a:off x="8140693" y="1243584"/>
            <a:ext cx="1129284" cy="2526112"/>
          </a:xfrm>
          <a:prstGeom prst="rect">
            <a:avLst/>
          </a:prstGeom>
        </p:spPr>
      </p:pic>
      <p:pic>
        <p:nvPicPr>
          <p:cNvPr id="73" name="Picture 72">
            <a:extLst>
              <a:ext uri="{FF2B5EF4-FFF2-40B4-BE49-F238E27FC236}">
                <a16:creationId xmlns:a16="http://schemas.microsoft.com/office/drawing/2014/main" id="{8F4E2AE5-14EC-502D-470E-B3CB3AB85B1E}"/>
              </a:ext>
            </a:extLst>
          </p:cNvPr>
          <p:cNvPicPr>
            <a:picLocks noChangeAspect="1"/>
          </p:cNvPicPr>
          <p:nvPr/>
        </p:nvPicPr>
        <p:blipFill>
          <a:blip r:embed="rId4"/>
          <a:stretch>
            <a:fillRect/>
          </a:stretch>
        </p:blipFill>
        <p:spPr>
          <a:xfrm>
            <a:off x="9902632" y="1238850"/>
            <a:ext cx="1129284" cy="2529350"/>
          </a:xfrm>
          <a:prstGeom prst="rect">
            <a:avLst/>
          </a:prstGeom>
        </p:spPr>
      </p:pic>
      <p:pic>
        <p:nvPicPr>
          <p:cNvPr id="75" name="Picture 74">
            <a:extLst>
              <a:ext uri="{FF2B5EF4-FFF2-40B4-BE49-F238E27FC236}">
                <a16:creationId xmlns:a16="http://schemas.microsoft.com/office/drawing/2014/main" id="{E32F2C25-9530-39B3-D1C5-27526A7AE1A1}"/>
              </a:ext>
            </a:extLst>
          </p:cNvPr>
          <p:cNvPicPr>
            <a:picLocks noChangeAspect="1"/>
          </p:cNvPicPr>
          <p:nvPr/>
        </p:nvPicPr>
        <p:blipFill>
          <a:blip r:embed="rId5"/>
          <a:stretch>
            <a:fillRect/>
          </a:stretch>
        </p:blipFill>
        <p:spPr>
          <a:xfrm>
            <a:off x="8270021" y="3834037"/>
            <a:ext cx="922132" cy="2059924"/>
          </a:xfrm>
          <a:prstGeom prst="rect">
            <a:avLst/>
          </a:prstGeom>
        </p:spPr>
      </p:pic>
      <p:pic>
        <p:nvPicPr>
          <p:cNvPr id="77" name="Picture 76">
            <a:extLst>
              <a:ext uri="{FF2B5EF4-FFF2-40B4-BE49-F238E27FC236}">
                <a16:creationId xmlns:a16="http://schemas.microsoft.com/office/drawing/2014/main" id="{12814DF5-2C25-1C97-F9A5-E0694C3A53DB}"/>
              </a:ext>
            </a:extLst>
          </p:cNvPr>
          <p:cNvPicPr>
            <a:picLocks noChangeAspect="1"/>
          </p:cNvPicPr>
          <p:nvPr/>
        </p:nvPicPr>
        <p:blipFill>
          <a:blip r:embed="rId6"/>
          <a:stretch>
            <a:fillRect/>
          </a:stretch>
        </p:blipFill>
        <p:spPr>
          <a:xfrm>
            <a:off x="10005583" y="3817247"/>
            <a:ext cx="956860" cy="2126353"/>
          </a:xfrm>
          <a:prstGeom prst="rect">
            <a:avLst/>
          </a:prstGeom>
        </p:spPr>
      </p:pic>
    </p:spTree>
    <p:extLst>
      <p:ext uri="{BB962C8B-B14F-4D97-AF65-F5344CB8AC3E}">
        <p14:creationId xmlns:p14="http://schemas.microsoft.com/office/powerpoint/2010/main" val="3060322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8F5EE"/>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0A1628"/>
          </a:solidFill>
          <a:ln w="12700">
            <a:solidFill>
              <a:srgbClr val="0A1628"/>
            </a:solidFill>
            <a:prstDash val="solid"/>
          </a:ln>
        </p:spPr>
      </p:sp>
      <p:sp>
        <p:nvSpPr>
          <p:cNvPr id="3" name="Shape 1"/>
          <p:cNvSpPr/>
          <p:nvPr/>
        </p:nvSpPr>
        <p:spPr>
          <a:xfrm>
            <a:off x="0" y="457200"/>
            <a:ext cx="12161520" cy="36576"/>
          </a:xfrm>
          <a:prstGeom prst="rect">
            <a:avLst/>
          </a:prstGeom>
          <a:solidFill>
            <a:srgbClr val="C9A961"/>
          </a:solidFill>
          <a:ln w="12700">
            <a:solidFill>
              <a:srgbClr val="C9A961"/>
            </a:solidFill>
            <a:prstDash val="solid"/>
          </a:ln>
        </p:spPr>
      </p:sp>
      <p:sp>
        <p:nvSpPr>
          <p:cNvPr id="4" name="Text 2"/>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5" name="Text 3"/>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6" name="Text 4"/>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8 / 17</a:t>
            </a:r>
            <a:endParaRPr lang="en-US" sz="900" dirty="0"/>
          </a:p>
        </p:txBody>
      </p:sp>
      <p:sp>
        <p:nvSpPr>
          <p:cNvPr id="7" name="Shape 5"/>
          <p:cNvSpPr/>
          <p:nvPr/>
        </p:nvSpPr>
        <p:spPr>
          <a:xfrm>
            <a:off x="0" y="6565392"/>
            <a:ext cx="12161520" cy="292608"/>
          </a:xfrm>
          <a:prstGeom prst="rect">
            <a:avLst/>
          </a:prstGeom>
          <a:solidFill>
            <a:srgbClr val="1B2D4A"/>
          </a:solidFill>
          <a:ln w="12700">
            <a:solidFill>
              <a:srgbClr val="1B2D4A"/>
            </a:solidFill>
            <a:prstDash val="solid"/>
          </a:ln>
        </p:spPr>
      </p:sp>
      <p:sp>
        <p:nvSpPr>
          <p:cNvPr id="8" name="Shape 6"/>
          <p:cNvSpPr/>
          <p:nvPr/>
        </p:nvSpPr>
        <p:spPr>
          <a:xfrm>
            <a:off x="0" y="6547104"/>
            <a:ext cx="12161520" cy="18288"/>
          </a:xfrm>
          <a:prstGeom prst="rect">
            <a:avLst/>
          </a:prstGeom>
          <a:solidFill>
            <a:srgbClr val="C9A961"/>
          </a:solidFill>
          <a:ln w="12700">
            <a:solidFill>
              <a:srgbClr val="C9A961"/>
            </a:solidFill>
            <a:prstDash val="solid"/>
          </a:ln>
        </p:spPr>
      </p:sp>
      <p:sp>
        <p:nvSpPr>
          <p:cNvPr id="9" name="Text 7"/>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0" name="Text 8"/>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11" name="Text 9"/>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12" name="Text 10"/>
          <p:cNvSpPr/>
          <p:nvPr/>
        </p:nvSpPr>
        <p:spPr>
          <a:xfrm>
            <a:off x="640080" y="822960"/>
            <a:ext cx="73152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04  ·  PROJECTS (CONT.)</a:t>
            </a:r>
            <a:endParaRPr lang="en-US" sz="2000" dirty="0"/>
          </a:p>
        </p:txBody>
      </p:sp>
      <p:sp>
        <p:nvSpPr>
          <p:cNvPr id="13" name="Shape 11"/>
          <p:cNvSpPr/>
          <p:nvPr/>
        </p:nvSpPr>
        <p:spPr>
          <a:xfrm>
            <a:off x="640080" y="1115568"/>
            <a:ext cx="640080" cy="27432"/>
          </a:xfrm>
          <a:prstGeom prst="rect">
            <a:avLst/>
          </a:prstGeom>
          <a:solidFill>
            <a:srgbClr val="C9A961"/>
          </a:solidFill>
          <a:ln w="12700">
            <a:solidFill>
              <a:srgbClr val="C9A961"/>
            </a:solidFill>
            <a:prstDash val="solid"/>
          </a:ln>
        </p:spPr>
      </p:sp>
      <p:sp>
        <p:nvSpPr>
          <p:cNvPr id="14" name="Text 12"/>
          <p:cNvSpPr/>
          <p:nvPr/>
        </p:nvSpPr>
        <p:spPr>
          <a:xfrm>
            <a:off x="640080" y="1207008"/>
            <a:ext cx="6400800" cy="228600"/>
          </a:xfrm>
          <a:prstGeom prst="rect">
            <a:avLst/>
          </a:prstGeom>
          <a:noFill/>
          <a:ln/>
        </p:spPr>
        <p:txBody>
          <a:bodyPr wrap="square" lIns="0" tIns="0" rIns="0" bIns="0" rtlCol="0" anchor="ctr"/>
          <a:lstStyle/>
          <a:p>
            <a:pPr marL="0" indent="0">
              <a:buNone/>
            </a:pPr>
            <a:r>
              <a:rPr lang="en-US" sz="1000" b="1" dirty="0">
                <a:solidFill>
                  <a:srgbClr val="5A5A5A"/>
                </a:solidFill>
                <a:latin typeface="Calibri" pitchFamily="34" charset="0"/>
                <a:ea typeface="Calibri" pitchFamily="34" charset="-122"/>
                <a:cs typeface="Calibri" pitchFamily="34" charset="-120"/>
              </a:rPr>
              <a:t>MACHINE LEARNING COURSE · 2024</a:t>
            </a:r>
            <a:endParaRPr lang="en-US" sz="1000" dirty="0"/>
          </a:p>
        </p:txBody>
      </p:sp>
      <p:sp>
        <p:nvSpPr>
          <p:cNvPr id="15" name="Text 13"/>
          <p:cNvSpPr/>
          <p:nvPr/>
        </p:nvSpPr>
        <p:spPr>
          <a:xfrm>
            <a:off x="640080" y="1444752"/>
            <a:ext cx="6400800" cy="777240"/>
          </a:xfrm>
          <a:prstGeom prst="rect">
            <a:avLst/>
          </a:prstGeom>
          <a:noFill/>
          <a:ln/>
        </p:spPr>
        <p:txBody>
          <a:bodyPr wrap="square" lIns="0" tIns="0" rIns="0" bIns="0" rtlCol="0" anchor="t"/>
          <a:lstStyle/>
          <a:p>
            <a:pPr marL="0" indent="0">
              <a:buNone/>
            </a:pPr>
            <a:r>
              <a:rPr lang="en-US" sz="2400" b="1" dirty="0">
                <a:solidFill>
                  <a:srgbClr val="0A1628"/>
                </a:solidFill>
                <a:latin typeface="Calibri" pitchFamily="34" charset="0"/>
                <a:ea typeface="Calibri" pitchFamily="34" charset="-122"/>
                <a:cs typeface="Calibri" pitchFamily="34" charset="-120"/>
              </a:rPr>
              <a:t>Iris Flower Classification with Support Vector Machine</a:t>
            </a:r>
            <a:endParaRPr lang="en-US" sz="2400" dirty="0"/>
          </a:p>
        </p:txBody>
      </p:sp>
      <p:sp>
        <p:nvSpPr>
          <p:cNvPr id="16" name="Text 14"/>
          <p:cNvSpPr/>
          <p:nvPr/>
        </p:nvSpPr>
        <p:spPr>
          <a:xfrm>
            <a:off x="640080" y="2240280"/>
            <a:ext cx="6400800" cy="274320"/>
          </a:xfrm>
          <a:prstGeom prst="rect">
            <a:avLst/>
          </a:prstGeom>
          <a:noFill/>
          <a:ln/>
        </p:spPr>
        <p:txBody>
          <a:bodyPr wrap="square" lIns="0" tIns="0" rIns="0" bIns="0"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Developer</a:t>
            </a:r>
            <a:endParaRPr lang="en-US" sz="1200" dirty="0"/>
          </a:p>
        </p:txBody>
      </p:sp>
      <p:sp>
        <p:nvSpPr>
          <p:cNvPr id="17" name="Shape 15"/>
          <p:cNvSpPr/>
          <p:nvPr/>
        </p:nvSpPr>
        <p:spPr>
          <a:xfrm>
            <a:off x="6693781" y="1563251"/>
            <a:ext cx="594360" cy="594360"/>
          </a:xfrm>
          <a:prstGeom prst="ellipse">
            <a:avLst/>
          </a:prstGeom>
          <a:solidFill>
            <a:srgbClr val="0A1628"/>
          </a:solidFill>
          <a:ln w="8890">
            <a:solidFill>
              <a:srgbClr val="C9A961"/>
            </a:solidFill>
            <a:prstDash val="solid"/>
          </a:ln>
        </p:spPr>
      </p:sp>
      <p:pic>
        <p:nvPicPr>
          <p:cNvPr id="18" name="Image 0" descr="/home/claude/icons/proj_iris.png"/>
          <p:cNvPicPr>
            <a:picLocks noChangeAspect="1"/>
          </p:cNvPicPr>
          <p:nvPr/>
        </p:nvPicPr>
        <p:blipFill>
          <a:blip r:embed="rId3"/>
          <a:stretch>
            <a:fillRect/>
          </a:stretch>
        </p:blipFill>
        <p:spPr>
          <a:xfrm>
            <a:off x="6835140" y="1720007"/>
            <a:ext cx="320040" cy="274320"/>
          </a:xfrm>
          <a:prstGeom prst="rect">
            <a:avLst/>
          </a:prstGeom>
        </p:spPr>
      </p:pic>
      <p:sp>
        <p:nvSpPr>
          <p:cNvPr id="19" name="Shape 16"/>
          <p:cNvSpPr/>
          <p:nvPr/>
        </p:nvSpPr>
        <p:spPr>
          <a:xfrm>
            <a:off x="640080" y="2606040"/>
            <a:ext cx="649224" cy="292608"/>
          </a:xfrm>
          <a:prstGeom prst="rect">
            <a:avLst/>
          </a:prstGeom>
          <a:solidFill>
            <a:srgbClr val="0A1628"/>
          </a:solidFill>
          <a:ln w="12700">
            <a:solidFill>
              <a:srgbClr val="0A1628"/>
            </a:solidFill>
            <a:prstDash val="solid"/>
          </a:ln>
        </p:spPr>
      </p:sp>
      <p:sp>
        <p:nvSpPr>
          <p:cNvPr id="20" name="Text 17"/>
          <p:cNvSpPr/>
          <p:nvPr/>
        </p:nvSpPr>
        <p:spPr>
          <a:xfrm>
            <a:off x="640080" y="2606040"/>
            <a:ext cx="649224"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Python</a:t>
            </a:r>
            <a:endParaRPr lang="en-US" sz="1000" dirty="0"/>
          </a:p>
        </p:txBody>
      </p:sp>
      <p:sp>
        <p:nvSpPr>
          <p:cNvPr id="21" name="Shape 18"/>
          <p:cNvSpPr/>
          <p:nvPr/>
        </p:nvSpPr>
        <p:spPr>
          <a:xfrm>
            <a:off x="1380744" y="2606040"/>
            <a:ext cx="457200" cy="292608"/>
          </a:xfrm>
          <a:prstGeom prst="rect">
            <a:avLst/>
          </a:prstGeom>
          <a:solidFill>
            <a:srgbClr val="0A1628"/>
          </a:solidFill>
          <a:ln w="12700">
            <a:solidFill>
              <a:srgbClr val="0A1628"/>
            </a:solidFill>
            <a:prstDash val="solid"/>
          </a:ln>
        </p:spPr>
      </p:sp>
      <p:sp>
        <p:nvSpPr>
          <p:cNvPr id="22" name="Text 19"/>
          <p:cNvSpPr/>
          <p:nvPr/>
        </p:nvSpPr>
        <p:spPr>
          <a:xfrm>
            <a:off x="1380744" y="2606040"/>
            <a:ext cx="45720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SVM</a:t>
            </a:r>
            <a:endParaRPr lang="en-US" sz="1000" dirty="0"/>
          </a:p>
        </p:txBody>
      </p:sp>
      <p:sp>
        <p:nvSpPr>
          <p:cNvPr id="23" name="Shape 20"/>
          <p:cNvSpPr/>
          <p:nvPr/>
        </p:nvSpPr>
        <p:spPr>
          <a:xfrm>
            <a:off x="1929384" y="2606040"/>
            <a:ext cx="1115568" cy="292608"/>
          </a:xfrm>
          <a:prstGeom prst="rect">
            <a:avLst/>
          </a:prstGeom>
          <a:solidFill>
            <a:srgbClr val="0A1628"/>
          </a:solidFill>
          <a:ln w="12700">
            <a:solidFill>
              <a:srgbClr val="0A1628"/>
            </a:solidFill>
            <a:prstDash val="solid"/>
          </a:ln>
        </p:spPr>
      </p:sp>
      <p:sp>
        <p:nvSpPr>
          <p:cNvPr id="24" name="Text 21"/>
          <p:cNvSpPr/>
          <p:nvPr/>
        </p:nvSpPr>
        <p:spPr>
          <a:xfrm>
            <a:off x="1929384" y="2606040"/>
            <a:ext cx="1115568"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Scikit-learn</a:t>
            </a:r>
            <a:endParaRPr lang="en-US" sz="1000" dirty="0"/>
          </a:p>
        </p:txBody>
      </p:sp>
      <p:sp>
        <p:nvSpPr>
          <p:cNvPr id="25" name="Shape 22"/>
          <p:cNvSpPr/>
          <p:nvPr/>
        </p:nvSpPr>
        <p:spPr>
          <a:xfrm>
            <a:off x="3136392" y="2606040"/>
            <a:ext cx="1115568" cy="292608"/>
          </a:xfrm>
          <a:prstGeom prst="rect">
            <a:avLst/>
          </a:prstGeom>
          <a:solidFill>
            <a:srgbClr val="0A1628"/>
          </a:solidFill>
          <a:ln w="12700">
            <a:solidFill>
              <a:srgbClr val="0A1628"/>
            </a:solidFill>
            <a:prstDash val="solid"/>
          </a:ln>
        </p:spPr>
      </p:sp>
      <p:sp>
        <p:nvSpPr>
          <p:cNvPr id="26" name="Text 23"/>
          <p:cNvSpPr/>
          <p:nvPr/>
        </p:nvSpPr>
        <p:spPr>
          <a:xfrm>
            <a:off x="3136392" y="2606040"/>
            <a:ext cx="1115568"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Google Colab</a:t>
            </a:r>
            <a:endParaRPr lang="en-US" sz="1000" dirty="0"/>
          </a:p>
        </p:txBody>
      </p:sp>
      <p:sp>
        <p:nvSpPr>
          <p:cNvPr id="27" name="Text 24"/>
          <p:cNvSpPr/>
          <p:nvPr/>
        </p:nvSpPr>
        <p:spPr>
          <a:xfrm>
            <a:off x="640080" y="3108960"/>
            <a:ext cx="6400800" cy="1371600"/>
          </a:xfrm>
          <a:prstGeom prst="rect">
            <a:avLst/>
          </a:prstGeom>
          <a:noFill/>
          <a:ln/>
        </p:spPr>
        <p:txBody>
          <a:bodyPr wrap="square" lIns="0" tIns="0" rIns="0" bIns="0" rtlCol="0" anchor="t"/>
          <a:lstStyle/>
          <a:p>
            <a:pPr marL="0" indent="0" algn="just">
              <a:buNone/>
            </a:pPr>
            <a:r>
              <a:rPr lang="en-US" sz="1400" dirty="0">
                <a:solidFill>
                  <a:srgbClr val="1A1A1A"/>
                </a:solidFill>
                <a:latin typeface="Calibri" pitchFamily="34" charset="0"/>
                <a:ea typeface="Calibri" pitchFamily="34" charset="-122"/>
                <a:cs typeface="Calibri" pitchFamily="34" charset="-120"/>
              </a:rPr>
              <a:t>Built and evaluated a Support Vector Machine model to classify Iris flower species using petal and sepal measurements. The project followed a complete ML pipeline — from exploratory data analysis and preprocessing through model training, evaluation with confusion matrices, and classification reporting — strengthening my foundation in supervised learning workflows.</a:t>
            </a:r>
            <a:endParaRPr lang="en-US" sz="1400" dirty="0"/>
          </a:p>
        </p:txBody>
      </p:sp>
      <p:sp>
        <p:nvSpPr>
          <p:cNvPr id="28" name="Text 25"/>
          <p:cNvSpPr/>
          <p:nvPr/>
        </p:nvSpPr>
        <p:spPr>
          <a:xfrm>
            <a:off x="640080" y="4366260"/>
            <a:ext cx="2743200" cy="274320"/>
          </a:xfrm>
          <a:prstGeom prst="rect">
            <a:avLst/>
          </a:prstGeom>
          <a:noFill/>
          <a:ln/>
        </p:spPr>
        <p:txBody>
          <a:bodyPr wrap="square" lIns="0" tIns="0" rIns="0" bIns="0" rtlCol="0" anchor="ctr"/>
          <a:lstStyle/>
          <a:p>
            <a:pPr marL="0" indent="0">
              <a:buNone/>
            </a:pPr>
            <a:r>
              <a:rPr lang="en-US" sz="1400" b="1" dirty="0">
                <a:solidFill>
                  <a:srgbClr val="C9A961"/>
                </a:solidFill>
                <a:latin typeface="Calibri" pitchFamily="34" charset="0"/>
                <a:ea typeface="Calibri" pitchFamily="34" charset="-122"/>
                <a:cs typeface="Calibri" pitchFamily="34" charset="-120"/>
              </a:rPr>
              <a:t>KEY HIGHLIGHTS</a:t>
            </a:r>
            <a:endParaRPr lang="en-US" sz="1400" dirty="0"/>
          </a:p>
        </p:txBody>
      </p:sp>
      <p:sp>
        <p:nvSpPr>
          <p:cNvPr id="29" name="Shape 26"/>
          <p:cNvSpPr/>
          <p:nvPr/>
        </p:nvSpPr>
        <p:spPr>
          <a:xfrm>
            <a:off x="640080" y="4640580"/>
            <a:ext cx="457200" cy="22860"/>
          </a:xfrm>
          <a:prstGeom prst="rect">
            <a:avLst/>
          </a:prstGeom>
          <a:solidFill>
            <a:srgbClr val="C9A961"/>
          </a:solidFill>
          <a:ln w="12700">
            <a:solidFill>
              <a:srgbClr val="C9A961"/>
            </a:solidFill>
            <a:prstDash val="solid"/>
          </a:ln>
        </p:spPr>
      </p:sp>
      <p:sp>
        <p:nvSpPr>
          <p:cNvPr id="30" name="Text 27"/>
          <p:cNvSpPr/>
          <p:nvPr/>
        </p:nvSpPr>
        <p:spPr>
          <a:xfrm>
            <a:off x="640080" y="4700389"/>
            <a:ext cx="6400800" cy="1371600"/>
          </a:xfrm>
          <a:prstGeom prst="rect">
            <a:avLst/>
          </a:prstGeom>
          <a:noFill/>
          <a:ln/>
        </p:spPr>
        <p:txBody>
          <a:bodyPr wrap="square" lIns="0" tIns="0" rIns="0" bIns="0" rtlCol="0" anchor="t"/>
          <a:lstStyle/>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Achieved over 90% classification accuracy on test set with linear-kernel SVM</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Train-test split of 80:20 with proper cross-validation methodology</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Full ML pipeline: preprocessing, training, evaluation, and reporting</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Practical foundation for advanced supervised learning workflows</a:t>
            </a:r>
            <a:endParaRPr lang="en-US" sz="1400" dirty="0"/>
          </a:p>
        </p:txBody>
      </p:sp>
      <p:sp>
        <p:nvSpPr>
          <p:cNvPr id="31" name="Shape 28"/>
          <p:cNvSpPr/>
          <p:nvPr/>
        </p:nvSpPr>
        <p:spPr>
          <a:xfrm>
            <a:off x="7429500" y="1097280"/>
            <a:ext cx="4274820" cy="53035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32" name="Shape 29"/>
          <p:cNvSpPr/>
          <p:nvPr/>
        </p:nvSpPr>
        <p:spPr>
          <a:xfrm>
            <a:off x="7318045" y="1097280"/>
            <a:ext cx="73152" cy="5303520"/>
          </a:xfrm>
          <a:prstGeom prst="rect">
            <a:avLst/>
          </a:prstGeom>
          <a:solidFill>
            <a:srgbClr val="C9A961"/>
          </a:solidFill>
          <a:ln w="12700">
            <a:solidFill>
              <a:srgbClr val="C9A961"/>
            </a:solidFill>
            <a:prstDash val="solid"/>
          </a:ln>
        </p:spPr>
      </p:sp>
      <p:pic>
        <p:nvPicPr>
          <p:cNvPr id="33" name="Image 1" descr="/home/claude/project_imgs/iris_cm.jpg"/>
          <p:cNvPicPr>
            <a:picLocks noChangeAspect="1"/>
          </p:cNvPicPr>
          <p:nvPr/>
        </p:nvPicPr>
        <p:blipFill>
          <a:blip r:embed="rId4"/>
          <a:srcRect/>
          <a:stretch/>
        </p:blipFill>
        <p:spPr>
          <a:xfrm>
            <a:off x="7565306" y="1482263"/>
            <a:ext cx="3910414" cy="4086433"/>
          </a:xfrm>
          <a:prstGeom prst="rect">
            <a:avLst/>
          </a:prstGeom>
        </p:spPr>
      </p:pic>
      <p:sp>
        <p:nvSpPr>
          <p:cNvPr id="34" name="Text 30"/>
          <p:cNvSpPr/>
          <p:nvPr/>
        </p:nvSpPr>
        <p:spPr>
          <a:xfrm>
            <a:off x="7818120" y="5897880"/>
            <a:ext cx="3657600" cy="365760"/>
          </a:xfrm>
          <a:prstGeom prst="rect">
            <a:avLst/>
          </a:prstGeom>
          <a:noFill/>
          <a:ln/>
        </p:spPr>
        <p:txBody>
          <a:bodyPr wrap="square" lIns="0" tIns="0" rIns="0" bIns="0" rtlCol="0" anchor="ctr"/>
          <a:lstStyle/>
          <a:p>
            <a:pPr marL="0" indent="0" algn="ctr">
              <a:buNone/>
            </a:pPr>
            <a:r>
              <a:rPr lang="en-US" sz="1000" i="1" dirty="0">
                <a:solidFill>
                  <a:srgbClr val="5A5A5A"/>
                </a:solidFill>
                <a:latin typeface="Calibri" pitchFamily="34" charset="0"/>
                <a:ea typeface="Calibri" pitchFamily="34" charset="-122"/>
                <a:cs typeface="Calibri" pitchFamily="34" charset="-120"/>
              </a:rPr>
              <a:t>Confusion matrix — training vs testing performance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8F5EE"/>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0A1628"/>
          </a:solidFill>
          <a:ln w="12700">
            <a:solidFill>
              <a:srgbClr val="0A1628"/>
            </a:solidFill>
            <a:prstDash val="solid"/>
          </a:ln>
        </p:spPr>
      </p:sp>
      <p:sp>
        <p:nvSpPr>
          <p:cNvPr id="3" name="Shape 1"/>
          <p:cNvSpPr/>
          <p:nvPr/>
        </p:nvSpPr>
        <p:spPr>
          <a:xfrm>
            <a:off x="0" y="457200"/>
            <a:ext cx="12161520" cy="36576"/>
          </a:xfrm>
          <a:prstGeom prst="rect">
            <a:avLst/>
          </a:prstGeom>
          <a:solidFill>
            <a:srgbClr val="C9A961"/>
          </a:solidFill>
          <a:ln w="12700">
            <a:solidFill>
              <a:srgbClr val="C9A961"/>
            </a:solidFill>
            <a:prstDash val="solid"/>
          </a:ln>
        </p:spPr>
      </p:sp>
      <p:sp>
        <p:nvSpPr>
          <p:cNvPr id="4" name="Text 2"/>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5" name="Text 3"/>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6" name="Text 4"/>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9 / 17</a:t>
            </a:r>
            <a:endParaRPr lang="en-US" sz="900" dirty="0"/>
          </a:p>
        </p:txBody>
      </p:sp>
      <p:sp>
        <p:nvSpPr>
          <p:cNvPr id="7" name="Shape 5"/>
          <p:cNvSpPr/>
          <p:nvPr/>
        </p:nvSpPr>
        <p:spPr>
          <a:xfrm>
            <a:off x="0" y="6565392"/>
            <a:ext cx="12161520" cy="292608"/>
          </a:xfrm>
          <a:prstGeom prst="rect">
            <a:avLst/>
          </a:prstGeom>
          <a:solidFill>
            <a:srgbClr val="1B2D4A"/>
          </a:solidFill>
          <a:ln w="12700">
            <a:solidFill>
              <a:srgbClr val="1B2D4A"/>
            </a:solidFill>
            <a:prstDash val="solid"/>
          </a:ln>
        </p:spPr>
      </p:sp>
      <p:sp>
        <p:nvSpPr>
          <p:cNvPr id="8" name="Shape 6"/>
          <p:cNvSpPr/>
          <p:nvPr/>
        </p:nvSpPr>
        <p:spPr>
          <a:xfrm>
            <a:off x="0" y="6547104"/>
            <a:ext cx="12161520" cy="18288"/>
          </a:xfrm>
          <a:prstGeom prst="rect">
            <a:avLst/>
          </a:prstGeom>
          <a:solidFill>
            <a:srgbClr val="C9A961"/>
          </a:solidFill>
          <a:ln w="12700">
            <a:solidFill>
              <a:srgbClr val="C9A961"/>
            </a:solidFill>
            <a:prstDash val="solid"/>
          </a:ln>
        </p:spPr>
      </p:sp>
      <p:sp>
        <p:nvSpPr>
          <p:cNvPr id="9" name="Text 7"/>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0" name="Text 8"/>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11" name="Text 9"/>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12" name="Text 10"/>
          <p:cNvSpPr/>
          <p:nvPr/>
        </p:nvSpPr>
        <p:spPr>
          <a:xfrm>
            <a:off x="640080" y="822960"/>
            <a:ext cx="73152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04  ·  PROJECTS (CONT.)</a:t>
            </a:r>
            <a:endParaRPr lang="en-US" sz="2000" dirty="0"/>
          </a:p>
        </p:txBody>
      </p:sp>
      <p:sp>
        <p:nvSpPr>
          <p:cNvPr id="13" name="Shape 11"/>
          <p:cNvSpPr/>
          <p:nvPr/>
        </p:nvSpPr>
        <p:spPr>
          <a:xfrm>
            <a:off x="640080" y="1115568"/>
            <a:ext cx="640080" cy="27432"/>
          </a:xfrm>
          <a:prstGeom prst="rect">
            <a:avLst/>
          </a:prstGeom>
          <a:solidFill>
            <a:srgbClr val="C9A961"/>
          </a:solidFill>
          <a:ln w="12700">
            <a:solidFill>
              <a:srgbClr val="C9A961"/>
            </a:solidFill>
            <a:prstDash val="solid"/>
          </a:ln>
        </p:spPr>
      </p:sp>
      <p:sp>
        <p:nvSpPr>
          <p:cNvPr id="14" name="Text 12"/>
          <p:cNvSpPr/>
          <p:nvPr/>
        </p:nvSpPr>
        <p:spPr>
          <a:xfrm>
            <a:off x="640080" y="1207008"/>
            <a:ext cx="6400800" cy="228600"/>
          </a:xfrm>
          <a:prstGeom prst="rect">
            <a:avLst/>
          </a:prstGeom>
          <a:noFill/>
          <a:ln/>
        </p:spPr>
        <p:txBody>
          <a:bodyPr wrap="square" lIns="0" tIns="0" rIns="0" bIns="0" rtlCol="0" anchor="ctr"/>
          <a:lstStyle/>
          <a:p>
            <a:pPr marL="0" indent="0">
              <a:buNone/>
            </a:pPr>
            <a:r>
              <a:rPr lang="en-US" sz="1000" b="1" dirty="0">
                <a:solidFill>
                  <a:srgbClr val="5A5A5A"/>
                </a:solidFill>
                <a:latin typeface="Calibri" pitchFamily="34" charset="0"/>
                <a:ea typeface="Calibri" pitchFamily="34" charset="-122"/>
                <a:cs typeface="Calibri" pitchFamily="34" charset="-120"/>
              </a:rPr>
              <a:t>PKM-KC FUNDED PROJECT · 2024</a:t>
            </a:r>
            <a:endParaRPr lang="en-US" sz="1000" dirty="0"/>
          </a:p>
        </p:txBody>
      </p:sp>
      <p:sp>
        <p:nvSpPr>
          <p:cNvPr id="15" name="Text 13"/>
          <p:cNvSpPr/>
          <p:nvPr/>
        </p:nvSpPr>
        <p:spPr>
          <a:xfrm>
            <a:off x="640080" y="1444752"/>
            <a:ext cx="6400800" cy="777240"/>
          </a:xfrm>
          <a:prstGeom prst="rect">
            <a:avLst/>
          </a:prstGeom>
          <a:noFill/>
          <a:ln/>
        </p:spPr>
        <p:txBody>
          <a:bodyPr wrap="square" lIns="0" tIns="0" rIns="0" bIns="0" rtlCol="0" anchor="t"/>
          <a:lstStyle/>
          <a:p>
            <a:pPr marL="0" indent="0">
              <a:buNone/>
            </a:pPr>
            <a:r>
              <a:rPr lang="en-US" sz="2400" b="1" dirty="0">
                <a:solidFill>
                  <a:srgbClr val="0A1628"/>
                </a:solidFill>
                <a:latin typeface="Calibri" pitchFamily="34" charset="0"/>
                <a:ea typeface="Calibri" pitchFamily="34" charset="-122"/>
                <a:cs typeface="Calibri" pitchFamily="34" charset="-120"/>
              </a:rPr>
              <a:t>AromatheraWrist — Smart Bracelet for Anxiety Relief</a:t>
            </a:r>
            <a:endParaRPr lang="en-US" sz="2400" dirty="0"/>
          </a:p>
        </p:txBody>
      </p:sp>
      <p:sp>
        <p:nvSpPr>
          <p:cNvPr id="16" name="Text 14"/>
          <p:cNvSpPr/>
          <p:nvPr/>
        </p:nvSpPr>
        <p:spPr>
          <a:xfrm>
            <a:off x="640080" y="2240280"/>
            <a:ext cx="6400800" cy="274320"/>
          </a:xfrm>
          <a:prstGeom prst="rect">
            <a:avLst/>
          </a:prstGeom>
          <a:noFill/>
          <a:ln/>
        </p:spPr>
        <p:txBody>
          <a:bodyPr wrap="square" lIns="0" tIns="0" rIns="0" bIns="0"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Lead Developer · PKM-KC Team</a:t>
            </a:r>
            <a:endParaRPr lang="en-US" sz="1200" dirty="0"/>
          </a:p>
        </p:txBody>
      </p:sp>
      <p:sp>
        <p:nvSpPr>
          <p:cNvPr id="17" name="Shape 15"/>
          <p:cNvSpPr/>
          <p:nvPr/>
        </p:nvSpPr>
        <p:spPr>
          <a:xfrm>
            <a:off x="6903720" y="1554480"/>
            <a:ext cx="594360" cy="594360"/>
          </a:xfrm>
          <a:prstGeom prst="ellipse">
            <a:avLst/>
          </a:prstGeom>
          <a:solidFill>
            <a:srgbClr val="0A1628"/>
          </a:solidFill>
          <a:ln w="8890">
            <a:solidFill>
              <a:srgbClr val="C9A961"/>
            </a:solidFill>
            <a:prstDash val="solid"/>
          </a:ln>
        </p:spPr>
      </p:sp>
      <p:pic>
        <p:nvPicPr>
          <p:cNvPr id="18" name="Image 0" descr="/home/claude/icons/proj_aroma.png"/>
          <p:cNvPicPr>
            <a:picLocks noChangeAspect="1"/>
          </p:cNvPicPr>
          <p:nvPr/>
        </p:nvPicPr>
        <p:blipFill>
          <a:blip r:embed="rId3"/>
          <a:stretch>
            <a:fillRect/>
          </a:stretch>
        </p:blipFill>
        <p:spPr>
          <a:xfrm>
            <a:off x="7040880" y="1691640"/>
            <a:ext cx="320040" cy="320040"/>
          </a:xfrm>
          <a:prstGeom prst="rect">
            <a:avLst/>
          </a:prstGeom>
        </p:spPr>
      </p:pic>
      <p:sp>
        <p:nvSpPr>
          <p:cNvPr id="19" name="Shape 16"/>
          <p:cNvSpPr/>
          <p:nvPr/>
        </p:nvSpPr>
        <p:spPr>
          <a:xfrm>
            <a:off x="640080" y="2606040"/>
            <a:ext cx="804672" cy="292608"/>
          </a:xfrm>
          <a:prstGeom prst="rect">
            <a:avLst/>
          </a:prstGeom>
          <a:solidFill>
            <a:srgbClr val="0A1628"/>
          </a:solidFill>
          <a:ln w="12700">
            <a:solidFill>
              <a:srgbClr val="0A1628"/>
            </a:solidFill>
            <a:prstDash val="solid"/>
          </a:ln>
        </p:spPr>
      </p:sp>
      <p:sp>
        <p:nvSpPr>
          <p:cNvPr id="20" name="Text 17"/>
          <p:cNvSpPr/>
          <p:nvPr/>
        </p:nvSpPr>
        <p:spPr>
          <a:xfrm>
            <a:off x="640080" y="2606040"/>
            <a:ext cx="804672"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Wearable</a:t>
            </a:r>
            <a:endParaRPr lang="en-US" sz="1000" dirty="0"/>
          </a:p>
        </p:txBody>
      </p:sp>
      <p:sp>
        <p:nvSpPr>
          <p:cNvPr id="21" name="Shape 18"/>
          <p:cNvSpPr/>
          <p:nvPr/>
        </p:nvSpPr>
        <p:spPr>
          <a:xfrm>
            <a:off x="1536192" y="2606040"/>
            <a:ext cx="960120" cy="292608"/>
          </a:xfrm>
          <a:prstGeom prst="rect">
            <a:avLst/>
          </a:prstGeom>
          <a:solidFill>
            <a:srgbClr val="0A1628"/>
          </a:solidFill>
          <a:ln w="12700">
            <a:solidFill>
              <a:srgbClr val="0A1628"/>
            </a:solidFill>
            <a:prstDash val="solid"/>
          </a:ln>
        </p:spPr>
      </p:sp>
      <p:sp>
        <p:nvSpPr>
          <p:cNvPr id="22" name="Text 19"/>
          <p:cNvSpPr/>
          <p:nvPr/>
        </p:nvSpPr>
        <p:spPr>
          <a:xfrm>
            <a:off x="1536192" y="2606040"/>
            <a:ext cx="96012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Biomedical</a:t>
            </a:r>
            <a:endParaRPr lang="en-US" sz="1000" dirty="0"/>
          </a:p>
        </p:txBody>
      </p:sp>
      <p:sp>
        <p:nvSpPr>
          <p:cNvPr id="23" name="Shape 20"/>
          <p:cNvSpPr/>
          <p:nvPr/>
        </p:nvSpPr>
        <p:spPr>
          <a:xfrm>
            <a:off x="2587752" y="2606040"/>
            <a:ext cx="960120" cy="292608"/>
          </a:xfrm>
          <a:prstGeom prst="rect">
            <a:avLst/>
          </a:prstGeom>
          <a:solidFill>
            <a:srgbClr val="0A1628"/>
          </a:solidFill>
          <a:ln w="12700">
            <a:solidFill>
              <a:srgbClr val="0A1628"/>
            </a:solidFill>
            <a:prstDash val="solid"/>
          </a:ln>
        </p:spPr>
      </p:sp>
      <p:sp>
        <p:nvSpPr>
          <p:cNvPr id="24" name="Text 21"/>
          <p:cNvSpPr/>
          <p:nvPr/>
        </p:nvSpPr>
        <p:spPr>
          <a:xfrm>
            <a:off x="2587752" y="2606040"/>
            <a:ext cx="96012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Mobile App</a:t>
            </a:r>
            <a:endParaRPr lang="en-US" sz="1000" dirty="0"/>
          </a:p>
        </p:txBody>
      </p:sp>
      <p:sp>
        <p:nvSpPr>
          <p:cNvPr id="25" name="Shape 22"/>
          <p:cNvSpPr/>
          <p:nvPr/>
        </p:nvSpPr>
        <p:spPr>
          <a:xfrm>
            <a:off x="3639312" y="2606040"/>
            <a:ext cx="804672" cy="292608"/>
          </a:xfrm>
          <a:prstGeom prst="rect">
            <a:avLst/>
          </a:prstGeom>
          <a:solidFill>
            <a:srgbClr val="0A1628"/>
          </a:solidFill>
          <a:ln w="12700">
            <a:solidFill>
              <a:srgbClr val="0A1628"/>
            </a:solidFill>
            <a:prstDash val="solid"/>
          </a:ln>
        </p:spPr>
      </p:sp>
      <p:sp>
        <p:nvSpPr>
          <p:cNvPr id="26" name="Text 23"/>
          <p:cNvSpPr/>
          <p:nvPr/>
        </p:nvSpPr>
        <p:spPr>
          <a:xfrm>
            <a:off x="3639312" y="2606040"/>
            <a:ext cx="804672"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Embedded</a:t>
            </a:r>
            <a:endParaRPr lang="en-US" sz="1000" dirty="0"/>
          </a:p>
        </p:txBody>
      </p:sp>
      <p:sp>
        <p:nvSpPr>
          <p:cNvPr id="27" name="Text 24"/>
          <p:cNvSpPr/>
          <p:nvPr/>
        </p:nvSpPr>
        <p:spPr>
          <a:xfrm>
            <a:off x="640080" y="3108960"/>
            <a:ext cx="6400800" cy="841248"/>
          </a:xfrm>
          <a:prstGeom prst="rect">
            <a:avLst/>
          </a:prstGeom>
          <a:noFill/>
          <a:ln/>
        </p:spPr>
        <p:txBody>
          <a:bodyPr wrap="square" lIns="0" tIns="0" rIns="0" bIns="0" rtlCol="0" anchor="t"/>
          <a:lstStyle/>
          <a:p>
            <a:pPr marL="0" indent="0" algn="just">
              <a:buNone/>
            </a:pPr>
            <a:r>
              <a:rPr lang="en-US" sz="1400" dirty="0">
                <a:solidFill>
                  <a:srgbClr val="1A1A1A"/>
                </a:solidFill>
                <a:latin typeface="Calibri" pitchFamily="34" charset="0"/>
                <a:ea typeface="Calibri" pitchFamily="34" charset="-122"/>
                <a:cs typeface="Calibri" pitchFamily="34" charset="-120"/>
              </a:rPr>
              <a:t>An innovative wearable bracelet that integrates aromatherapy delivery with a real-time pulse sensor, controlled via a companion mobile application to help reduce anxiety symptoms in users. The project combined biomedical signal processing with user-centered design, and was awarded PKM Karsa Cipta funding by the Indonesian Ministry of Education.</a:t>
            </a:r>
            <a:endParaRPr lang="en-US" sz="1400" dirty="0"/>
          </a:p>
        </p:txBody>
      </p:sp>
      <p:sp>
        <p:nvSpPr>
          <p:cNvPr id="28" name="Text 25"/>
          <p:cNvSpPr/>
          <p:nvPr/>
        </p:nvSpPr>
        <p:spPr>
          <a:xfrm>
            <a:off x="640080" y="4353664"/>
            <a:ext cx="2743200" cy="274320"/>
          </a:xfrm>
          <a:prstGeom prst="rect">
            <a:avLst/>
          </a:prstGeom>
          <a:noFill/>
          <a:ln/>
        </p:spPr>
        <p:txBody>
          <a:bodyPr wrap="square" lIns="0" tIns="0" rIns="0" bIns="0" rtlCol="0" anchor="ctr"/>
          <a:lstStyle/>
          <a:p>
            <a:pPr marL="0" indent="0">
              <a:buNone/>
            </a:pPr>
            <a:r>
              <a:rPr lang="en-US" sz="1400" b="1" dirty="0">
                <a:solidFill>
                  <a:srgbClr val="C9A961"/>
                </a:solidFill>
                <a:latin typeface="Calibri" pitchFamily="34" charset="0"/>
                <a:ea typeface="Calibri" pitchFamily="34" charset="-122"/>
                <a:cs typeface="Calibri" pitchFamily="34" charset="-120"/>
              </a:rPr>
              <a:t>KEY HIGHLIGHTS</a:t>
            </a:r>
            <a:endParaRPr lang="en-US" sz="1400" dirty="0"/>
          </a:p>
        </p:txBody>
      </p:sp>
      <p:sp>
        <p:nvSpPr>
          <p:cNvPr id="29" name="Shape 26"/>
          <p:cNvSpPr/>
          <p:nvPr/>
        </p:nvSpPr>
        <p:spPr>
          <a:xfrm>
            <a:off x="640080" y="4623412"/>
            <a:ext cx="457200" cy="22860"/>
          </a:xfrm>
          <a:prstGeom prst="rect">
            <a:avLst/>
          </a:prstGeom>
          <a:solidFill>
            <a:srgbClr val="C9A961"/>
          </a:solidFill>
          <a:ln w="12700">
            <a:solidFill>
              <a:srgbClr val="C9A961"/>
            </a:solidFill>
            <a:prstDash val="solid"/>
          </a:ln>
        </p:spPr>
      </p:sp>
      <p:sp>
        <p:nvSpPr>
          <p:cNvPr id="30" name="Text 27"/>
          <p:cNvSpPr/>
          <p:nvPr/>
        </p:nvSpPr>
        <p:spPr>
          <a:xfrm>
            <a:off x="640080" y="4701323"/>
            <a:ext cx="6400800" cy="1110996"/>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Awarded PKM Karsa Cipta funding by Indonesian Ministry of Education (2024)</a:t>
            </a:r>
            <a:endParaRPr lang="en-US" sz="1400" dirty="0"/>
          </a:p>
          <a:p>
            <a:pPr marL="342900" indent="-342900">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4th Place — PKM IC Karsa Cipta Scheme</a:t>
            </a:r>
            <a:endParaRPr lang="en-US" sz="1400" dirty="0"/>
          </a:p>
          <a:p>
            <a:pPr marL="342900" indent="-342900">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Real-time pulse rate monitoring with embedded sensor system</a:t>
            </a:r>
            <a:endParaRPr lang="en-US" sz="1400" dirty="0"/>
          </a:p>
          <a:p>
            <a:pPr marL="342900" indent="-342900">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Mobile app integration for aromatherapy spray control</a:t>
            </a:r>
            <a:endParaRPr lang="en-US" sz="1400" dirty="0"/>
          </a:p>
        </p:txBody>
      </p:sp>
      <p:sp>
        <p:nvSpPr>
          <p:cNvPr id="31" name="Shape 28"/>
          <p:cNvSpPr/>
          <p:nvPr/>
        </p:nvSpPr>
        <p:spPr>
          <a:xfrm>
            <a:off x="7589520" y="1097280"/>
            <a:ext cx="4114800" cy="53035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32" name="Shape 29"/>
          <p:cNvSpPr/>
          <p:nvPr/>
        </p:nvSpPr>
        <p:spPr>
          <a:xfrm>
            <a:off x="7589520" y="1097280"/>
            <a:ext cx="73152" cy="5303520"/>
          </a:xfrm>
          <a:prstGeom prst="rect">
            <a:avLst/>
          </a:prstGeom>
          <a:solidFill>
            <a:srgbClr val="C9A961"/>
          </a:solidFill>
          <a:ln w="12700">
            <a:solidFill>
              <a:srgbClr val="C9A961"/>
            </a:solidFill>
            <a:prstDash val="solid"/>
          </a:ln>
        </p:spPr>
      </p:sp>
      <p:pic>
        <p:nvPicPr>
          <p:cNvPr id="33" name="Image 1" descr="/home/claude/project_imgs/aroma_wrist.jpg"/>
          <p:cNvPicPr>
            <a:picLocks noChangeAspect="1"/>
          </p:cNvPicPr>
          <p:nvPr/>
        </p:nvPicPr>
        <p:blipFill>
          <a:blip r:embed="rId4"/>
          <a:srcRect/>
          <a:stretch/>
        </p:blipFill>
        <p:spPr>
          <a:xfrm>
            <a:off x="7818120" y="1325880"/>
            <a:ext cx="3657600" cy="4480560"/>
          </a:xfrm>
          <a:prstGeom prst="rect">
            <a:avLst/>
          </a:prstGeom>
        </p:spPr>
      </p:pic>
      <p:sp>
        <p:nvSpPr>
          <p:cNvPr id="34" name="Text 30"/>
          <p:cNvSpPr/>
          <p:nvPr/>
        </p:nvSpPr>
        <p:spPr>
          <a:xfrm>
            <a:off x="7818120" y="5897880"/>
            <a:ext cx="3657600" cy="365760"/>
          </a:xfrm>
          <a:prstGeom prst="rect">
            <a:avLst/>
          </a:prstGeom>
          <a:noFill/>
          <a:ln/>
        </p:spPr>
        <p:txBody>
          <a:bodyPr wrap="square" lIns="0" tIns="0" rIns="0" bIns="0" rtlCol="0" anchor="ctr"/>
          <a:lstStyle/>
          <a:p>
            <a:pPr marL="0" indent="0" algn="ctr">
              <a:buNone/>
            </a:pPr>
            <a:r>
              <a:rPr lang="en-US" sz="1000" i="1" dirty="0">
                <a:solidFill>
                  <a:srgbClr val="5A5A5A"/>
                </a:solidFill>
                <a:latin typeface="Calibri" pitchFamily="34" charset="0"/>
                <a:ea typeface="Calibri" pitchFamily="34" charset="-122"/>
                <a:cs typeface="Calibri" pitchFamily="34" charset="-120"/>
              </a:rPr>
              <a:t>AromatheraWrist prototype — aromatherapy spray and pulse sensor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8F5EE"/>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0A1628"/>
          </a:solidFill>
          <a:ln w="12700">
            <a:solidFill>
              <a:srgbClr val="0A1628"/>
            </a:solidFill>
            <a:prstDash val="solid"/>
          </a:ln>
        </p:spPr>
      </p:sp>
      <p:sp>
        <p:nvSpPr>
          <p:cNvPr id="3" name="Shape 1"/>
          <p:cNvSpPr/>
          <p:nvPr/>
        </p:nvSpPr>
        <p:spPr>
          <a:xfrm>
            <a:off x="0" y="457200"/>
            <a:ext cx="12161520" cy="36576"/>
          </a:xfrm>
          <a:prstGeom prst="rect">
            <a:avLst/>
          </a:prstGeom>
          <a:solidFill>
            <a:srgbClr val="C9A961"/>
          </a:solidFill>
          <a:ln w="12700">
            <a:solidFill>
              <a:srgbClr val="C9A961"/>
            </a:solidFill>
            <a:prstDash val="solid"/>
          </a:ln>
        </p:spPr>
      </p:sp>
      <p:sp>
        <p:nvSpPr>
          <p:cNvPr id="4" name="Text 2"/>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5" name="Text 3"/>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6" name="Text 4"/>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10 / 17</a:t>
            </a:r>
            <a:endParaRPr lang="en-US" sz="900" dirty="0"/>
          </a:p>
        </p:txBody>
      </p:sp>
      <p:sp>
        <p:nvSpPr>
          <p:cNvPr id="7" name="Shape 5"/>
          <p:cNvSpPr/>
          <p:nvPr/>
        </p:nvSpPr>
        <p:spPr>
          <a:xfrm>
            <a:off x="0" y="6565392"/>
            <a:ext cx="12161520" cy="292608"/>
          </a:xfrm>
          <a:prstGeom prst="rect">
            <a:avLst/>
          </a:prstGeom>
          <a:solidFill>
            <a:srgbClr val="1B2D4A"/>
          </a:solidFill>
          <a:ln w="12700">
            <a:solidFill>
              <a:srgbClr val="1B2D4A"/>
            </a:solidFill>
            <a:prstDash val="solid"/>
          </a:ln>
        </p:spPr>
      </p:sp>
      <p:sp>
        <p:nvSpPr>
          <p:cNvPr id="8" name="Shape 6"/>
          <p:cNvSpPr/>
          <p:nvPr/>
        </p:nvSpPr>
        <p:spPr>
          <a:xfrm>
            <a:off x="0" y="6547104"/>
            <a:ext cx="12161520" cy="18288"/>
          </a:xfrm>
          <a:prstGeom prst="rect">
            <a:avLst/>
          </a:prstGeom>
          <a:solidFill>
            <a:srgbClr val="C9A961"/>
          </a:solidFill>
          <a:ln w="12700">
            <a:solidFill>
              <a:srgbClr val="C9A961"/>
            </a:solidFill>
            <a:prstDash val="solid"/>
          </a:ln>
        </p:spPr>
      </p:sp>
      <p:sp>
        <p:nvSpPr>
          <p:cNvPr id="9" name="Text 7"/>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0" name="Text 8"/>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11" name="Text 9"/>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12" name="Text 10"/>
          <p:cNvSpPr/>
          <p:nvPr/>
        </p:nvSpPr>
        <p:spPr>
          <a:xfrm>
            <a:off x="640080" y="822960"/>
            <a:ext cx="73152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04  ·  PROJECTS (CONT.)</a:t>
            </a:r>
            <a:endParaRPr lang="en-US" sz="2000" dirty="0"/>
          </a:p>
        </p:txBody>
      </p:sp>
      <p:sp>
        <p:nvSpPr>
          <p:cNvPr id="13" name="Shape 11"/>
          <p:cNvSpPr/>
          <p:nvPr/>
        </p:nvSpPr>
        <p:spPr>
          <a:xfrm>
            <a:off x="640080" y="1115568"/>
            <a:ext cx="640080" cy="27432"/>
          </a:xfrm>
          <a:prstGeom prst="rect">
            <a:avLst/>
          </a:prstGeom>
          <a:solidFill>
            <a:srgbClr val="C9A961"/>
          </a:solidFill>
          <a:ln w="12700">
            <a:solidFill>
              <a:srgbClr val="C9A961"/>
            </a:solidFill>
            <a:prstDash val="solid"/>
          </a:ln>
        </p:spPr>
      </p:sp>
      <p:sp>
        <p:nvSpPr>
          <p:cNvPr id="14" name="Text 12"/>
          <p:cNvSpPr/>
          <p:nvPr/>
        </p:nvSpPr>
        <p:spPr>
          <a:xfrm>
            <a:off x="640080" y="1207008"/>
            <a:ext cx="6400800" cy="228600"/>
          </a:xfrm>
          <a:prstGeom prst="rect">
            <a:avLst/>
          </a:prstGeom>
          <a:noFill/>
          <a:ln/>
        </p:spPr>
        <p:txBody>
          <a:bodyPr wrap="square" lIns="0" tIns="0" rIns="0" bIns="0" rtlCol="0" anchor="ctr"/>
          <a:lstStyle/>
          <a:p>
            <a:pPr marL="0" indent="0">
              <a:buNone/>
            </a:pPr>
            <a:r>
              <a:rPr lang="en-US" sz="1000" b="1" dirty="0">
                <a:solidFill>
                  <a:srgbClr val="5A5A5A"/>
                </a:solidFill>
                <a:latin typeface="Calibri" pitchFamily="34" charset="0"/>
                <a:ea typeface="Calibri" pitchFamily="34" charset="-122"/>
                <a:cs typeface="Calibri" pitchFamily="34" charset="-120"/>
              </a:rPr>
              <a:t>ELECTRONICS SYSTEMS PROJECT · 2024</a:t>
            </a:r>
            <a:endParaRPr lang="en-US" sz="1000" dirty="0"/>
          </a:p>
        </p:txBody>
      </p:sp>
      <p:sp>
        <p:nvSpPr>
          <p:cNvPr id="15" name="Text 13"/>
          <p:cNvSpPr/>
          <p:nvPr/>
        </p:nvSpPr>
        <p:spPr>
          <a:xfrm>
            <a:off x="640080" y="1444752"/>
            <a:ext cx="6400800" cy="777240"/>
          </a:xfrm>
          <a:prstGeom prst="rect">
            <a:avLst/>
          </a:prstGeom>
          <a:noFill/>
          <a:ln/>
        </p:spPr>
        <p:txBody>
          <a:bodyPr wrap="square" lIns="0" tIns="0" rIns="0" bIns="0" rtlCol="0" anchor="t"/>
          <a:lstStyle/>
          <a:p>
            <a:pPr marL="0" indent="0">
              <a:buNone/>
            </a:pPr>
            <a:r>
              <a:rPr lang="en-US" sz="2400" b="1" dirty="0">
                <a:solidFill>
                  <a:srgbClr val="0A1628"/>
                </a:solidFill>
                <a:latin typeface="Calibri" pitchFamily="34" charset="0"/>
                <a:ea typeface="Calibri" pitchFamily="34" charset="-122"/>
                <a:cs typeface="Calibri" pitchFamily="34" charset="-120"/>
              </a:rPr>
              <a:t>IoT Automatic Temperature Control</a:t>
            </a:r>
            <a:endParaRPr lang="en-US" sz="2400" dirty="0"/>
          </a:p>
        </p:txBody>
      </p:sp>
      <p:sp>
        <p:nvSpPr>
          <p:cNvPr id="16" name="Text 14"/>
          <p:cNvSpPr/>
          <p:nvPr/>
        </p:nvSpPr>
        <p:spPr>
          <a:xfrm>
            <a:off x="640080" y="2240280"/>
            <a:ext cx="6400800" cy="274320"/>
          </a:xfrm>
          <a:prstGeom prst="rect">
            <a:avLst/>
          </a:prstGeom>
          <a:noFill/>
          <a:ln/>
        </p:spPr>
        <p:txBody>
          <a:bodyPr wrap="square" lIns="0" tIns="0" rIns="0" bIns="0"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Developer</a:t>
            </a:r>
            <a:endParaRPr lang="en-US" sz="1200" dirty="0"/>
          </a:p>
        </p:txBody>
      </p:sp>
      <p:sp>
        <p:nvSpPr>
          <p:cNvPr id="17" name="Shape 15"/>
          <p:cNvSpPr/>
          <p:nvPr/>
        </p:nvSpPr>
        <p:spPr>
          <a:xfrm>
            <a:off x="6903720" y="1554480"/>
            <a:ext cx="594360" cy="594360"/>
          </a:xfrm>
          <a:prstGeom prst="ellipse">
            <a:avLst/>
          </a:prstGeom>
          <a:solidFill>
            <a:srgbClr val="0A1628"/>
          </a:solidFill>
          <a:ln w="8890">
            <a:solidFill>
              <a:srgbClr val="C9A961"/>
            </a:solidFill>
            <a:prstDash val="solid"/>
          </a:ln>
        </p:spPr>
      </p:sp>
      <p:pic>
        <p:nvPicPr>
          <p:cNvPr id="18" name="Image 0" descr="/home/claude/icons/proj_iot.png"/>
          <p:cNvPicPr>
            <a:picLocks noChangeAspect="1"/>
          </p:cNvPicPr>
          <p:nvPr/>
        </p:nvPicPr>
        <p:blipFill>
          <a:blip r:embed="rId3"/>
          <a:stretch>
            <a:fillRect/>
          </a:stretch>
        </p:blipFill>
        <p:spPr>
          <a:xfrm>
            <a:off x="7040880" y="1691640"/>
            <a:ext cx="320040" cy="320040"/>
          </a:xfrm>
          <a:prstGeom prst="rect">
            <a:avLst/>
          </a:prstGeom>
        </p:spPr>
      </p:pic>
      <p:sp>
        <p:nvSpPr>
          <p:cNvPr id="19" name="Shape 16"/>
          <p:cNvSpPr/>
          <p:nvPr/>
        </p:nvSpPr>
        <p:spPr>
          <a:xfrm>
            <a:off x="640080" y="2606040"/>
            <a:ext cx="571500" cy="292608"/>
          </a:xfrm>
          <a:prstGeom prst="rect">
            <a:avLst/>
          </a:prstGeom>
          <a:solidFill>
            <a:srgbClr val="0A1628"/>
          </a:solidFill>
          <a:ln w="12700">
            <a:solidFill>
              <a:srgbClr val="0A1628"/>
            </a:solidFill>
            <a:prstDash val="solid"/>
          </a:ln>
        </p:spPr>
      </p:sp>
      <p:sp>
        <p:nvSpPr>
          <p:cNvPr id="20" name="Text 17"/>
          <p:cNvSpPr/>
          <p:nvPr/>
        </p:nvSpPr>
        <p:spPr>
          <a:xfrm>
            <a:off x="640080" y="2606040"/>
            <a:ext cx="57150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ESP32</a:t>
            </a:r>
            <a:endParaRPr lang="en-US" sz="1000" dirty="0"/>
          </a:p>
        </p:txBody>
      </p:sp>
      <p:sp>
        <p:nvSpPr>
          <p:cNvPr id="21" name="Shape 18"/>
          <p:cNvSpPr/>
          <p:nvPr/>
        </p:nvSpPr>
        <p:spPr>
          <a:xfrm>
            <a:off x="1303020" y="2606040"/>
            <a:ext cx="493776" cy="292608"/>
          </a:xfrm>
          <a:prstGeom prst="rect">
            <a:avLst/>
          </a:prstGeom>
          <a:solidFill>
            <a:srgbClr val="0A1628"/>
          </a:solidFill>
          <a:ln w="12700">
            <a:solidFill>
              <a:srgbClr val="0A1628"/>
            </a:solidFill>
            <a:prstDash val="solid"/>
          </a:ln>
        </p:spPr>
      </p:sp>
      <p:sp>
        <p:nvSpPr>
          <p:cNvPr id="22" name="Text 19"/>
          <p:cNvSpPr/>
          <p:nvPr/>
        </p:nvSpPr>
        <p:spPr>
          <a:xfrm>
            <a:off x="1303020" y="2606040"/>
            <a:ext cx="493776"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MQTT</a:t>
            </a:r>
            <a:endParaRPr lang="en-US" sz="1000" dirty="0"/>
          </a:p>
        </p:txBody>
      </p:sp>
      <p:sp>
        <p:nvSpPr>
          <p:cNvPr id="23" name="Shape 20"/>
          <p:cNvSpPr/>
          <p:nvPr/>
        </p:nvSpPr>
        <p:spPr>
          <a:xfrm>
            <a:off x="1888236" y="2606040"/>
            <a:ext cx="1037844" cy="292608"/>
          </a:xfrm>
          <a:prstGeom prst="rect">
            <a:avLst/>
          </a:prstGeom>
          <a:solidFill>
            <a:srgbClr val="0A1628"/>
          </a:solidFill>
          <a:ln w="12700">
            <a:solidFill>
              <a:srgbClr val="0A1628"/>
            </a:solidFill>
            <a:prstDash val="solid"/>
          </a:ln>
        </p:spPr>
      </p:sp>
      <p:sp>
        <p:nvSpPr>
          <p:cNvPr id="24" name="Text 21"/>
          <p:cNvSpPr/>
          <p:nvPr/>
        </p:nvSpPr>
        <p:spPr>
          <a:xfrm>
            <a:off x="1888236" y="2606040"/>
            <a:ext cx="1037844"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PID Control</a:t>
            </a:r>
            <a:endParaRPr lang="en-US" sz="1000" dirty="0"/>
          </a:p>
        </p:txBody>
      </p:sp>
      <p:sp>
        <p:nvSpPr>
          <p:cNvPr id="25" name="Shape 22"/>
          <p:cNvSpPr/>
          <p:nvPr/>
        </p:nvSpPr>
        <p:spPr>
          <a:xfrm>
            <a:off x="3017520" y="2606040"/>
            <a:ext cx="649224" cy="292608"/>
          </a:xfrm>
          <a:prstGeom prst="rect">
            <a:avLst/>
          </a:prstGeom>
          <a:solidFill>
            <a:srgbClr val="0A1628"/>
          </a:solidFill>
          <a:ln w="12700">
            <a:solidFill>
              <a:srgbClr val="0A1628"/>
            </a:solidFill>
            <a:prstDash val="solid"/>
          </a:ln>
        </p:spPr>
      </p:sp>
      <p:sp>
        <p:nvSpPr>
          <p:cNvPr id="26" name="Text 23"/>
          <p:cNvSpPr/>
          <p:nvPr/>
        </p:nvSpPr>
        <p:spPr>
          <a:xfrm>
            <a:off x="3017520" y="2606040"/>
            <a:ext cx="649224"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Python</a:t>
            </a:r>
            <a:endParaRPr lang="en-US" sz="1000" dirty="0"/>
          </a:p>
        </p:txBody>
      </p:sp>
      <p:sp>
        <p:nvSpPr>
          <p:cNvPr id="27" name="Text 24"/>
          <p:cNvSpPr/>
          <p:nvPr/>
        </p:nvSpPr>
        <p:spPr>
          <a:xfrm>
            <a:off x="640080" y="3108960"/>
            <a:ext cx="6400800" cy="969264"/>
          </a:xfrm>
          <a:prstGeom prst="rect">
            <a:avLst/>
          </a:prstGeom>
          <a:noFill/>
          <a:ln/>
        </p:spPr>
        <p:txBody>
          <a:bodyPr wrap="square" lIns="0" tIns="0" rIns="0" bIns="0" rtlCol="0" anchor="t"/>
          <a:lstStyle/>
          <a:p>
            <a:pPr marL="0" indent="0" algn="just">
              <a:buNone/>
            </a:pPr>
            <a:r>
              <a:rPr lang="en-US" sz="1400" dirty="0">
                <a:solidFill>
                  <a:srgbClr val="1A1A1A"/>
                </a:solidFill>
                <a:latin typeface="Calibri" pitchFamily="34" charset="0"/>
                <a:ea typeface="Calibri" pitchFamily="34" charset="-122"/>
                <a:cs typeface="Calibri" pitchFamily="34" charset="-120"/>
              </a:rPr>
              <a:t>An IoT-based automatic temperature control system using ESP32 and DHT11 sensor, with a Python-based PID controller communicating via MQTT to dynamically regulate fan speed based on real-time room temperature. The system demonstrated stable closed-loop control with accurate response to environmental changes.</a:t>
            </a:r>
            <a:endParaRPr lang="en-US" sz="1400" dirty="0"/>
          </a:p>
        </p:txBody>
      </p:sp>
      <p:sp>
        <p:nvSpPr>
          <p:cNvPr id="28" name="Text 25"/>
          <p:cNvSpPr/>
          <p:nvPr/>
        </p:nvSpPr>
        <p:spPr>
          <a:xfrm>
            <a:off x="640080" y="4210812"/>
            <a:ext cx="2743200" cy="274320"/>
          </a:xfrm>
          <a:prstGeom prst="rect">
            <a:avLst/>
          </a:prstGeom>
          <a:noFill/>
          <a:ln/>
        </p:spPr>
        <p:txBody>
          <a:bodyPr wrap="square" lIns="0" tIns="0" rIns="0" bIns="0" rtlCol="0" anchor="ctr"/>
          <a:lstStyle/>
          <a:p>
            <a:pPr marL="0" indent="0">
              <a:buNone/>
            </a:pPr>
            <a:r>
              <a:rPr lang="en-US" sz="1400" b="1" dirty="0">
                <a:solidFill>
                  <a:srgbClr val="C9A961"/>
                </a:solidFill>
                <a:latin typeface="Calibri" pitchFamily="34" charset="0"/>
                <a:ea typeface="Calibri" pitchFamily="34" charset="-122"/>
                <a:cs typeface="Calibri" pitchFamily="34" charset="-120"/>
              </a:rPr>
              <a:t>KEY HIGHLIGHTS</a:t>
            </a:r>
            <a:endParaRPr lang="en-US" sz="1400" dirty="0"/>
          </a:p>
        </p:txBody>
      </p:sp>
      <p:sp>
        <p:nvSpPr>
          <p:cNvPr id="29" name="Shape 26"/>
          <p:cNvSpPr/>
          <p:nvPr/>
        </p:nvSpPr>
        <p:spPr>
          <a:xfrm>
            <a:off x="640080" y="4491990"/>
            <a:ext cx="457200" cy="22860"/>
          </a:xfrm>
          <a:prstGeom prst="rect">
            <a:avLst/>
          </a:prstGeom>
          <a:solidFill>
            <a:srgbClr val="C9A961"/>
          </a:solidFill>
          <a:ln w="12700">
            <a:solidFill>
              <a:srgbClr val="C9A961"/>
            </a:solidFill>
            <a:prstDash val="solid"/>
          </a:ln>
        </p:spPr>
      </p:sp>
      <p:sp>
        <p:nvSpPr>
          <p:cNvPr id="30" name="Text 27"/>
          <p:cNvSpPr/>
          <p:nvPr/>
        </p:nvSpPr>
        <p:spPr>
          <a:xfrm>
            <a:off x="640080" y="4572000"/>
            <a:ext cx="6400800" cy="1371600"/>
          </a:xfrm>
          <a:prstGeom prst="rect">
            <a:avLst/>
          </a:prstGeom>
          <a:noFill/>
          <a:ln/>
        </p:spPr>
        <p:txBody>
          <a:bodyPr wrap="square" lIns="0" tIns="0" rIns="0" bIns="0" rtlCol="0" anchor="t"/>
          <a:lstStyle/>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ESP32 (publisher) + Python application (subscriber) over MQTT broker</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L298N motor driver controlling DC fan with PID-tuned response</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Real-time monitoring dashboard with temperature, humidity, and fan speed gauges</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Demonstrated stability and accuracy in real-time control loop</a:t>
            </a:r>
            <a:endParaRPr lang="en-US" sz="1400" dirty="0"/>
          </a:p>
        </p:txBody>
      </p:sp>
      <p:sp>
        <p:nvSpPr>
          <p:cNvPr id="31" name="Shape 28"/>
          <p:cNvSpPr/>
          <p:nvPr/>
        </p:nvSpPr>
        <p:spPr>
          <a:xfrm>
            <a:off x="7589520" y="1097280"/>
            <a:ext cx="4114800" cy="53035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32" name="Shape 29"/>
          <p:cNvSpPr/>
          <p:nvPr/>
        </p:nvSpPr>
        <p:spPr>
          <a:xfrm>
            <a:off x="7589520" y="1097280"/>
            <a:ext cx="73152" cy="5303520"/>
          </a:xfrm>
          <a:prstGeom prst="rect">
            <a:avLst/>
          </a:prstGeom>
          <a:solidFill>
            <a:srgbClr val="C9A961"/>
          </a:solidFill>
          <a:ln w="12700">
            <a:solidFill>
              <a:srgbClr val="C9A961"/>
            </a:solidFill>
            <a:prstDash val="solid"/>
          </a:ln>
        </p:spPr>
      </p:sp>
      <p:pic>
        <p:nvPicPr>
          <p:cNvPr id="33" name="Image 1" descr="/home/claude/project_imgs/iot_temp.jpg"/>
          <p:cNvPicPr>
            <a:picLocks noChangeAspect="1"/>
          </p:cNvPicPr>
          <p:nvPr/>
        </p:nvPicPr>
        <p:blipFill>
          <a:blip r:embed="rId4"/>
          <a:srcRect/>
          <a:stretch/>
        </p:blipFill>
        <p:spPr>
          <a:xfrm>
            <a:off x="7818120" y="1325880"/>
            <a:ext cx="3657600" cy="4480560"/>
          </a:xfrm>
          <a:prstGeom prst="rect">
            <a:avLst/>
          </a:prstGeom>
        </p:spPr>
      </p:pic>
      <p:sp>
        <p:nvSpPr>
          <p:cNvPr id="34" name="Text 30"/>
          <p:cNvSpPr/>
          <p:nvPr/>
        </p:nvSpPr>
        <p:spPr>
          <a:xfrm>
            <a:off x="7818120" y="5897880"/>
            <a:ext cx="3657600" cy="365760"/>
          </a:xfrm>
          <a:prstGeom prst="rect">
            <a:avLst/>
          </a:prstGeom>
          <a:noFill/>
          <a:ln/>
        </p:spPr>
        <p:txBody>
          <a:bodyPr wrap="square" lIns="0" tIns="0" rIns="0" bIns="0" rtlCol="0" anchor="ctr"/>
          <a:lstStyle/>
          <a:p>
            <a:pPr marL="0" indent="0" algn="ctr">
              <a:buNone/>
            </a:pPr>
            <a:r>
              <a:rPr lang="en-US" sz="1000" i="1" dirty="0">
                <a:solidFill>
                  <a:srgbClr val="5A5A5A"/>
                </a:solidFill>
                <a:latin typeface="Calibri" pitchFamily="34" charset="0"/>
                <a:ea typeface="Calibri" pitchFamily="34" charset="-122"/>
                <a:cs typeface="Calibri" pitchFamily="34" charset="-120"/>
              </a:rPr>
              <a:t>Hardware setup + monitoring dashboard with PID output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8F5EE"/>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0A1628"/>
          </a:solidFill>
          <a:ln w="12700">
            <a:solidFill>
              <a:srgbClr val="0A1628"/>
            </a:solidFill>
            <a:prstDash val="solid"/>
          </a:ln>
        </p:spPr>
      </p:sp>
      <p:sp>
        <p:nvSpPr>
          <p:cNvPr id="3" name="Shape 1"/>
          <p:cNvSpPr/>
          <p:nvPr/>
        </p:nvSpPr>
        <p:spPr>
          <a:xfrm>
            <a:off x="0" y="457200"/>
            <a:ext cx="12161520" cy="36576"/>
          </a:xfrm>
          <a:prstGeom prst="rect">
            <a:avLst/>
          </a:prstGeom>
          <a:solidFill>
            <a:srgbClr val="C9A961"/>
          </a:solidFill>
          <a:ln w="12700">
            <a:solidFill>
              <a:srgbClr val="C9A961"/>
            </a:solidFill>
            <a:prstDash val="solid"/>
          </a:ln>
        </p:spPr>
      </p:sp>
      <p:sp>
        <p:nvSpPr>
          <p:cNvPr id="4" name="Text 2"/>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5" name="Text 3"/>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6" name="Text 4"/>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11 / 17</a:t>
            </a:r>
            <a:endParaRPr lang="en-US" sz="900" dirty="0"/>
          </a:p>
        </p:txBody>
      </p:sp>
      <p:sp>
        <p:nvSpPr>
          <p:cNvPr id="7" name="Shape 5"/>
          <p:cNvSpPr/>
          <p:nvPr/>
        </p:nvSpPr>
        <p:spPr>
          <a:xfrm>
            <a:off x="0" y="6565392"/>
            <a:ext cx="12161520" cy="292608"/>
          </a:xfrm>
          <a:prstGeom prst="rect">
            <a:avLst/>
          </a:prstGeom>
          <a:solidFill>
            <a:srgbClr val="1B2D4A"/>
          </a:solidFill>
          <a:ln w="12700">
            <a:solidFill>
              <a:srgbClr val="1B2D4A"/>
            </a:solidFill>
            <a:prstDash val="solid"/>
          </a:ln>
        </p:spPr>
      </p:sp>
      <p:sp>
        <p:nvSpPr>
          <p:cNvPr id="8" name="Shape 6"/>
          <p:cNvSpPr/>
          <p:nvPr/>
        </p:nvSpPr>
        <p:spPr>
          <a:xfrm>
            <a:off x="0" y="6547104"/>
            <a:ext cx="12161520" cy="18288"/>
          </a:xfrm>
          <a:prstGeom prst="rect">
            <a:avLst/>
          </a:prstGeom>
          <a:solidFill>
            <a:srgbClr val="C9A961"/>
          </a:solidFill>
          <a:ln w="12700">
            <a:solidFill>
              <a:srgbClr val="C9A961"/>
            </a:solidFill>
            <a:prstDash val="solid"/>
          </a:ln>
        </p:spPr>
      </p:sp>
      <p:sp>
        <p:nvSpPr>
          <p:cNvPr id="9" name="Text 7"/>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0" name="Text 8"/>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11" name="Text 9"/>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12" name="Text 10"/>
          <p:cNvSpPr/>
          <p:nvPr/>
        </p:nvSpPr>
        <p:spPr>
          <a:xfrm>
            <a:off x="640080" y="822960"/>
            <a:ext cx="73152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04  ·  PROJECTS (CONT.)</a:t>
            </a:r>
            <a:endParaRPr lang="en-US" sz="2000" dirty="0"/>
          </a:p>
        </p:txBody>
      </p:sp>
      <p:sp>
        <p:nvSpPr>
          <p:cNvPr id="13" name="Shape 11"/>
          <p:cNvSpPr/>
          <p:nvPr/>
        </p:nvSpPr>
        <p:spPr>
          <a:xfrm>
            <a:off x="640080" y="1115568"/>
            <a:ext cx="640080" cy="27432"/>
          </a:xfrm>
          <a:prstGeom prst="rect">
            <a:avLst/>
          </a:prstGeom>
          <a:solidFill>
            <a:srgbClr val="C9A961"/>
          </a:solidFill>
          <a:ln w="12700">
            <a:solidFill>
              <a:srgbClr val="C9A961"/>
            </a:solidFill>
            <a:prstDash val="solid"/>
          </a:ln>
        </p:spPr>
      </p:sp>
      <p:sp>
        <p:nvSpPr>
          <p:cNvPr id="14" name="Text 12"/>
          <p:cNvSpPr/>
          <p:nvPr/>
        </p:nvSpPr>
        <p:spPr>
          <a:xfrm>
            <a:off x="640080" y="1207008"/>
            <a:ext cx="6400800" cy="228600"/>
          </a:xfrm>
          <a:prstGeom prst="rect">
            <a:avLst/>
          </a:prstGeom>
          <a:noFill/>
          <a:ln/>
        </p:spPr>
        <p:txBody>
          <a:bodyPr wrap="square" lIns="0" tIns="0" rIns="0" bIns="0" rtlCol="0" anchor="ctr"/>
          <a:lstStyle/>
          <a:p>
            <a:pPr marL="0" indent="0">
              <a:buNone/>
            </a:pPr>
            <a:r>
              <a:rPr lang="en-US" sz="1000" b="1" dirty="0">
                <a:solidFill>
                  <a:srgbClr val="5A5A5A"/>
                </a:solidFill>
                <a:latin typeface="Calibri" pitchFamily="34" charset="0"/>
                <a:ea typeface="Calibri" pitchFamily="34" charset="-122"/>
                <a:cs typeface="Calibri" pitchFamily="34" charset="-120"/>
              </a:rPr>
              <a:t>EMBEDDED SYSTEM FINAL PROJECT · 2024</a:t>
            </a:r>
            <a:endParaRPr lang="en-US" sz="1000" dirty="0"/>
          </a:p>
        </p:txBody>
      </p:sp>
      <p:sp>
        <p:nvSpPr>
          <p:cNvPr id="15" name="Text 13"/>
          <p:cNvSpPr/>
          <p:nvPr/>
        </p:nvSpPr>
        <p:spPr>
          <a:xfrm>
            <a:off x="640080" y="1444752"/>
            <a:ext cx="6400800" cy="777240"/>
          </a:xfrm>
          <a:prstGeom prst="rect">
            <a:avLst/>
          </a:prstGeom>
          <a:noFill/>
          <a:ln/>
        </p:spPr>
        <p:txBody>
          <a:bodyPr wrap="square" lIns="0" tIns="0" rIns="0" bIns="0" rtlCol="0" anchor="t"/>
          <a:lstStyle/>
          <a:p>
            <a:pPr marL="0" indent="0">
              <a:buNone/>
            </a:pPr>
            <a:r>
              <a:rPr lang="en-US" sz="2400" b="1" dirty="0">
                <a:solidFill>
                  <a:srgbClr val="0A1628"/>
                </a:solidFill>
                <a:latin typeface="Calibri" pitchFamily="34" charset="0"/>
                <a:ea typeface="Calibri" pitchFamily="34" charset="-122"/>
                <a:cs typeface="Calibri" pitchFamily="34" charset="-120"/>
              </a:rPr>
              <a:t>Air Quality Monitoring Tool</a:t>
            </a:r>
            <a:endParaRPr lang="en-US" sz="2400" dirty="0"/>
          </a:p>
        </p:txBody>
      </p:sp>
      <p:sp>
        <p:nvSpPr>
          <p:cNvPr id="16" name="Text 14"/>
          <p:cNvSpPr/>
          <p:nvPr/>
        </p:nvSpPr>
        <p:spPr>
          <a:xfrm>
            <a:off x="640080" y="2240280"/>
            <a:ext cx="6400800" cy="274320"/>
          </a:xfrm>
          <a:prstGeom prst="rect">
            <a:avLst/>
          </a:prstGeom>
          <a:noFill/>
          <a:ln/>
        </p:spPr>
        <p:txBody>
          <a:bodyPr wrap="square" lIns="0" tIns="0" rIns="0" bIns="0"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Developer</a:t>
            </a:r>
            <a:endParaRPr lang="en-US" sz="1200" dirty="0"/>
          </a:p>
        </p:txBody>
      </p:sp>
      <p:sp>
        <p:nvSpPr>
          <p:cNvPr id="17" name="Shape 15"/>
          <p:cNvSpPr/>
          <p:nvPr/>
        </p:nvSpPr>
        <p:spPr>
          <a:xfrm>
            <a:off x="6903720" y="1554480"/>
            <a:ext cx="594360" cy="594360"/>
          </a:xfrm>
          <a:prstGeom prst="ellipse">
            <a:avLst/>
          </a:prstGeom>
          <a:solidFill>
            <a:srgbClr val="0A1628"/>
          </a:solidFill>
          <a:ln w="8890">
            <a:solidFill>
              <a:srgbClr val="C9A961"/>
            </a:solidFill>
            <a:prstDash val="solid"/>
          </a:ln>
        </p:spPr>
      </p:sp>
      <p:pic>
        <p:nvPicPr>
          <p:cNvPr id="18" name="Image 0" descr="/home/claude/icons/proj_air.png"/>
          <p:cNvPicPr>
            <a:picLocks noChangeAspect="1"/>
          </p:cNvPicPr>
          <p:nvPr/>
        </p:nvPicPr>
        <p:blipFill>
          <a:blip r:embed="rId3"/>
          <a:stretch>
            <a:fillRect/>
          </a:stretch>
        </p:blipFill>
        <p:spPr>
          <a:xfrm>
            <a:off x="7040880" y="1691640"/>
            <a:ext cx="320040" cy="320040"/>
          </a:xfrm>
          <a:prstGeom prst="rect">
            <a:avLst/>
          </a:prstGeom>
        </p:spPr>
      </p:pic>
      <p:sp>
        <p:nvSpPr>
          <p:cNvPr id="19" name="Shape 16"/>
          <p:cNvSpPr/>
          <p:nvPr/>
        </p:nvSpPr>
        <p:spPr>
          <a:xfrm>
            <a:off x="640080" y="2606040"/>
            <a:ext cx="1037844" cy="292608"/>
          </a:xfrm>
          <a:prstGeom prst="rect">
            <a:avLst/>
          </a:prstGeom>
          <a:solidFill>
            <a:srgbClr val="0A1628"/>
          </a:solidFill>
          <a:ln w="12700">
            <a:solidFill>
              <a:srgbClr val="0A1628"/>
            </a:solidFill>
            <a:prstDash val="solid"/>
          </a:ln>
        </p:spPr>
      </p:sp>
      <p:sp>
        <p:nvSpPr>
          <p:cNvPr id="20" name="Text 17"/>
          <p:cNvSpPr/>
          <p:nvPr/>
        </p:nvSpPr>
        <p:spPr>
          <a:xfrm>
            <a:off x="640080" y="2606040"/>
            <a:ext cx="1037844"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Arduino Uno</a:t>
            </a:r>
            <a:endParaRPr lang="en-US" sz="1000" dirty="0"/>
          </a:p>
        </p:txBody>
      </p:sp>
      <p:sp>
        <p:nvSpPr>
          <p:cNvPr id="21" name="Shape 18"/>
          <p:cNvSpPr/>
          <p:nvPr/>
        </p:nvSpPr>
        <p:spPr>
          <a:xfrm>
            <a:off x="1769364" y="2606040"/>
            <a:ext cx="1348740" cy="292608"/>
          </a:xfrm>
          <a:prstGeom prst="rect">
            <a:avLst/>
          </a:prstGeom>
          <a:solidFill>
            <a:srgbClr val="0A1628"/>
          </a:solidFill>
          <a:ln w="12700">
            <a:solidFill>
              <a:srgbClr val="0A1628"/>
            </a:solidFill>
            <a:prstDash val="solid"/>
          </a:ln>
        </p:spPr>
      </p:sp>
      <p:sp>
        <p:nvSpPr>
          <p:cNvPr id="22" name="Text 19"/>
          <p:cNvSpPr/>
          <p:nvPr/>
        </p:nvSpPr>
        <p:spPr>
          <a:xfrm>
            <a:off x="1769364" y="2606040"/>
            <a:ext cx="134874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NodeMCU ESP8266</a:t>
            </a:r>
            <a:endParaRPr lang="en-US" sz="1000" dirty="0"/>
          </a:p>
        </p:txBody>
      </p:sp>
      <p:sp>
        <p:nvSpPr>
          <p:cNvPr id="23" name="Shape 20"/>
          <p:cNvSpPr/>
          <p:nvPr/>
        </p:nvSpPr>
        <p:spPr>
          <a:xfrm>
            <a:off x="3209544" y="2606040"/>
            <a:ext cx="882396" cy="292608"/>
          </a:xfrm>
          <a:prstGeom prst="rect">
            <a:avLst/>
          </a:prstGeom>
          <a:solidFill>
            <a:srgbClr val="0A1628"/>
          </a:solidFill>
          <a:ln w="12700">
            <a:solidFill>
              <a:srgbClr val="0A1628"/>
            </a:solidFill>
            <a:prstDash val="solid"/>
          </a:ln>
        </p:spPr>
      </p:sp>
      <p:sp>
        <p:nvSpPr>
          <p:cNvPr id="24" name="Text 21"/>
          <p:cNvSpPr/>
          <p:nvPr/>
        </p:nvSpPr>
        <p:spPr>
          <a:xfrm>
            <a:off x="3209544" y="2606040"/>
            <a:ext cx="882396"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Blynk IoT</a:t>
            </a:r>
            <a:endParaRPr lang="en-US" sz="1000" dirty="0"/>
          </a:p>
        </p:txBody>
      </p:sp>
      <p:sp>
        <p:nvSpPr>
          <p:cNvPr id="25" name="Shape 22"/>
          <p:cNvSpPr/>
          <p:nvPr/>
        </p:nvSpPr>
        <p:spPr>
          <a:xfrm>
            <a:off x="4183380" y="2606040"/>
            <a:ext cx="1115568" cy="292608"/>
          </a:xfrm>
          <a:prstGeom prst="rect">
            <a:avLst/>
          </a:prstGeom>
          <a:solidFill>
            <a:srgbClr val="0A1628"/>
          </a:solidFill>
          <a:ln w="12700">
            <a:solidFill>
              <a:srgbClr val="0A1628"/>
            </a:solidFill>
            <a:prstDash val="solid"/>
          </a:ln>
        </p:spPr>
      </p:sp>
      <p:sp>
        <p:nvSpPr>
          <p:cNvPr id="26" name="Text 23"/>
          <p:cNvSpPr/>
          <p:nvPr/>
        </p:nvSpPr>
        <p:spPr>
          <a:xfrm>
            <a:off x="4183380" y="2606040"/>
            <a:ext cx="1115568"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Multi-Sensor</a:t>
            </a:r>
            <a:endParaRPr lang="en-US" sz="1000" dirty="0"/>
          </a:p>
        </p:txBody>
      </p:sp>
      <p:sp>
        <p:nvSpPr>
          <p:cNvPr id="27" name="Text 24"/>
          <p:cNvSpPr/>
          <p:nvPr/>
        </p:nvSpPr>
        <p:spPr>
          <a:xfrm>
            <a:off x="640080" y="3108960"/>
            <a:ext cx="6400800" cy="1106424"/>
          </a:xfrm>
          <a:prstGeom prst="rect">
            <a:avLst/>
          </a:prstGeom>
          <a:noFill/>
          <a:ln/>
        </p:spPr>
        <p:txBody>
          <a:bodyPr wrap="square" lIns="0" tIns="0" rIns="0" bIns="0" rtlCol="0" anchor="t"/>
          <a:lstStyle/>
          <a:p>
            <a:pPr marL="0" indent="0" algn="just">
              <a:buNone/>
            </a:pPr>
            <a:r>
              <a:rPr lang="en-US" sz="1400" dirty="0">
                <a:solidFill>
                  <a:srgbClr val="1A1A1A"/>
                </a:solidFill>
                <a:latin typeface="Calibri" pitchFamily="34" charset="0"/>
                <a:ea typeface="Calibri" pitchFamily="34" charset="-122"/>
                <a:cs typeface="Calibri" pitchFamily="34" charset="-120"/>
              </a:rPr>
              <a:t>A real-time air quality monitoring system that measures temperature, humidity, gas concentration (PPM), and light intensity using multiple sensors integrated with Arduino Uno and NodeMCU ESP8266. Data is transmitted to the Blynk IoT platform, enabling real-time monitoring and remote control via smartphone application.</a:t>
            </a:r>
            <a:endParaRPr lang="en-US" sz="1400" dirty="0"/>
          </a:p>
        </p:txBody>
      </p:sp>
      <p:sp>
        <p:nvSpPr>
          <p:cNvPr id="28" name="Text 25"/>
          <p:cNvSpPr/>
          <p:nvPr/>
        </p:nvSpPr>
        <p:spPr>
          <a:xfrm>
            <a:off x="640080" y="4182820"/>
            <a:ext cx="2743200" cy="274320"/>
          </a:xfrm>
          <a:prstGeom prst="rect">
            <a:avLst/>
          </a:prstGeom>
          <a:noFill/>
          <a:ln/>
        </p:spPr>
        <p:txBody>
          <a:bodyPr wrap="square" lIns="0" tIns="0" rIns="0" bIns="0" rtlCol="0" anchor="ctr"/>
          <a:lstStyle/>
          <a:p>
            <a:pPr marL="0" indent="0">
              <a:buNone/>
            </a:pPr>
            <a:r>
              <a:rPr lang="en-US" sz="1400" b="1" dirty="0">
                <a:solidFill>
                  <a:srgbClr val="C9A961"/>
                </a:solidFill>
                <a:latin typeface="Calibri" pitchFamily="34" charset="0"/>
                <a:ea typeface="Calibri" pitchFamily="34" charset="-122"/>
                <a:cs typeface="Calibri" pitchFamily="34" charset="-120"/>
              </a:rPr>
              <a:t>KEY HIGHLIGHTS</a:t>
            </a:r>
            <a:endParaRPr lang="en-US" sz="1400" dirty="0"/>
          </a:p>
        </p:txBody>
      </p:sp>
      <p:sp>
        <p:nvSpPr>
          <p:cNvPr id="29" name="Shape 26"/>
          <p:cNvSpPr/>
          <p:nvPr/>
        </p:nvSpPr>
        <p:spPr>
          <a:xfrm>
            <a:off x="640080" y="4463998"/>
            <a:ext cx="457200" cy="22860"/>
          </a:xfrm>
          <a:prstGeom prst="rect">
            <a:avLst/>
          </a:prstGeom>
          <a:solidFill>
            <a:srgbClr val="C9A961"/>
          </a:solidFill>
          <a:ln w="12700">
            <a:solidFill>
              <a:srgbClr val="C9A961"/>
            </a:solidFill>
            <a:prstDash val="solid"/>
          </a:ln>
        </p:spPr>
      </p:sp>
      <p:sp>
        <p:nvSpPr>
          <p:cNvPr id="30" name="Text 27"/>
          <p:cNvSpPr/>
          <p:nvPr/>
        </p:nvSpPr>
        <p:spPr>
          <a:xfrm>
            <a:off x="640080" y="4526280"/>
            <a:ext cx="6400800" cy="1371600"/>
          </a:xfrm>
          <a:prstGeom prst="rect">
            <a:avLst/>
          </a:prstGeom>
          <a:noFill/>
          <a:ln/>
        </p:spPr>
        <p:txBody>
          <a:bodyPr wrap="square" lIns="0" tIns="0" rIns="0" bIns="0" rtlCol="0" anchor="t"/>
          <a:lstStyle/>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Multi-sensor integration: DHT11 (temp/humidity), MQ-135 (gas), LDR (light)</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Cloud-based dashboard with mobile remote control via Blynk IoT</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Real-time environmental data logging with notification alerts</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Day/night mode detection with automatic relay switching</a:t>
            </a:r>
            <a:endParaRPr lang="en-US" sz="1400" dirty="0"/>
          </a:p>
        </p:txBody>
      </p:sp>
      <p:sp>
        <p:nvSpPr>
          <p:cNvPr id="31" name="Shape 28"/>
          <p:cNvSpPr/>
          <p:nvPr/>
        </p:nvSpPr>
        <p:spPr>
          <a:xfrm>
            <a:off x="7589520" y="1097280"/>
            <a:ext cx="4114800" cy="53035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32" name="Shape 29"/>
          <p:cNvSpPr/>
          <p:nvPr/>
        </p:nvSpPr>
        <p:spPr>
          <a:xfrm>
            <a:off x="7589520" y="1097280"/>
            <a:ext cx="73152" cy="5303520"/>
          </a:xfrm>
          <a:prstGeom prst="rect">
            <a:avLst/>
          </a:prstGeom>
          <a:solidFill>
            <a:srgbClr val="C9A961"/>
          </a:solidFill>
          <a:ln w="12700">
            <a:solidFill>
              <a:srgbClr val="C9A961"/>
            </a:solidFill>
            <a:prstDash val="solid"/>
          </a:ln>
        </p:spPr>
      </p:sp>
      <p:pic>
        <p:nvPicPr>
          <p:cNvPr id="33" name="Image 1" descr="/home/claude/project_imgs/air_quality.jpg"/>
          <p:cNvPicPr>
            <a:picLocks noChangeAspect="1"/>
          </p:cNvPicPr>
          <p:nvPr/>
        </p:nvPicPr>
        <p:blipFill>
          <a:blip r:embed="rId4"/>
          <a:srcRect/>
          <a:stretch/>
        </p:blipFill>
        <p:spPr>
          <a:xfrm>
            <a:off x="7818120" y="1325880"/>
            <a:ext cx="3657600" cy="4480560"/>
          </a:xfrm>
          <a:prstGeom prst="rect">
            <a:avLst/>
          </a:prstGeom>
        </p:spPr>
      </p:pic>
      <p:sp>
        <p:nvSpPr>
          <p:cNvPr id="34" name="Text 30"/>
          <p:cNvSpPr/>
          <p:nvPr/>
        </p:nvSpPr>
        <p:spPr>
          <a:xfrm>
            <a:off x="7818120" y="5897880"/>
            <a:ext cx="3657600" cy="365760"/>
          </a:xfrm>
          <a:prstGeom prst="rect">
            <a:avLst/>
          </a:prstGeom>
          <a:noFill/>
          <a:ln/>
        </p:spPr>
        <p:txBody>
          <a:bodyPr wrap="square" lIns="0" tIns="0" rIns="0" bIns="0" rtlCol="0" anchor="ctr"/>
          <a:lstStyle/>
          <a:p>
            <a:pPr marL="0" indent="0" algn="ctr">
              <a:buNone/>
            </a:pPr>
            <a:r>
              <a:rPr lang="en-US" sz="1000" i="1" dirty="0">
                <a:solidFill>
                  <a:srgbClr val="5A5A5A"/>
                </a:solidFill>
                <a:latin typeface="Calibri" pitchFamily="34" charset="0"/>
                <a:ea typeface="Calibri" pitchFamily="34" charset="-122"/>
                <a:cs typeface="Calibri" pitchFamily="34" charset="-120"/>
              </a:rPr>
              <a:t>Hardware schematic, breadboard prototype, and Blynk app</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8F5EE"/>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0A1628"/>
          </a:solidFill>
          <a:ln w="12700">
            <a:solidFill>
              <a:srgbClr val="0A1628"/>
            </a:solidFill>
            <a:prstDash val="solid"/>
          </a:ln>
        </p:spPr>
      </p:sp>
      <p:sp>
        <p:nvSpPr>
          <p:cNvPr id="3" name="Shape 1"/>
          <p:cNvSpPr/>
          <p:nvPr/>
        </p:nvSpPr>
        <p:spPr>
          <a:xfrm>
            <a:off x="0" y="457200"/>
            <a:ext cx="12161520" cy="36576"/>
          </a:xfrm>
          <a:prstGeom prst="rect">
            <a:avLst/>
          </a:prstGeom>
          <a:solidFill>
            <a:srgbClr val="C9A961"/>
          </a:solidFill>
          <a:ln w="12700">
            <a:solidFill>
              <a:srgbClr val="C9A961"/>
            </a:solidFill>
            <a:prstDash val="solid"/>
          </a:ln>
        </p:spPr>
      </p:sp>
      <p:sp>
        <p:nvSpPr>
          <p:cNvPr id="4" name="Text 2"/>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5" name="Text 3"/>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6" name="Text 4"/>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12 / 17</a:t>
            </a:r>
            <a:endParaRPr lang="en-US" sz="900" dirty="0"/>
          </a:p>
        </p:txBody>
      </p:sp>
      <p:sp>
        <p:nvSpPr>
          <p:cNvPr id="7" name="Shape 5"/>
          <p:cNvSpPr/>
          <p:nvPr/>
        </p:nvSpPr>
        <p:spPr>
          <a:xfrm>
            <a:off x="0" y="6565392"/>
            <a:ext cx="12161520" cy="292608"/>
          </a:xfrm>
          <a:prstGeom prst="rect">
            <a:avLst/>
          </a:prstGeom>
          <a:solidFill>
            <a:srgbClr val="1B2D4A"/>
          </a:solidFill>
          <a:ln w="12700">
            <a:solidFill>
              <a:srgbClr val="1B2D4A"/>
            </a:solidFill>
            <a:prstDash val="solid"/>
          </a:ln>
        </p:spPr>
      </p:sp>
      <p:sp>
        <p:nvSpPr>
          <p:cNvPr id="8" name="Shape 6"/>
          <p:cNvSpPr/>
          <p:nvPr/>
        </p:nvSpPr>
        <p:spPr>
          <a:xfrm>
            <a:off x="0" y="6547104"/>
            <a:ext cx="12161520" cy="18288"/>
          </a:xfrm>
          <a:prstGeom prst="rect">
            <a:avLst/>
          </a:prstGeom>
          <a:solidFill>
            <a:srgbClr val="C9A961"/>
          </a:solidFill>
          <a:ln w="12700">
            <a:solidFill>
              <a:srgbClr val="C9A961"/>
            </a:solidFill>
            <a:prstDash val="solid"/>
          </a:ln>
        </p:spPr>
      </p:sp>
      <p:sp>
        <p:nvSpPr>
          <p:cNvPr id="9" name="Text 7"/>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0" name="Text 8"/>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11" name="Text 9"/>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12" name="Text 10"/>
          <p:cNvSpPr/>
          <p:nvPr/>
        </p:nvSpPr>
        <p:spPr>
          <a:xfrm>
            <a:off x="640080" y="822960"/>
            <a:ext cx="73152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04  ·  PROJECTS (CONT.)</a:t>
            </a:r>
            <a:endParaRPr lang="en-US" sz="2000" dirty="0"/>
          </a:p>
        </p:txBody>
      </p:sp>
      <p:sp>
        <p:nvSpPr>
          <p:cNvPr id="13" name="Shape 11"/>
          <p:cNvSpPr/>
          <p:nvPr/>
        </p:nvSpPr>
        <p:spPr>
          <a:xfrm>
            <a:off x="640080" y="1115568"/>
            <a:ext cx="640080" cy="27432"/>
          </a:xfrm>
          <a:prstGeom prst="rect">
            <a:avLst/>
          </a:prstGeom>
          <a:solidFill>
            <a:srgbClr val="C9A961"/>
          </a:solidFill>
          <a:ln w="12700">
            <a:solidFill>
              <a:srgbClr val="C9A961"/>
            </a:solidFill>
            <a:prstDash val="solid"/>
          </a:ln>
        </p:spPr>
      </p:sp>
      <p:sp>
        <p:nvSpPr>
          <p:cNvPr id="14" name="Text 12"/>
          <p:cNvSpPr/>
          <p:nvPr/>
        </p:nvSpPr>
        <p:spPr>
          <a:xfrm>
            <a:off x="640080" y="1207008"/>
            <a:ext cx="6400800" cy="228600"/>
          </a:xfrm>
          <a:prstGeom prst="rect">
            <a:avLst/>
          </a:prstGeom>
          <a:noFill/>
          <a:ln/>
        </p:spPr>
        <p:txBody>
          <a:bodyPr wrap="square" lIns="0" tIns="0" rIns="0" bIns="0" rtlCol="0" anchor="ctr"/>
          <a:lstStyle/>
          <a:p>
            <a:pPr marL="0" indent="0">
              <a:buNone/>
            </a:pPr>
            <a:r>
              <a:rPr lang="en-US" sz="1000" b="1" dirty="0">
                <a:solidFill>
                  <a:srgbClr val="5A5A5A"/>
                </a:solidFill>
                <a:latin typeface="Calibri" pitchFamily="34" charset="0"/>
                <a:ea typeface="Calibri" pitchFamily="34" charset="-122"/>
                <a:cs typeface="Calibri" pitchFamily="34" charset="-120"/>
              </a:rPr>
              <a:t>MICROPROCESSOR SYSTEMS PROJECT · 2024</a:t>
            </a:r>
            <a:endParaRPr lang="en-US" sz="1000" dirty="0"/>
          </a:p>
        </p:txBody>
      </p:sp>
      <p:sp>
        <p:nvSpPr>
          <p:cNvPr id="15" name="Text 13"/>
          <p:cNvSpPr/>
          <p:nvPr/>
        </p:nvSpPr>
        <p:spPr>
          <a:xfrm>
            <a:off x="640080" y="1444752"/>
            <a:ext cx="6400800" cy="777240"/>
          </a:xfrm>
          <a:prstGeom prst="rect">
            <a:avLst/>
          </a:prstGeom>
          <a:noFill/>
          <a:ln/>
        </p:spPr>
        <p:txBody>
          <a:bodyPr wrap="square" lIns="0" tIns="0" rIns="0" bIns="0" rtlCol="0" anchor="t"/>
          <a:lstStyle/>
          <a:p>
            <a:pPr marL="0" indent="0">
              <a:buNone/>
            </a:pPr>
            <a:r>
              <a:rPr lang="en-US" sz="2400" b="1" dirty="0">
                <a:solidFill>
                  <a:srgbClr val="0A1628"/>
                </a:solidFill>
                <a:latin typeface="Calibri" pitchFamily="34" charset="0"/>
                <a:ea typeface="Calibri" pitchFamily="34" charset="-122"/>
                <a:cs typeface="Calibri" pitchFamily="34" charset="-120"/>
              </a:rPr>
              <a:t>Three-Lane Adaptive Traffic Light Simulator</a:t>
            </a:r>
            <a:endParaRPr lang="en-US" sz="2400" dirty="0"/>
          </a:p>
        </p:txBody>
      </p:sp>
      <p:sp>
        <p:nvSpPr>
          <p:cNvPr id="16" name="Text 14"/>
          <p:cNvSpPr/>
          <p:nvPr/>
        </p:nvSpPr>
        <p:spPr>
          <a:xfrm>
            <a:off x="640080" y="2240280"/>
            <a:ext cx="6400800" cy="274320"/>
          </a:xfrm>
          <a:prstGeom prst="rect">
            <a:avLst/>
          </a:prstGeom>
          <a:noFill/>
          <a:ln/>
        </p:spPr>
        <p:txBody>
          <a:bodyPr wrap="square" lIns="0" tIns="0" rIns="0" bIns="0"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Developer</a:t>
            </a:r>
            <a:endParaRPr lang="en-US" sz="1200" dirty="0"/>
          </a:p>
        </p:txBody>
      </p:sp>
      <p:sp>
        <p:nvSpPr>
          <p:cNvPr id="17" name="Shape 15"/>
          <p:cNvSpPr/>
          <p:nvPr/>
        </p:nvSpPr>
        <p:spPr>
          <a:xfrm>
            <a:off x="6903720" y="1554480"/>
            <a:ext cx="594360" cy="594360"/>
          </a:xfrm>
          <a:prstGeom prst="ellipse">
            <a:avLst/>
          </a:prstGeom>
          <a:solidFill>
            <a:srgbClr val="0A1628"/>
          </a:solidFill>
          <a:ln w="8890">
            <a:solidFill>
              <a:srgbClr val="C9A961"/>
            </a:solidFill>
            <a:prstDash val="solid"/>
          </a:ln>
        </p:spPr>
      </p:sp>
      <p:pic>
        <p:nvPicPr>
          <p:cNvPr id="18" name="Image 0" descr="/home/claude/icons/proj_traffic.png"/>
          <p:cNvPicPr>
            <a:picLocks noChangeAspect="1"/>
          </p:cNvPicPr>
          <p:nvPr/>
        </p:nvPicPr>
        <p:blipFill>
          <a:blip r:embed="rId3"/>
          <a:stretch>
            <a:fillRect/>
          </a:stretch>
        </p:blipFill>
        <p:spPr>
          <a:xfrm>
            <a:off x="7040880" y="1691640"/>
            <a:ext cx="320040" cy="320040"/>
          </a:xfrm>
          <a:prstGeom prst="rect">
            <a:avLst/>
          </a:prstGeom>
        </p:spPr>
      </p:pic>
      <p:sp>
        <p:nvSpPr>
          <p:cNvPr id="19" name="Shape 16"/>
          <p:cNvSpPr/>
          <p:nvPr/>
        </p:nvSpPr>
        <p:spPr>
          <a:xfrm>
            <a:off x="640080" y="2606040"/>
            <a:ext cx="960120" cy="292608"/>
          </a:xfrm>
          <a:prstGeom prst="rect">
            <a:avLst/>
          </a:prstGeom>
          <a:solidFill>
            <a:srgbClr val="0A1628"/>
          </a:solidFill>
          <a:ln w="12700">
            <a:solidFill>
              <a:srgbClr val="0A1628"/>
            </a:solidFill>
            <a:prstDash val="solid"/>
          </a:ln>
        </p:spPr>
      </p:sp>
      <p:sp>
        <p:nvSpPr>
          <p:cNvPr id="20" name="Text 17"/>
          <p:cNvSpPr/>
          <p:nvPr/>
        </p:nvSpPr>
        <p:spPr>
          <a:xfrm>
            <a:off x="640080" y="2606040"/>
            <a:ext cx="96012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ATmega328P</a:t>
            </a:r>
            <a:endParaRPr lang="en-US" sz="1000" dirty="0"/>
          </a:p>
        </p:txBody>
      </p:sp>
      <p:sp>
        <p:nvSpPr>
          <p:cNvPr id="21" name="Shape 18"/>
          <p:cNvSpPr/>
          <p:nvPr/>
        </p:nvSpPr>
        <p:spPr>
          <a:xfrm>
            <a:off x="1691640" y="2606040"/>
            <a:ext cx="1271016" cy="292608"/>
          </a:xfrm>
          <a:prstGeom prst="rect">
            <a:avLst/>
          </a:prstGeom>
          <a:solidFill>
            <a:srgbClr val="0A1628"/>
          </a:solidFill>
          <a:ln w="12700">
            <a:solidFill>
              <a:srgbClr val="0A1628"/>
            </a:solidFill>
            <a:prstDash val="solid"/>
          </a:ln>
        </p:spPr>
      </p:sp>
      <p:sp>
        <p:nvSpPr>
          <p:cNvPr id="22" name="Text 19"/>
          <p:cNvSpPr/>
          <p:nvPr/>
        </p:nvSpPr>
        <p:spPr>
          <a:xfrm>
            <a:off x="1691640" y="2606040"/>
            <a:ext cx="1271016"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CodeVision AVR</a:t>
            </a:r>
            <a:endParaRPr lang="en-US" sz="1000" dirty="0"/>
          </a:p>
        </p:txBody>
      </p:sp>
      <p:sp>
        <p:nvSpPr>
          <p:cNvPr id="23" name="Shape 20"/>
          <p:cNvSpPr/>
          <p:nvPr/>
        </p:nvSpPr>
        <p:spPr>
          <a:xfrm>
            <a:off x="3054096" y="2606040"/>
            <a:ext cx="726948" cy="292608"/>
          </a:xfrm>
          <a:prstGeom prst="rect">
            <a:avLst/>
          </a:prstGeom>
          <a:solidFill>
            <a:srgbClr val="0A1628"/>
          </a:solidFill>
          <a:ln w="12700">
            <a:solidFill>
              <a:srgbClr val="0A1628"/>
            </a:solidFill>
            <a:prstDash val="solid"/>
          </a:ln>
        </p:spPr>
      </p:sp>
      <p:sp>
        <p:nvSpPr>
          <p:cNvPr id="24" name="Text 21"/>
          <p:cNvSpPr/>
          <p:nvPr/>
        </p:nvSpPr>
        <p:spPr>
          <a:xfrm>
            <a:off x="3054096" y="2606040"/>
            <a:ext cx="726948"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Proteus</a:t>
            </a:r>
            <a:endParaRPr lang="en-US" sz="1000" dirty="0"/>
          </a:p>
        </p:txBody>
      </p:sp>
      <p:sp>
        <p:nvSpPr>
          <p:cNvPr id="25" name="Shape 22"/>
          <p:cNvSpPr/>
          <p:nvPr/>
        </p:nvSpPr>
        <p:spPr>
          <a:xfrm>
            <a:off x="3872484" y="2606040"/>
            <a:ext cx="457200" cy="292608"/>
          </a:xfrm>
          <a:prstGeom prst="rect">
            <a:avLst/>
          </a:prstGeom>
          <a:solidFill>
            <a:srgbClr val="0A1628"/>
          </a:solidFill>
          <a:ln w="12700">
            <a:solidFill>
              <a:srgbClr val="0A1628"/>
            </a:solidFill>
            <a:prstDash val="solid"/>
          </a:ln>
        </p:spPr>
      </p:sp>
      <p:sp>
        <p:nvSpPr>
          <p:cNvPr id="26" name="Text 23"/>
          <p:cNvSpPr/>
          <p:nvPr/>
        </p:nvSpPr>
        <p:spPr>
          <a:xfrm>
            <a:off x="3872484" y="2606040"/>
            <a:ext cx="457200" cy="292608"/>
          </a:xfrm>
          <a:prstGeom prst="rect">
            <a:avLst/>
          </a:prstGeom>
          <a:noFill/>
          <a:ln/>
        </p:spPr>
        <p:txBody>
          <a:bodyPr wrap="square" lIns="0" tIns="0" rIns="0" bIns="0" rtlCol="0" anchor="ctr"/>
          <a:lstStyle/>
          <a:p>
            <a:pPr marL="0" indent="0" algn="ctr">
              <a:buNone/>
            </a:pPr>
            <a:r>
              <a:rPr lang="en-US" sz="1000" b="1" dirty="0">
                <a:solidFill>
                  <a:srgbClr val="E8D7A8"/>
                </a:solidFill>
                <a:latin typeface="Calibri" pitchFamily="34" charset="0"/>
                <a:ea typeface="Calibri" pitchFamily="34" charset="-122"/>
                <a:cs typeface="Calibri" pitchFamily="34" charset="-120"/>
              </a:rPr>
              <a:t>C</a:t>
            </a:r>
            <a:endParaRPr lang="en-US" sz="1000" dirty="0"/>
          </a:p>
        </p:txBody>
      </p:sp>
      <p:sp>
        <p:nvSpPr>
          <p:cNvPr id="27" name="Text 24"/>
          <p:cNvSpPr/>
          <p:nvPr/>
        </p:nvSpPr>
        <p:spPr>
          <a:xfrm>
            <a:off x="640080" y="3108960"/>
            <a:ext cx="6400800" cy="1371600"/>
          </a:xfrm>
          <a:prstGeom prst="rect">
            <a:avLst/>
          </a:prstGeom>
          <a:noFill/>
          <a:ln/>
        </p:spPr>
        <p:txBody>
          <a:bodyPr wrap="square" lIns="0" tIns="0" rIns="0" bIns="0" rtlCol="0" anchor="t"/>
          <a:lstStyle/>
          <a:p>
            <a:pPr marL="0" indent="0" algn="just">
              <a:buNone/>
            </a:pPr>
            <a:r>
              <a:rPr lang="en-US" sz="1400" dirty="0">
                <a:solidFill>
                  <a:srgbClr val="1A1A1A"/>
                </a:solidFill>
                <a:latin typeface="Calibri" pitchFamily="34" charset="0"/>
                <a:ea typeface="Calibri" pitchFamily="34" charset="-122"/>
                <a:cs typeface="Calibri" pitchFamily="34" charset="-120"/>
              </a:rPr>
              <a:t>An adaptive traffic light controller for a three-way intersection, programmed in C via CodeVision AVR (CVAVR) and simulated using Proteus 8 Professional. Each lane is equipped with a seven-segment countdown timer, and the system dynamically adjusts the green light duration based on traffic density signals from push buttons combined with JK flip-flop logic.</a:t>
            </a:r>
            <a:endParaRPr lang="en-US" sz="1400" dirty="0"/>
          </a:p>
        </p:txBody>
      </p:sp>
      <p:sp>
        <p:nvSpPr>
          <p:cNvPr id="28" name="Text 25"/>
          <p:cNvSpPr/>
          <p:nvPr/>
        </p:nvSpPr>
        <p:spPr>
          <a:xfrm>
            <a:off x="640080" y="4398264"/>
            <a:ext cx="2743200" cy="274320"/>
          </a:xfrm>
          <a:prstGeom prst="rect">
            <a:avLst/>
          </a:prstGeom>
          <a:noFill/>
          <a:ln/>
        </p:spPr>
        <p:txBody>
          <a:bodyPr wrap="square" lIns="0" tIns="0" rIns="0" bIns="0" rtlCol="0" anchor="ctr"/>
          <a:lstStyle/>
          <a:p>
            <a:pPr marL="0" indent="0">
              <a:buNone/>
            </a:pPr>
            <a:r>
              <a:rPr lang="en-US" sz="1400" b="1" dirty="0">
                <a:solidFill>
                  <a:srgbClr val="C9A961"/>
                </a:solidFill>
                <a:latin typeface="Calibri" pitchFamily="34" charset="0"/>
                <a:ea typeface="Calibri" pitchFamily="34" charset="-122"/>
                <a:cs typeface="Calibri" pitchFamily="34" charset="-120"/>
              </a:rPr>
              <a:t>KEY HIGHLIGHTS</a:t>
            </a:r>
            <a:endParaRPr lang="en-US" sz="1400" dirty="0"/>
          </a:p>
        </p:txBody>
      </p:sp>
      <p:sp>
        <p:nvSpPr>
          <p:cNvPr id="29" name="Shape 26"/>
          <p:cNvSpPr/>
          <p:nvPr/>
        </p:nvSpPr>
        <p:spPr>
          <a:xfrm>
            <a:off x="640080" y="4661154"/>
            <a:ext cx="457200" cy="22860"/>
          </a:xfrm>
          <a:prstGeom prst="rect">
            <a:avLst/>
          </a:prstGeom>
          <a:solidFill>
            <a:srgbClr val="C9A961"/>
          </a:solidFill>
          <a:ln w="12700">
            <a:solidFill>
              <a:srgbClr val="C9A961"/>
            </a:solidFill>
            <a:prstDash val="solid"/>
          </a:ln>
        </p:spPr>
      </p:sp>
      <p:sp>
        <p:nvSpPr>
          <p:cNvPr id="30" name="Text 27"/>
          <p:cNvSpPr/>
          <p:nvPr/>
        </p:nvSpPr>
        <p:spPr>
          <a:xfrm>
            <a:off x="640080" y="4684014"/>
            <a:ext cx="6400800" cy="1371600"/>
          </a:xfrm>
          <a:prstGeom prst="rect">
            <a:avLst/>
          </a:prstGeom>
          <a:noFill/>
          <a:ln/>
        </p:spPr>
        <p:txBody>
          <a:bodyPr wrap="square" lIns="0" tIns="0" rIns="0" bIns="0" rtlCol="0" anchor="t"/>
          <a:lstStyle/>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ATmega328P microcontroller programmed in C via CVAVR</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7-segment countdown display per lane with dynamic timing</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Density-aware green-phase scheduling using JK flip-flop logic</a:t>
            </a:r>
            <a:endParaRPr lang="en-US" sz="1400" dirty="0"/>
          </a:p>
          <a:p>
            <a:pPr marL="342900" indent="-342900" algn="just">
              <a:spcAft>
                <a:spcPts val="300"/>
              </a:spcAft>
              <a:buSzPct val="100000"/>
              <a:buChar char="■"/>
            </a:pPr>
            <a:r>
              <a:rPr lang="en-US" sz="1400" dirty="0">
                <a:solidFill>
                  <a:srgbClr val="1A1A1A"/>
                </a:solidFill>
                <a:latin typeface="Calibri" pitchFamily="34" charset="0"/>
                <a:ea typeface="Calibri" pitchFamily="34" charset="-122"/>
                <a:cs typeface="Calibri" pitchFamily="34" charset="-120"/>
              </a:rPr>
              <a:t>Simulated and validated in Proteus 8 Professional</a:t>
            </a:r>
            <a:endParaRPr lang="en-US" sz="1400" dirty="0"/>
          </a:p>
        </p:txBody>
      </p:sp>
      <p:sp>
        <p:nvSpPr>
          <p:cNvPr id="31" name="Shape 28"/>
          <p:cNvSpPr/>
          <p:nvPr/>
        </p:nvSpPr>
        <p:spPr>
          <a:xfrm>
            <a:off x="7589520" y="1097280"/>
            <a:ext cx="4114800" cy="53035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32" name="Shape 29"/>
          <p:cNvSpPr/>
          <p:nvPr/>
        </p:nvSpPr>
        <p:spPr>
          <a:xfrm>
            <a:off x="7589520" y="1097280"/>
            <a:ext cx="73152" cy="5303520"/>
          </a:xfrm>
          <a:prstGeom prst="rect">
            <a:avLst/>
          </a:prstGeom>
          <a:solidFill>
            <a:srgbClr val="C9A961"/>
          </a:solidFill>
          <a:ln w="12700">
            <a:solidFill>
              <a:srgbClr val="C9A961"/>
            </a:solidFill>
            <a:prstDash val="solid"/>
          </a:ln>
        </p:spPr>
      </p:sp>
      <p:pic>
        <p:nvPicPr>
          <p:cNvPr id="33" name="Image 1" descr="/home/claude/project_imgs/traffic_proteus.jpg"/>
          <p:cNvPicPr>
            <a:picLocks noChangeAspect="1"/>
          </p:cNvPicPr>
          <p:nvPr/>
        </p:nvPicPr>
        <p:blipFill>
          <a:blip r:embed="rId4"/>
          <a:srcRect/>
          <a:stretch/>
        </p:blipFill>
        <p:spPr>
          <a:xfrm>
            <a:off x="7818120" y="1325880"/>
            <a:ext cx="3657600" cy="4480560"/>
          </a:xfrm>
          <a:prstGeom prst="rect">
            <a:avLst/>
          </a:prstGeom>
        </p:spPr>
      </p:pic>
      <p:sp>
        <p:nvSpPr>
          <p:cNvPr id="34" name="Text 30"/>
          <p:cNvSpPr/>
          <p:nvPr/>
        </p:nvSpPr>
        <p:spPr>
          <a:xfrm>
            <a:off x="7818120" y="5897880"/>
            <a:ext cx="3657600" cy="365760"/>
          </a:xfrm>
          <a:prstGeom prst="rect">
            <a:avLst/>
          </a:prstGeom>
          <a:noFill/>
          <a:ln/>
        </p:spPr>
        <p:txBody>
          <a:bodyPr wrap="square" lIns="0" tIns="0" rIns="0" bIns="0" rtlCol="0" anchor="ctr"/>
          <a:lstStyle/>
          <a:p>
            <a:pPr marL="0" indent="0" algn="ctr">
              <a:buNone/>
            </a:pPr>
            <a:r>
              <a:rPr lang="en-US" sz="1000" i="1" dirty="0">
                <a:solidFill>
                  <a:srgbClr val="5A5A5A"/>
                </a:solidFill>
                <a:latin typeface="Calibri" pitchFamily="34" charset="0"/>
                <a:ea typeface="Calibri" pitchFamily="34" charset="-122"/>
                <a:cs typeface="Calibri" pitchFamily="34" charset="-120"/>
              </a:rPr>
              <a:t>Three-way intersection simulation in Proteus 8</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8F5EE"/>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0A1628"/>
          </a:solidFill>
          <a:ln w="12700">
            <a:solidFill>
              <a:srgbClr val="0A1628"/>
            </a:solidFill>
            <a:prstDash val="solid"/>
          </a:ln>
        </p:spPr>
      </p:sp>
      <p:sp>
        <p:nvSpPr>
          <p:cNvPr id="3" name="Shape 1"/>
          <p:cNvSpPr/>
          <p:nvPr/>
        </p:nvSpPr>
        <p:spPr>
          <a:xfrm>
            <a:off x="0" y="457200"/>
            <a:ext cx="12161520" cy="36576"/>
          </a:xfrm>
          <a:prstGeom prst="rect">
            <a:avLst/>
          </a:prstGeom>
          <a:solidFill>
            <a:srgbClr val="C9A961"/>
          </a:solidFill>
          <a:ln w="12700">
            <a:solidFill>
              <a:srgbClr val="C9A961"/>
            </a:solidFill>
            <a:prstDash val="solid"/>
          </a:ln>
        </p:spPr>
      </p:sp>
      <p:sp>
        <p:nvSpPr>
          <p:cNvPr id="4" name="Text 2"/>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5" name="Text 3"/>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6" name="Text 4"/>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13 / 17</a:t>
            </a:r>
            <a:endParaRPr lang="en-US" sz="900" dirty="0"/>
          </a:p>
        </p:txBody>
      </p:sp>
      <p:sp>
        <p:nvSpPr>
          <p:cNvPr id="7" name="Shape 5"/>
          <p:cNvSpPr/>
          <p:nvPr/>
        </p:nvSpPr>
        <p:spPr>
          <a:xfrm>
            <a:off x="0" y="6565392"/>
            <a:ext cx="12161520" cy="292608"/>
          </a:xfrm>
          <a:prstGeom prst="rect">
            <a:avLst/>
          </a:prstGeom>
          <a:solidFill>
            <a:srgbClr val="1B2D4A"/>
          </a:solidFill>
          <a:ln w="12700">
            <a:solidFill>
              <a:srgbClr val="1B2D4A"/>
            </a:solidFill>
            <a:prstDash val="solid"/>
          </a:ln>
        </p:spPr>
      </p:sp>
      <p:sp>
        <p:nvSpPr>
          <p:cNvPr id="8" name="Shape 6"/>
          <p:cNvSpPr/>
          <p:nvPr/>
        </p:nvSpPr>
        <p:spPr>
          <a:xfrm>
            <a:off x="0" y="6547104"/>
            <a:ext cx="12161520" cy="18288"/>
          </a:xfrm>
          <a:prstGeom prst="rect">
            <a:avLst/>
          </a:prstGeom>
          <a:solidFill>
            <a:srgbClr val="C9A961"/>
          </a:solidFill>
          <a:ln w="12700">
            <a:solidFill>
              <a:srgbClr val="C9A961"/>
            </a:solidFill>
            <a:prstDash val="solid"/>
          </a:ln>
        </p:spPr>
      </p:sp>
      <p:sp>
        <p:nvSpPr>
          <p:cNvPr id="9" name="Text 7"/>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0" name="Text 8"/>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11" name="Text 9"/>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12" name="Text 10"/>
          <p:cNvSpPr/>
          <p:nvPr/>
        </p:nvSpPr>
        <p:spPr>
          <a:xfrm>
            <a:off x="640080" y="822960"/>
            <a:ext cx="45720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05  ·  EXPERIENCE</a:t>
            </a:r>
            <a:endParaRPr lang="en-US" sz="2000" dirty="0"/>
          </a:p>
        </p:txBody>
      </p:sp>
      <p:sp>
        <p:nvSpPr>
          <p:cNvPr id="13" name="Shape 11"/>
          <p:cNvSpPr/>
          <p:nvPr/>
        </p:nvSpPr>
        <p:spPr>
          <a:xfrm>
            <a:off x="640080" y="1115568"/>
            <a:ext cx="640080" cy="27432"/>
          </a:xfrm>
          <a:prstGeom prst="rect">
            <a:avLst/>
          </a:prstGeom>
          <a:solidFill>
            <a:srgbClr val="C9A961"/>
          </a:solidFill>
          <a:ln w="12700">
            <a:solidFill>
              <a:srgbClr val="C9A961"/>
            </a:solidFill>
            <a:prstDash val="solid"/>
          </a:ln>
        </p:spPr>
      </p:sp>
      <p:sp>
        <p:nvSpPr>
          <p:cNvPr id="14" name="Text 12"/>
          <p:cNvSpPr/>
          <p:nvPr/>
        </p:nvSpPr>
        <p:spPr>
          <a:xfrm>
            <a:off x="640080" y="1207008"/>
            <a:ext cx="8229600" cy="548640"/>
          </a:xfrm>
          <a:prstGeom prst="rect">
            <a:avLst/>
          </a:prstGeom>
          <a:noFill/>
          <a:ln/>
        </p:spPr>
        <p:txBody>
          <a:bodyPr wrap="square" lIns="0" tIns="0" rIns="0" bIns="0" rtlCol="0" anchor="ctr"/>
          <a:lstStyle/>
          <a:p>
            <a:pPr marL="0" indent="0">
              <a:buNone/>
            </a:pPr>
            <a:r>
              <a:rPr lang="en-US" sz="2800" b="1" dirty="0">
                <a:solidFill>
                  <a:srgbClr val="0A1628"/>
                </a:solidFill>
                <a:latin typeface="Calibri" pitchFamily="34" charset="0"/>
                <a:ea typeface="Calibri" pitchFamily="34" charset="-122"/>
                <a:cs typeface="Calibri" pitchFamily="34" charset="-120"/>
              </a:rPr>
              <a:t>Professional Experience</a:t>
            </a:r>
            <a:endParaRPr lang="en-US" sz="2800" dirty="0"/>
          </a:p>
        </p:txBody>
      </p:sp>
      <p:sp>
        <p:nvSpPr>
          <p:cNvPr id="15" name="Shape 13"/>
          <p:cNvSpPr/>
          <p:nvPr/>
        </p:nvSpPr>
        <p:spPr>
          <a:xfrm>
            <a:off x="594360" y="1737360"/>
            <a:ext cx="164592" cy="164592"/>
          </a:xfrm>
          <a:prstGeom prst="ellipse">
            <a:avLst/>
          </a:prstGeom>
          <a:solidFill>
            <a:srgbClr val="C9A961"/>
          </a:solidFill>
          <a:ln w="12700">
            <a:solidFill>
              <a:srgbClr val="C9A961"/>
            </a:solidFill>
            <a:prstDash val="solid"/>
          </a:ln>
        </p:spPr>
      </p:sp>
      <p:sp>
        <p:nvSpPr>
          <p:cNvPr id="16" name="Shape 14"/>
          <p:cNvSpPr/>
          <p:nvPr/>
        </p:nvSpPr>
        <p:spPr>
          <a:xfrm>
            <a:off x="10607040" y="1691640"/>
            <a:ext cx="502920" cy="502920"/>
          </a:xfrm>
          <a:prstGeom prst="ellipse">
            <a:avLst/>
          </a:prstGeom>
          <a:solidFill>
            <a:srgbClr val="0A1628"/>
          </a:solidFill>
          <a:ln w="7620">
            <a:solidFill>
              <a:srgbClr val="C9A961"/>
            </a:solidFill>
            <a:prstDash val="solid"/>
          </a:ln>
        </p:spPr>
      </p:sp>
      <p:pic>
        <p:nvPicPr>
          <p:cNvPr id="17" name="Image 0" descr="/home/claude/icons/exp_pln.png"/>
          <p:cNvPicPr>
            <a:picLocks noChangeAspect="1"/>
          </p:cNvPicPr>
          <p:nvPr/>
        </p:nvPicPr>
        <p:blipFill>
          <a:blip r:embed="rId3"/>
          <a:stretch>
            <a:fillRect/>
          </a:stretch>
        </p:blipFill>
        <p:spPr>
          <a:xfrm>
            <a:off x="10698480" y="1783080"/>
            <a:ext cx="320040" cy="320040"/>
          </a:xfrm>
          <a:prstGeom prst="rect">
            <a:avLst/>
          </a:prstGeom>
        </p:spPr>
      </p:pic>
      <p:sp>
        <p:nvSpPr>
          <p:cNvPr id="18" name="Text 15"/>
          <p:cNvSpPr/>
          <p:nvPr/>
        </p:nvSpPr>
        <p:spPr>
          <a:xfrm>
            <a:off x="914400" y="1691640"/>
            <a:ext cx="6400800" cy="27432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Engineering Intern</a:t>
            </a:r>
            <a:endParaRPr lang="en-US" sz="1400" dirty="0"/>
          </a:p>
        </p:txBody>
      </p:sp>
      <p:sp>
        <p:nvSpPr>
          <p:cNvPr id="19" name="Text 16"/>
          <p:cNvSpPr/>
          <p:nvPr/>
        </p:nvSpPr>
        <p:spPr>
          <a:xfrm>
            <a:off x="914400" y="1965960"/>
            <a:ext cx="6400800" cy="228600"/>
          </a:xfrm>
          <a:prstGeom prst="rect">
            <a:avLst/>
          </a:prstGeom>
          <a:noFill/>
          <a:ln/>
        </p:spPr>
        <p:txBody>
          <a:bodyPr wrap="square" lIns="0" tIns="0" rIns="0" bIns="0" rtlCol="0" anchor="ctr"/>
          <a:lstStyle/>
          <a:p>
            <a:pPr marL="0" indent="0">
              <a:buNone/>
            </a:pPr>
            <a:r>
              <a:rPr lang="en-US" sz="1400" b="1" dirty="0">
                <a:solidFill>
                  <a:srgbClr val="C9A961"/>
                </a:solidFill>
                <a:latin typeface="Calibri" pitchFamily="34" charset="0"/>
                <a:ea typeface="Calibri" pitchFamily="34" charset="-122"/>
                <a:cs typeface="Calibri" pitchFamily="34" charset="-120"/>
              </a:rPr>
              <a:t>PT PLN (Persero) — ULP Pasir Pengaraian</a:t>
            </a:r>
            <a:endParaRPr lang="en-US" sz="1400" dirty="0"/>
          </a:p>
        </p:txBody>
      </p:sp>
      <p:sp>
        <p:nvSpPr>
          <p:cNvPr id="20" name="Text 17"/>
          <p:cNvSpPr/>
          <p:nvPr/>
        </p:nvSpPr>
        <p:spPr>
          <a:xfrm>
            <a:off x="8183880" y="1691640"/>
            <a:ext cx="2286000" cy="228600"/>
          </a:xfrm>
          <a:prstGeom prst="rect">
            <a:avLst/>
          </a:prstGeom>
          <a:noFill/>
          <a:ln/>
        </p:spPr>
        <p:txBody>
          <a:bodyPr wrap="square" lIns="0" tIns="0" rIns="0" bIns="0" rtlCol="0" anchor="ctr"/>
          <a:lstStyle/>
          <a:p>
            <a:pPr marL="0" indent="0" algn="r">
              <a:buNone/>
            </a:pPr>
            <a:r>
              <a:rPr lang="en-US" sz="1000" i="1" dirty="0">
                <a:solidFill>
                  <a:srgbClr val="5A5A5A"/>
                </a:solidFill>
                <a:latin typeface="Calibri" pitchFamily="34" charset="0"/>
                <a:ea typeface="Calibri" pitchFamily="34" charset="-122"/>
                <a:cs typeface="Calibri" pitchFamily="34" charset="-120"/>
              </a:rPr>
              <a:t>Sep 2025 – Oct 2025</a:t>
            </a:r>
            <a:endParaRPr lang="en-US" sz="1000" dirty="0"/>
          </a:p>
        </p:txBody>
      </p:sp>
      <p:sp>
        <p:nvSpPr>
          <p:cNvPr id="21" name="Text 18"/>
          <p:cNvSpPr/>
          <p:nvPr/>
        </p:nvSpPr>
        <p:spPr>
          <a:xfrm>
            <a:off x="8183880" y="1920240"/>
            <a:ext cx="2286000" cy="228600"/>
          </a:xfrm>
          <a:prstGeom prst="rect">
            <a:avLst/>
          </a:prstGeom>
          <a:noFill/>
          <a:ln/>
        </p:spPr>
        <p:txBody>
          <a:bodyPr wrap="square" lIns="0" tIns="0" rIns="0" bIns="0" rtlCol="0" anchor="ctr"/>
          <a:lstStyle/>
          <a:p>
            <a:pPr marL="0" indent="0" algn="r">
              <a:buNone/>
            </a:pPr>
            <a:r>
              <a:rPr lang="en-US" sz="1000" i="1" dirty="0">
                <a:solidFill>
                  <a:srgbClr val="5A5A5A"/>
                </a:solidFill>
                <a:latin typeface="Calibri" pitchFamily="34" charset="0"/>
                <a:ea typeface="Calibri" pitchFamily="34" charset="-122"/>
                <a:cs typeface="Calibri" pitchFamily="34" charset="-120"/>
              </a:rPr>
              <a:t>Riau, Indonesia</a:t>
            </a:r>
            <a:endParaRPr lang="en-US" sz="1000" dirty="0"/>
          </a:p>
        </p:txBody>
      </p:sp>
      <p:sp>
        <p:nvSpPr>
          <p:cNvPr id="22" name="Text 19"/>
          <p:cNvSpPr/>
          <p:nvPr/>
        </p:nvSpPr>
        <p:spPr>
          <a:xfrm>
            <a:off x="914400" y="2240280"/>
            <a:ext cx="9875520" cy="1005840"/>
          </a:xfrm>
          <a:prstGeom prst="rect">
            <a:avLst/>
          </a:prstGeom>
          <a:noFill/>
          <a:ln/>
        </p:spPr>
        <p:txBody>
          <a:bodyPr wrap="square" lIns="0" tIns="0" rIns="0" bIns="0" rtlCol="0" anchor="t"/>
          <a:lstStyle/>
          <a:p>
            <a:pPr marL="342900" indent="-342900" algn="just">
              <a:spcAft>
                <a:spcPts val="100"/>
              </a:spcAft>
              <a:buSzPct val="100000"/>
              <a:buChar char="■"/>
            </a:pPr>
            <a:r>
              <a:rPr lang="en-US" sz="1400" dirty="0">
                <a:solidFill>
                  <a:srgbClr val="1A1A1A"/>
                </a:solidFill>
                <a:latin typeface="Calibri" pitchFamily="34" charset="0"/>
                <a:ea typeface="Calibri" pitchFamily="34" charset="-122"/>
                <a:cs typeface="Calibri" pitchFamily="34" charset="-120"/>
              </a:rPr>
              <a:t>Worked in the Engineering (Teknik) Division, handling customer outage data through the APKT system.</a:t>
            </a:r>
            <a:endParaRPr lang="en-US" sz="1400" dirty="0"/>
          </a:p>
          <a:p>
            <a:pPr marL="342900" indent="-342900" algn="just">
              <a:spcAft>
                <a:spcPts val="100"/>
              </a:spcAft>
              <a:buSzPct val="100000"/>
              <a:buChar char="■"/>
            </a:pPr>
            <a:r>
              <a:rPr lang="en-US" sz="1400" dirty="0">
                <a:solidFill>
                  <a:srgbClr val="1A1A1A"/>
                </a:solidFill>
                <a:latin typeface="Calibri" pitchFamily="34" charset="0"/>
                <a:ea typeface="Calibri" pitchFamily="34" charset="-122"/>
                <a:cs typeface="Calibri" pitchFamily="34" charset="-120"/>
              </a:rPr>
              <a:t>Performed reliability analysis using SAIDI and SAIFI indices to evaluate distribution network performance.</a:t>
            </a:r>
            <a:endParaRPr lang="en-US" sz="1400" dirty="0"/>
          </a:p>
          <a:p>
            <a:pPr marL="342900" indent="-342900" algn="just">
              <a:spcAft>
                <a:spcPts val="100"/>
              </a:spcAft>
              <a:buSzPct val="100000"/>
              <a:buChar char="■"/>
            </a:pPr>
            <a:r>
              <a:rPr lang="en-US" sz="1400" dirty="0">
                <a:solidFill>
                  <a:srgbClr val="1A1A1A"/>
                </a:solidFill>
                <a:latin typeface="Calibri" pitchFamily="34" charset="0"/>
                <a:ea typeface="Calibri" pitchFamily="34" charset="-122"/>
                <a:cs typeface="Calibri" pitchFamily="34" charset="-120"/>
              </a:rPr>
              <a:t>Supported division performance evaluation and collaborated with field technicians on outage resolution.</a:t>
            </a:r>
            <a:endParaRPr lang="en-US" sz="1400" dirty="0"/>
          </a:p>
          <a:p>
            <a:pPr marL="342900" indent="-342900" algn="just">
              <a:spcAft>
                <a:spcPts val="100"/>
              </a:spcAft>
              <a:buSzPct val="100000"/>
              <a:buChar char="■"/>
            </a:pPr>
            <a:r>
              <a:rPr lang="en-US" sz="1400" dirty="0">
                <a:solidFill>
                  <a:srgbClr val="1A1A1A"/>
                </a:solidFill>
                <a:latin typeface="Calibri" pitchFamily="34" charset="0"/>
                <a:ea typeface="Calibri" pitchFamily="34" charset="-122"/>
                <a:cs typeface="Calibri" pitchFamily="34" charset="-120"/>
              </a:rPr>
              <a:t>Gained hands-on understanding of PLN distribution operations, work culture, and customer service standards.</a:t>
            </a:r>
            <a:endParaRPr lang="en-US" sz="1400" dirty="0"/>
          </a:p>
        </p:txBody>
      </p:sp>
      <p:sp>
        <p:nvSpPr>
          <p:cNvPr id="23" name="Shape 20"/>
          <p:cNvSpPr/>
          <p:nvPr/>
        </p:nvSpPr>
        <p:spPr>
          <a:xfrm>
            <a:off x="594360" y="3703320"/>
            <a:ext cx="164592" cy="164592"/>
          </a:xfrm>
          <a:prstGeom prst="ellipse">
            <a:avLst/>
          </a:prstGeom>
          <a:solidFill>
            <a:srgbClr val="C9A961"/>
          </a:solidFill>
          <a:ln w="12700">
            <a:solidFill>
              <a:srgbClr val="C9A961"/>
            </a:solidFill>
            <a:prstDash val="solid"/>
          </a:ln>
        </p:spPr>
      </p:sp>
      <p:sp>
        <p:nvSpPr>
          <p:cNvPr id="24" name="Shape 21"/>
          <p:cNvSpPr/>
          <p:nvPr/>
        </p:nvSpPr>
        <p:spPr>
          <a:xfrm>
            <a:off x="10607040" y="3657600"/>
            <a:ext cx="502920" cy="502920"/>
          </a:xfrm>
          <a:prstGeom prst="ellipse">
            <a:avLst/>
          </a:prstGeom>
          <a:solidFill>
            <a:srgbClr val="0A1628"/>
          </a:solidFill>
          <a:ln w="7620">
            <a:solidFill>
              <a:srgbClr val="C9A961"/>
            </a:solidFill>
            <a:prstDash val="solid"/>
          </a:ln>
        </p:spPr>
      </p:sp>
      <p:pic>
        <p:nvPicPr>
          <p:cNvPr id="25" name="Image 1" descr="/home/claude/icons/exp_lab.png"/>
          <p:cNvPicPr>
            <a:picLocks noChangeAspect="1"/>
          </p:cNvPicPr>
          <p:nvPr/>
        </p:nvPicPr>
        <p:blipFill>
          <a:blip r:embed="rId4"/>
          <a:stretch>
            <a:fillRect/>
          </a:stretch>
        </p:blipFill>
        <p:spPr>
          <a:xfrm>
            <a:off x="10698480" y="3749040"/>
            <a:ext cx="320040" cy="320040"/>
          </a:xfrm>
          <a:prstGeom prst="rect">
            <a:avLst/>
          </a:prstGeom>
        </p:spPr>
      </p:pic>
      <p:sp>
        <p:nvSpPr>
          <p:cNvPr id="26" name="Text 22"/>
          <p:cNvSpPr/>
          <p:nvPr/>
        </p:nvSpPr>
        <p:spPr>
          <a:xfrm>
            <a:off x="914400" y="3657600"/>
            <a:ext cx="6400800" cy="27432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Laboratory Assistant — Telecommunication Systems</a:t>
            </a:r>
            <a:endParaRPr lang="en-US" sz="1400" dirty="0"/>
          </a:p>
        </p:txBody>
      </p:sp>
      <p:sp>
        <p:nvSpPr>
          <p:cNvPr id="27" name="Text 23"/>
          <p:cNvSpPr/>
          <p:nvPr/>
        </p:nvSpPr>
        <p:spPr>
          <a:xfrm>
            <a:off x="914400" y="3931920"/>
            <a:ext cx="6400800" cy="228600"/>
          </a:xfrm>
          <a:prstGeom prst="rect">
            <a:avLst/>
          </a:prstGeom>
          <a:noFill/>
          <a:ln/>
        </p:spPr>
        <p:txBody>
          <a:bodyPr wrap="square" lIns="0" tIns="0" rIns="0" bIns="0" rtlCol="0" anchor="ctr"/>
          <a:lstStyle/>
          <a:p>
            <a:pPr marL="0" indent="0">
              <a:buNone/>
            </a:pPr>
            <a:r>
              <a:rPr lang="en-US" sz="1400" b="1" dirty="0">
                <a:solidFill>
                  <a:srgbClr val="C9A961"/>
                </a:solidFill>
                <a:latin typeface="Calibri" pitchFamily="34" charset="0"/>
                <a:ea typeface="Calibri" pitchFamily="34" charset="-122"/>
                <a:cs typeface="Calibri" pitchFamily="34" charset="-120"/>
              </a:rPr>
              <a:t>Department of Electrical Engineering, Universitas Islam Indonesia</a:t>
            </a:r>
            <a:endParaRPr lang="en-US" sz="1400" dirty="0"/>
          </a:p>
        </p:txBody>
      </p:sp>
      <p:sp>
        <p:nvSpPr>
          <p:cNvPr id="28" name="Text 24"/>
          <p:cNvSpPr/>
          <p:nvPr/>
        </p:nvSpPr>
        <p:spPr>
          <a:xfrm>
            <a:off x="8183880" y="3657600"/>
            <a:ext cx="2286000" cy="228600"/>
          </a:xfrm>
          <a:prstGeom prst="rect">
            <a:avLst/>
          </a:prstGeom>
          <a:noFill/>
          <a:ln/>
        </p:spPr>
        <p:txBody>
          <a:bodyPr wrap="square" lIns="0" tIns="0" rIns="0" bIns="0" rtlCol="0" anchor="ctr"/>
          <a:lstStyle/>
          <a:p>
            <a:pPr marL="0" indent="0" algn="r">
              <a:buNone/>
            </a:pPr>
            <a:r>
              <a:rPr lang="en-US" sz="1000" i="1" dirty="0">
                <a:solidFill>
                  <a:srgbClr val="5A5A5A"/>
                </a:solidFill>
                <a:latin typeface="Calibri" pitchFamily="34" charset="0"/>
                <a:ea typeface="Calibri" pitchFamily="34" charset="-122"/>
                <a:cs typeface="Calibri" pitchFamily="34" charset="-120"/>
              </a:rPr>
              <a:t>Apr 2025 – Present</a:t>
            </a:r>
            <a:endParaRPr lang="en-US" sz="1000" dirty="0"/>
          </a:p>
        </p:txBody>
      </p:sp>
      <p:sp>
        <p:nvSpPr>
          <p:cNvPr id="29" name="Text 25"/>
          <p:cNvSpPr/>
          <p:nvPr/>
        </p:nvSpPr>
        <p:spPr>
          <a:xfrm>
            <a:off x="8183880" y="3886200"/>
            <a:ext cx="2286000" cy="228600"/>
          </a:xfrm>
          <a:prstGeom prst="rect">
            <a:avLst/>
          </a:prstGeom>
          <a:noFill/>
          <a:ln/>
        </p:spPr>
        <p:txBody>
          <a:bodyPr wrap="square" lIns="0" tIns="0" rIns="0" bIns="0" rtlCol="0" anchor="ctr"/>
          <a:lstStyle/>
          <a:p>
            <a:pPr marL="0" indent="0" algn="r">
              <a:buNone/>
            </a:pPr>
            <a:r>
              <a:rPr lang="en-US" sz="1000" i="1" dirty="0">
                <a:solidFill>
                  <a:srgbClr val="5A5A5A"/>
                </a:solidFill>
                <a:latin typeface="Calibri" pitchFamily="34" charset="0"/>
                <a:ea typeface="Calibri" pitchFamily="34" charset="-122"/>
                <a:cs typeface="Calibri" pitchFamily="34" charset="-120"/>
              </a:rPr>
              <a:t>Yogyakarta</a:t>
            </a:r>
            <a:endParaRPr lang="en-US" sz="1000" dirty="0"/>
          </a:p>
        </p:txBody>
      </p:sp>
      <p:sp>
        <p:nvSpPr>
          <p:cNvPr id="30" name="Text 26"/>
          <p:cNvSpPr/>
          <p:nvPr/>
        </p:nvSpPr>
        <p:spPr>
          <a:xfrm>
            <a:off x="914400" y="4206240"/>
            <a:ext cx="9875520" cy="548640"/>
          </a:xfrm>
          <a:prstGeom prst="rect">
            <a:avLst/>
          </a:prstGeom>
          <a:noFill/>
          <a:ln/>
        </p:spPr>
        <p:txBody>
          <a:bodyPr wrap="square" lIns="0" tIns="0" rIns="0" bIns="0" rtlCol="0" anchor="t"/>
          <a:lstStyle/>
          <a:p>
            <a:pPr marL="342900" indent="-342900">
              <a:spcAft>
                <a:spcPts val="100"/>
              </a:spcAft>
              <a:buSzPct val="100000"/>
              <a:buChar char="■"/>
            </a:pPr>
            <a:r>
              <a:rPr lang="en-US" sz="1400" dirty="0">
                <a:solidFill>
                  <a:srgbClr val="1A1A1A"/>
                </a:solidFill>
                <a:latin typeface="Calibri" pitchFamily="34" charset="0"/>
                <a:ea typeface="Calibri" pitchFamily="34" charset="-122"/>
                <a:cs typeface="Calibri" pitchFamily="34" charset="-120"/>
              </a:rPr>
              <a:t>Guide undergraduate students through hands-on telecommunication systems experiments.</a:t>
            </a:r>
            <a:endParaRPr lang="en-US" sz="1400" dirty="0"/>
          </a:p>
          <a:p>
            <a:pPr marL="342900" indent="-342900">
              <a:spcAft>
                <a:spcPts val="100"/>
              </a:spcAft>
              <a:buSzPct val="100000"/>
              <a:buChar char="■"/>
            </a:pPr>
            <a:r>
              <a:rPr lang="en-US" sz="1400" dirty="0">
                <a:solidFill>
                  <a:srgbClr val="1A1A1A"/>
                </a:solidFill>
                <a:latin typeface="Calibri" pitchFamily="34" charset="0"/>
                <a:ea typeface="Calibri" pitchFamily="34" charset="-122"/>
                <a:cs typeface="Calibri" pitchFamily="34" charset="-120"/>
              </a:rPr>
              <a:t>Prepare lab modules, evaluate student reports, and assist with troubleshooting.</a:t>
            </a:r>
            <a:endParaRPr lang="en-US" sz="1400" dirty="0"/>
          </a:p>
        </p:txBody>
      </p:sp>
      <p:sp>
        <p:nvSpPr>
          <p:cNvPr id="31" name="Shape 27"/>
          <p:cNvSpPr/>
          <p:nvPr/>
        </p:nvSpPr>
        <p:spPr>
          <a:xfrm>
            <a:off x="594360" y="5166360"/>
            <a:ext cx="164592" cy="164592"/>
          </a:xfrm>
          <a:prstGeom prst="ellipse">
            <a:avLst/>
          </a:prstGeom>
          <a:solidFill>
            <a:srgbClr val="C9A961"/>
          </a:solidFill>
          <a:ln w="12700">
            <a:solidFill>
              <a:srgbClr val="C9A961"/>
            </a:solidFill>
            <a:prstDash val="solid"/>
          </a:ln>
        </p:spPr>
      </p:sp>
      <p:sp>
        <p:nvSpPr>
          <p:cNvPr id="32" name="Shape 28"/>
          <p:cNvSpPr/>
          <p:nvPr/>
        </p:nvSpPr>
        <p:spPr>
          <a:xfrm>
            <a:off x="10607040" y="5120640"/>
            <a:ext cx="502920" cy="502920"/>
          </a:xfrm>
          <a:prstGeom prst="ellipse">
            <a:avLst/>
          </a:prstGeom>
          <a:solidFill>
            <a:srgbClr val="0A1628"/>
          </a:solidFill>
          <a:ln w="7620">
            <a:solidFill>
              <a:srgbClr val="C9A961"/>
            </a:solidFill>
            <a:prstDash val="solid"/>
          </a:ln>
        </p:spPr>
      </p:sp>
      <p:pic>
        <p:nvPicPr>
          <p:cNvPr id="33" name="Image 2" descr="/home/claude/icons/exp_lab.png"/>
          <p:cNvPicPr>
            <a:picLocks noChangeAspect="1"/>
          </p:cNvPicPr>
          <p:nvPr/>
        </p:nvPicPr>
        <p:blipFill>
          <a:blip r:embed="rId4"/>
          <a:stretch>
            <a:fillRect/>
          </a:stretch>
        </p:blipFill>
        <p:spPr>
          <a:xfrm>
            <a:off x="10698480" y="5212080"/>
            <a:ext cx="320040" cy="320040"/>
          </a:xfrm>
          <a:prstGeom prst="rect">
            <a:avLst/>
          </a:prstGeom>
        </p:spPr>
      </p:pic>
      <p:sp>
        <p:nvSpPr>
          <p:cNvPr id="34" name="Text 29"/>
          <p:cNvSpPr/>
          <p:nvPr/>
        </p:nvSpPr>
        <p:spPr>
          <a:xfrm>
            <a:off x="914400" y="5120640"/>
            <a:ext cx="6400800" cy="27432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Laboratory Assistant — Control Systems (PID &amp; LabVIEW)</a:t>
            </a:r>
            <a:endParaRPr lang="en-US" sz="1400" dirty="0"/>
          </a:p>
        </p:txBody>
      </p:sp>
      <p:sp>
        <p:nvSpPr>
          <p:cNvPr id="35" name="Text 30"/>
          <p:cNvSpPr/>
          <p:nvPr/>
        </p:nvSpPr>
        <p:spPr>
          <a:xfrm>
            <a:off x="914400" y="5394960"/>
            <a:ext cx="6400800" cy="228600"/>
          </a:xfrm>
          <a:prstGeom prst="rect">
            <a:avLst/>
          </a:prstGeom>
          <a:noFill/>
          <a:ln/>
        </p:spPr>
        <p:txBody>
          <a:bodyPr wrap="square" lIns="0" tIns="0" rIns="0" bIns="0" rtlCol="0" anchor="ctr"/>
          <a:lstStyle/>
          <a:p>
            <a:pPr marL="0" indent="0">
              <a:buNone/>
            </a:pPr>
            <a:r>
              <a:rPr lang="en-US" sz="1400" b="1" dirty="0">
                <a:solidFill>
                  <a:srgbClr val="C9A961"/>
                </a:solidFill>
                <a:latin typeface="Calibri" pitchFamily="34" charset="0"/>
                <a:ea typeface="Calibri" pitchFamily="34" charset="-122"/>
                <a:cs typeface="Calibri" pitchFamily="34" charset="-120"/>
              </a:rPr>
              <a:t>Department of Electrical Engineering, Universitas Islam Indonesia</a:t>
            </a:r>
            <a:endParaRPr lang="en-US" sz="1400" dirty="0"/>
          </a:p>
        </p:txBody>
      </p:sp>
      <p:sp>
        <p:nvSpPr>
          <p:cNvPr id="36" name="Text 31"/>
          <p:cNvSpPr/>
          <p:nvPr/>
        </p:nvSpPr>
        <p:spPr>
          <a:xfrm>
            <a:off x="8183880" y="5120640"/>
            <a:ext cx="2286000" cy="228600"/>
          </a:xfrm>
          <a:prstGeom prst="rect">
            <a:avLst/>
          </a:prstGeom>
          <a:noFill/>
          <a:ln/>
        </p:spPr>
        <p:txBody>
          <a:bodyPr wrap="square" lIns="0" tIns="0" rIns="0" bIns="0" rtlCol="0" anchor="ctr"/>
          <a:lstStyle/>
          <a:p>
            <a:pPr marL="0" indent="0" algn="r">
              <a:buNone/>
            </a:pPr>
            <a:r>
              <a:rPr lang="en-US" sz="1000" i="1" dirty="0">
                <a:solidFill>
                  <a:srgbClr val="5A5A5A"/>
                </a:solidFill>
                <a:latin typeface="Calibri" pitchFamily="34" charset="0"/>
                <a:ea typeface="Calibri" pitchFamily="34" charset="-122"/>
                <a:cs typeface="Calibri" pitchFamily="34" charset="-120"/>
              </a:rPr>
              <a:t>2025</a:t>
            </a:r>
            <a:endParaRPr lang="en-US" sz="1000" dirty="0"/>
          </a:p>
        </p:txBody>
      </p:sp>
      <p:sp>
        <p:nvSpPr>
          <p:cNvPr id="37" name="Text 32"/>
          <p:cNvSpPr/>
          <p:nvPr/>
        </p:nvSpPr>
        <p:spPr>
          <a:xfrm>
            <a:off x="8183880" y="5349240"/>
            <a:ext cx="2286000" cy="228600"/>
          </a:xfrm>
          <a:prstGeom prst="rect">
            <a:avLst/>
          </a:prstGeom>
          <a:noFill/>
          <a:ln/>
        </p:spPr>
        <p:txBody>
          <a:bodyPr wrap="square" lIns="0" tIns="0" rIns="0" bIns="0" rtlCol="0" anchor="ctr"/>
          <a:lstStyle/>
          <a:p>
            <a:pPr marL="0" indent="0" algn="r">
              <a:buNone/>
            </a:pPr>
            <a:r>
              <a:rPr lang="en-US" sz="1000" i="1" dirty="0">
                <a:solidFill>
                  <a:srgbClr val="5A5A5A"/>
                </a:solidFill>
                <a:latin typeface="Calibri" pitchFamily="34" charset="0"/>
                <a:ea typeface="Calibri" pitchFamily="34" charset="-122"/>
                <a:cs typeface="Calibri" pitchFamily="34" charset="-120"/>
              </a:rPr>
              <a:t>Yogyakarta</a:t>
            </a:r>
            <a:endParaRPr lang="en-US" sz="1000" dirty="0"/>
          </a:p>
        </p:txBody>
      </p:sp>
      <p:sp>
        <p:nvSpPr>
          <p:cNvPr id="38" name="Text 33"/>
          <p:cNvSpPr/>
          <p:nvPr/>
        </p:nvSpPr>
        <p:spPr>
          <a:xfrm>
            <a:off x="914400" y="5669280"/>
            <a:ext cx="9875520" cy="548640"/>
          </a:xfrm>
          <a:prstGeom prst="rect">
            <a:avLst/>
          </a:prstGeom>
          <a:noFill/>
          <a:ln/>
        </p:spPr>
        <p:txBody>
          <a:bodyPr wrap="square" lIns="0" tIns="0" rIns="0" bIns="0" rtlCol="0" anchor="t"/>
          <a:lstStyle/>
          <a:p>
            <a:pPr marL="342900" indent="-342900">
              <a:spcAft>
                <a:spcPts val="100"/>
              </a:spcAft>
              <a:buSzPct val="100000"/>
              <a:buChar char="■"/>
            </a:pPr>
            <a:r>
              <a:rPr lang="en-US" sz="1400" dirty="0">
                <a:solidFill>
                  <a:srgbClr val="1A1A1A"/>
                </a:solidFill>
                <a:latin typeface="Calibri" pitchFamily="34" charset="0"/>
                <a:ea typeface="Calibri" pitchFamily="34" charset="-122"/>
                <a:cs typeface="Calibri" pitchFamily="34" charset="-120"/>
              </a:rPr>
              <a:t>Mentored students on PID controller design, tuning, and LabVIEW-based simulation.</a:t>
            </a:r>
            <a:endParaRPr lang="en-US" sz="1400" dirty="0"/>
          </a:p>
          <a:p>
            <a:pPr marL="342900" indent="-342900">
              <a:spcAft>
                <a:spcPts val="100"/>
              </a:spcAft>
              <a:buSzPct val="100000"/>
              <a:buChar char="■"/>
            </a:pPr>
            <a:r>
              <a:rPr lang="en-US" sz="1400" dirty="0">
                <a:solidFill>
                  <a:srgbClr val="1A1A1A"/>
                </a:solidFill>
                <a:latin typeface="Calibri" pitchFamily="34" charset="0"/>
                <a:ea typeface="Calibri" pitchFamily="34" charset="-122"/>
                <a:cs typeface="Calibri" pitchFamily="34" charset="-120"/>
              </a:rPr>
              <a:t>Assisted in conducting practical sessions for closed-loop control experiments.</a:t>
            </a:r>
            <a:endParaRPr lang="en-US" sz="1400" dirty="0"/>
          </a:p>
        </p:txBody>
      </p:sp>
      <p:sp>
        <p:nvSpPr>
          <p:cNvPr id="39" name="Shape 34"/>
          <p:cNvSpPr/>
          <p:nvPr/>
        </p:nvSpPr>
        <p:spPr>
          <a:xfrm>
            <a:off x="676656" y="1874520"/>
            <a:ext cx="0" cy="4572000"/>
          </a:xfrm>
          <a:prstGeom prst="line">
            <a:avLst/>
          </a:prstGeom>
          <a:noFill/>
          <a:ln w="10160">
            <a:solidFill>
              <a:srgbClr val="C9A961"/>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8F5EE"/>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0A1628"/>
          </a:solidFill>
          <a:ln w="12700">
            <a:solidFill>
              <a:srgbClr val="0A1628"/>
            </a:solidFill>
            <a:prstDash val="solid"/>
          </a:ln>
        </p:spPr>
      </p:sp>
      <p:sp>
        <p:nvSpPr>
          <p:cNvPr id="3" name="Shape 1"/>
          <p:cNvSpPr/>
          <p:nvPr/>
        </p:nvSpPr>
        <p:spPr>
          <a:xfrm>
            <a:off x="0" y="457200"/>
            <a:ext cx="12161520" cy="36576"/>
          </a:xfrm>
          <a:prstGeom prst="rect">
            <a:avLst/>
          </a:prstGeom>
          <a:solidFill>
            <a:srgbClr val="C9A961"/>
          </a:solidFill>
          <a:ln w="12700">
            <a:solidFill>
              <a:srgbClr val="C9A961"/>
            </a:solidFill>
            <a:prstDash val="solid"/>
          </a:ln>
        </p:spPr>
      </p:sp>
      <p:sp>
        <p:nvSpPr>
          <p:cNvPr id="4" name="Text 2"/>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5" name="Text 3"/>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6" name="Text 4"/>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14 / 17</a:t>
            </a:r>
            <a:endParaRPr lang="en-US" sz="900" dirty="0"/>
          </a:p>
        </p:txBody>
      </p:sp>
      <p:sp>
        <p:nvSpPr>
          <p:cNvPr id="7" name="Shape 5"/>
          <p:cNvSpPr/>
          <p:nvPr/>
        </p:nvSpPr>
        <p:spPr>
          <a:xfrm>
            <a:off x="0" y="6565392"/>
            <a:ext cx="12161520" cy="292608"/>
          </a:xfrm>
          <a:prstGeom prst="rect">
            <a:avLst/>
          </a:prstGeom>
          <a:solidFill>
            <a:srgbClr val="1B2D4A"/>
          </a:solidFill>
          <a:ln w="12700">
            <a:solidFill>
              <a:srgbClr val="1B2D4A"/>
            </a:solidFill>
            <a:prstDash val="solid"/>
          </a:ln>
        </p:spPr>
      </p:sp>
      <p:sp>
        <p:nvSpPr>
          <p:cNvPr id="8" name="Shape 6"/>
          <p:cNvSpPr/>
          <p:nvPr/>
        </p:nvSpPr>
        <p:spPr>
          <a:xfrm>
            <a:off x="0" y="6547104"/>
            <a:ext cx="12161520" cy="18288"/>
          </a:xfrm>
          <a:prstGeom prst="rect">
            <a:avLst/>
          </a:prstGeom>
          <a:solidFill>
            <a:srgbClr val="C9A961"/>
          </a:solidFill>
          <a:ln w="12700">
            <a:solidFill>
              <a:srgbClr val="C9A961"/>
            </a:solidFill>
            <a:prstDash val="solid"/>
          </a:ln>
        </p:spPr>
      </p:sp>
      <p:sp>
        <p:nvSpPr>
          <p:cNvPr id="9" name="Text 7"/>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0" name="Text 8"/>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11" name="Text 9"/>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12" name="Text 10"/>
          <p:cNvSpPr/>
          <p:nvPr/>
        </p:nvSpPr>
        <p:spPr>
          <a:xfrm>
            <a:off x="640080" y="822960"/>
            <a:ext cx="45720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05  ·  EXPERIENCE (CONT.)</a:t>
            </a:r>
            <a:endParaRPr lang="en-US" sz="2000" dirty="0"/>
          </a:p>
        </p:txBody>
      </p:sp>
      <p:sp>
        <p:nvSpPr>
          <p:cNvPr id="13" name="Shape 11"/>
          <p:cNvSpPr/>
          <p:nvPr/>
        </p:nvSpPr>
        <p:spPr>
          <a:xfrm>
            <a:off x="640080" y="1115568"/>
            <a:ext cx="640080" cy="27432"/>
          </a:xfrm>
          <a:prstGeom prst="rect">
            <a:avLst/>
          </a:prstGeom>
          <a:solidFill>
            <a:srgbClr val="C9A961"/>
          </a:solidFill>
          <a:ln w="12700">
            <a:solidFill>
              <a:srgbClr val="C9A961"/>
            </a:solidFill>
            <a:prstDash val="solid"/>
          </a:ln>
        </p:spPr>
      </p:sp>
      <p:sp>
        <p:nvSpPr>
          <p:cNvPr id="14" name="Text 12"/>
          <p:cNvSpPr/>
          <p:nvPr/>
        </p:nvSpPr>
        <p:spPr>
          <a:xfrm>
            <a:off x="640080" y="1207008"/>
            <a:ext cx="8229600" cy="548640"/>
          </a:xfrm>
          <a:prstGeom prst="rect">
            <a:avLst/>
          </a:prstGeom>
          <a:noFill/>
          <a:ln/>
        </p:spPr>
        <p:txBody>
          <a:bodyPr wrap="square" lIns="0" tIns="0" rIns="0" bIns="0" rtlCol="0" anchor="ctr"/>
          <a:lstStyle/>
          <a:p>
            <a:pPr marL="0" indent="0">
              <a:buNone/>
            </a:pPr>
            <a:r>
              <a:rPr lang="en-US" sz="2800" b="1" dirty="0">
                <a:solidFill>
                  <a:srgbClr val="0A1628"/>
                </a:solidFill>
                <a:latin typeface="Calibri" pitchFamily="34" charset="0"/>
                <a:ea typeface="Calibri" pitchFamily="34" charset="-122"/>
                <a:cs typeface="Calibri" pitchFamily="34" charset="-120"/>
              </a:rPr>
              <a:t>Professional Experience</a:t>
            </a:r>
            <a:endParaRPr lang="en-US" sz="2800" dirty="0"/>
          </a:p>
        </p:txBody>
      </p:sp>
      <p:sp>
        <p:nvSpPr>
          <p:cNvPr id="15" name="Shape 13"/>
          <p:cNvSpPr/>
          <p:nvPr/>
        </p:nvSpPr>
        <p:spPr>
          <a:xfrm>
            <a:off x="594360" y="1737360"/>
            <a:ext cx="164592" cy="164592"/>
          </a:xfrm>
          <a:prstGeom prst="ellipse">
            <a:avLst/>
          </a:prstGeom>
          <a:solidFill>
            <a:srgbClr val="C9A961"/>
          </a:solidFill>
          <a:ln w="12700">
            <a:solidFill>
              <a:srgbClr val="C9A961"/>
            </a:solidFill>
            <a:prstDash val="solid"/>
          </a:ln>
        </p:spPr>
      </p:sp>
      <p:sp>
        <p:nvSpPr>
          <p:cNvPr id="16" name="Shape 14"/>
          <p:cNvSpPr/>
          <p:nvPr/>
        </p:nvSpPr>
        <p:spPr>
          <a:xfrm>
            <a:off x="10607040" y="1691640"/>
            <a:ext cx="502920" cy="502920"/>
          </a:xfrm>
          <a:prstGeom prst="ellipse">
            <a:avLst/>
          </a:prstGeom>
          <a:solidFill>
            <a:srgbClr val="0A1628"/>
          </a:solidFill>
          <a:ln w="7620">
            <a:solidFill>
              <a:srgbClr val="C9A961"/>
            </a:solidFill>
            <a:prstDash val="solid"/>
          </a:ln>
        </p:spPr>
      </p:sp>
      <p:pic>
        <p:nvPicPr>
          <p:cNvPr id="17" name="Image 0" descr="/home/claude/icons/exp_lab.png"/>
          <p:cNvPicPr>
            <a:picLocks noChangeAspect="1"/>
          </p:cNvPicPr>
          <p:nvPr/>
        </p:nvPicPr>
        <p:blipFill>
          <a:blip r:embed="rId3"/>
          <a:stretch>
            <a:fillRect/>
          </a:stretch>
        </p:blipFill>
        <p:spPr>
          <a:xfrm>
            <a:off x="10698480" y="1783080"/>
            <a:ext cx="320040" cy="320040"/>
          </a:xfrm>
          <a:prstGeom prst="rect">
            <a:avLst/>
          </a:prstGeom>
        </p:spPr>
      </p:pic>
      <p:sp>
        <p:nvSpPr>
          <p:cNvPr id="18" name="Text 15"/>
          <p:cNvSpPr/>
          <p:nvPr/>
        </p:nvSpPr>
        <p:spPr>
          <a:xfrm>
            <a:off x="914400" y="1691640"/>
            <a:ext cx="6400800" cy="27432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Laboratory Assistant — Digital Systems (VHDL &amp; FPGA)</a:t>
            </a:r>
            <a:endParaRPr lang="en-US" sz="1400" dirty="0"/>
          </a:p>
        </p:txBody>
      </p:sp>
      <p:sp>
        <p:nvSpPr>
          <p:cNvPr id="19" name="Text 16"/>
          <p:cNvSpPr/>
          <p:nvPr/>
        </p:nvSpPr>
        <p:spPr>
          <a:xfrm>
            <a:off x="914400" y="1965960"/>
            <a:ext cx="6400800" cy="228600"/>
          </a:xfrm>
          <a:prstGeom prst="rect">
            <a:avLst/>
          </a:prstGeom>
          <a:noFill/>
          <a:ln/>
        </p:spPr>
        <p:txBody>
          <a:bodyPr wrap="square" lIns="0" tIns="0" rIns="0" bIns="0" rtlCol="0" anchor="ctr"/>
          <a:lstStyle/>
          <a:p>
            <a:pPr marL="0" indent="0">
              <a:buNone/>
            </a:pPr>
            <a:r>
              <a:rPr lang="en-US" sz="1400" b="1" dirty="0">
                <a:solidFill>
                  <a:srgbClr val="C9A961"/>
                </a:solidFill>
                <a:latin typeface="Calibri" pitchFamily="34" charset="0"/>
                <a:ea typeface="Calibri" pitchFamily="34" charset="-122"/>
                <a:cs typeface="Calibri" pitchFamily="34" charset="-120"/>
              </a:rPr>
              <a:t>Department of Electrical Engineering, Universitas Islam Indonesia</a:t>
            </a:r>
            <a:endParaRPr lang="en-US" sz="1400" dirty="0"/>
          </a:p>
        </p:txBody>
      </p:sp>
      <p:sp>
        <p:nvSpPr>
          <p:cNvPr id="20" name="Text 17"/>
          <p:cNvSpPr/>
          <p:nvPr/>
        </p:nvSpPr>
        <p:spPr>
          <a:xfrm>
            <a:off x="8183880" y="1691640"/>
            <a:ext cx="2286000" cy="228600"/>
          </a:xfrm>
          <a:prstGeom prst="rect">
            <a:avLst/>
          </a:prstGeom>
          <a:noFill/>
          <a:ln/>
        </p:spPr>
        <p:txBody>
          <a:bodyPr wrap="square" lIns="0" tIns="0" rIns="0" bIns="0" rtlCol="0" anchor="ctr"/>
          <a:lstStyle/>
          <a:p>
            <a:pPr marL="0" indent="0" algn="r">
              <a:buNone/>
            </a:pPr>
            <a:r>
              <a:rPr lang="en-US" sz="1000" i="1" dirty="0">
                <a:solidFill>
                  <a:srgbClr val="5A5A5A"/>
                </a:solidFill>
                <a:latin typeface="Calibri" pitchFamily="34" charset="0"/>
                <a:ea typeface="Calibri" pitchFamily="34" charset="-122"/>
                <a:cs typeface="Calibri" pitchFamily="34" charset="-120"/>
              </a:rPr>
              <a:t>2024 – 2025</a:t>
            </a:r>
            <a:endParaRPr lang="en-US" sz="1000" dirty="0"/>
          </a:p>
        </p:txBody>
      </p:sp>
      <p:sp>
        <p:nvSpPr>
          <p:cNvPr id="21" name="Text 18"/>
          <p:cNvSpPr/>
          <p:nvPr/>
        </p:nvSpPr>
        <p:spPr>
          <a:xfrm>
            <a:off x="8183880" y="1920240"/>
            <a:ext cx="2286000" cy="228600"/>
          </a:xfrm>
          <a:prstGeom prst="rect">
            <a:avLst/>
          </a:prstGeom>
          <a:noFill/>
          <a:ln/>
        </p:spPr>
        <p:txBody>
          <a:bodyPr wrap="square" lIns="0" tIns="0" rIns="0" bIns="0" rtlCol="0" anchor="ctr"/>
          <a:lstStyle/>
          <a:p>
            <a:pPr marL="0" indent="0" algn="r">
              <a:buNone/>
            </a:pPr>
            <a:r>
              <a:rPr lang="en-US" sz="1000" i="1" dirty="0">
                <a:solidFill>
                  <a:srgbClr val="5A5A5A"/>
                </a:solidFill>
                <a:latin typeface="Calibri" pitchFamily="34" charset="0"/>
                <a:ea typeface="Calibri" pitchFamily="34" charset="-122"/>
                <a:cs typeface="Calibri" pitchFamily="34" charset="-120"/>
              </a:rPr>
              <a:t>Yogyakarta</a:t>
            </a:r>
            <a:endParaRPr lang="en-US" sz="1000" dirty="0"/>
          </a:p>
        </p:txBody>
      </p:sp>
      <p:sp>
        <p:nvSpPr>
          <p:cNvPr id="22" name="Text 19"/>
          <p:cNvSpPr/>
          <p:nvPr/>
        </p:nvSpPr>
        <p:spPr>
          <a:xfrm>
            <a:off x="914400" y="2240280"/>
            <a:ext cx="9875520" cy="548640"/>
          </a:xfrm>
          <a:prstGeom prst="rect">
            <a:avLst/>
          </a:prstGeom>
          <a:noFill/>
          <a:ln/>
        </p:spPr>
        <p:txBody>
          <a:bodyPr wrap="square" lIns="0" tIns="0" rIns="0" bIns="0" rtlCol="0" anchor="t"/>
          <a:lstStyle/>
          <a:p>
            <a:pPr marL="342900" indent="-342900" algn="just">
              <a:spcAft>
                <a:spcPts val="100"/>
              </a:spcAft>
              <a:buSzPct val="100000"/>
              <a:buChar char="■"/>
            </a:pPr>
            <a:r>
              <a:rPr lang="en-US" sz="1400" dirty="0">
                <a:solidFill>
                  <a:srgbClr val="1A1A1A"/>
                </a:solidFill>
                <a:latin typeface="Calibri" pitchFamily="34" charset="0"/>
                <a:ea typeface="Calibri" pitchFamily="34" charset="-122"/>
                <a:cs typeface="Calibri" pitchFamily="34" charset="-120"/>
              </a:rPr>
              <a:t>Mentored students on digital logic design using VHDL and FPGA implementation.</a:t>
            </a:r>
            <a:endParaRPr lang="en-US" sz="1400" dirty="0"/>
          </a:p>
          <a:p>
            <a:pPr marL="342900" indent="-342900" algn="just">
              <a:spcAft>
                <a:spcPts val="100"/>
              </a:spcAft>
              <a:buSzPct val="100000"/>
              <a:buChar char="■"/>
            </a:pPr>
            <a:r>
              <a:rPr lang="en-US" sz="1400" dirty="0">
                <a:solidFill>
                  <a:srgbClr val="1A1A1A"/>
                </a:solidFill>
                <a:latin typeface="Calibri" pitchFamily="34" charset="0"/>
                <a:ea typeface="Calibri" pitchFamily="34" charset="-122"/>
                <a:cs typeface="Calibri" pitchFamily="34" charset="-120"/>
              </a:rPr>
              <a:t>Supervised hands-on laboratory work in combinational and sequential logic circuits.</a:t>
            </a:r>
            <a:endParaRPr lang="en-US" sz="1400" dirty="0"/>
          </a:p>
        </p:txBody>
      </p:sp>
      <p:sp>
        <p:nvSpPr>
          <p:cNvPr id="23" name="Shape 20"/>
          <p:cNvSpPr/>
          <p:nvPr/>
        </p:nvSpPr>
        <p:spPr>
          <a:xfrm>
            <a:off x="594360" y="3200400"/>
            <a:ext cx="164592" cy="164592"/>
          </a:xfrm>
          <a:prstGeom prst="ellipse">
            <a:avLst/>
          </a:prstGeom>
          <a:solidFill>
            <a:srgbClr val="C9A961"/>
          </a:solidFill>
          <a:ln w="12700">
            <a:solidFill>
              <a:srgbClr val="C9A961"/>
            </a:solidFill>
            <a:prstDash val="solid"/>
          </a:ln>
        </p:spPr>
      </p:sp>
      <p:sp>
        <p:nvSpPr>
          <p:cNvPr id="24" name="Shape 21"/>
          <p:cNvSpPr/>
          <p:nvPr/>
        </p:nvSpPr>
        <p:spPr>
          <a:xfrm>
            <a:off x="10607040" y="3154680"/>
            <a:ext cx="502920" cy="502920"/>
          </a:xfrm>
          <a:prstGeom prst="ellipse">
            <a:avLst/>
          </a:prstGeom>
          <a:solidFill>
            <a:srgbClr val="0A1628"/>
          </a:solidFill>
          <a:ln w="7620">
            <a:solidFill>
              <a:srgbClr val="C9A961"/>
            </a:solidFill>
            <a:prstDash val="solid"/>
          </a:ln>
        </p:spPr>
      </p:sp>
      <p:pic>
        <p:nvPicPr>
          <p:cNvPr id="25" name="Image 1" descr="/home/claude/icons/exp_lab.png"/>
          <p:cNvPicPr>
            <a:picLocks noChangeAspect="1"/>
          </p:cNvPicPr>
          <p:nvPr/>
        </p:nvPicPr>
        <p:blipFill>
          <a:blip r:embed="rId3"/>
          <a:stretch>
            <a:fillRect/>
          </a:stretch>
        </p:blipFill>
        <p:spPr>
          <a:xfrm>
            <a:off x="10698480" y="3246120"/>
            <a:ext cx="320040" cy="320040"/>
          </a:xfrm>
          <a:prstGeom prst="rect">
            <a:avLst/>
          </a:prstGeom>
        </p:spPr>
      </p:pic>
      <p:sp>
        <p:nvSpPr>
          <p:cNvPr id="26" name="Text 22"/>
          <p:cNvSpPr/>
          <p:nvPr/>
        </p:nvSpPr>
        <p:spPr>
          <a:xfrm>
            <a:off x="914400" y="3154680"/>
            <a:ext cx="6400800" cy="27432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Laboratory Assistant — Electric Circuit II</a:t>
            </a:r>
            <a:endParaRPr lang="en-US" sz="1400" dirty="0"/>
          </a:p>
        </p:txBody>
      </p:sp>
      <p:sp>
        <p:nvSpPr>
          <p:cNvPr id="27" name="Text 23"/>
          <p:cNvSpPr/>
          <p:nvPr/>
        </p:nvSpPr>
        <p:spPr>
          <a:xfrm>
            <a:off x="914400" y="3429000"/>
            <a:ext cx="6400800" cy="228600"/>
          </a:xfrm>
          <a:prstGeom prst="rect">
            <a:avLst/>
          </a:prstGeom>
          <a:noFill/>
          <a:ln/>
        </p:spPr>
        <p:txBody>
          <a:bodyPr wrap="square" lIns="0" tIns="0" rIns="0" bIns="0" rtlCol="0" anchor="ctr"/>
          <a:lstStyle/>
          <a:p>
            <a:pPr marL="0" indent="0">
              <a:buNone/>
            </a:pPr>
            <a:r>
              <a:rPr lang="en-US" sz="1400" b="1" dirty="0">
                <a:solidFill>
                  <a:srgbClr val="C9A961"/>
                </a:solidFill>
                <a:latin typeface="Calibri" pitchFamily="34" charset="0"/>
                <a:ea typeface="Calibri" pitchFamily="34" charset="-122"/>
                <a:cs typeface="Calibri" pitchFamily="34" charset="-120"/>
              </a:rPr>
              <a:t>Department of Electrical Engineering, Universitas Islam Indonesia</a:t>
            </a:r>
            <a:endParaRPr lang="en-US" sz="1400" dirty="0"/>
          </a:p>
        </p:txBody>
      </p:sp>
      <p:sp>
        <p:nvSpPr>
          <p:cNvPr id="28" name="Text 24"/>
          <p:cNvSpPr/>
          <p:nvPr/>
        </p:nvSpPr>
        <p:spPr>
          <a:xfrm>
            <a:off x="8183880" y="3154680"/>
            <a:ext cx="2286000" cy="228600"/>
          </a:xfrm>
          <a:prstGeom prst="rect">
            <a:avLst/>
          </a:prstGeom>
          <a:noFill/>
          <a:ln/>
        </p:spPr>
        <p:txBody>
          <a:bodyPr wrap="square" lIns="0" tIns="0" rIns="0" bIns="0" rtlCol="0" anchor="ctr"/>
          <a:lstStyle/>
          <a:p>
            <a:pPr marL="0" indent="0" algn="r">
              <a:buNone/>
            </a:pPr>
            <a:r>
              <a:rPr lang="en-US" sz="1000" i="1" dirty="0">
                <a:solidFill>
                  <a:srgbClr val="5A5A5A"/>
                </a:solidFill>
                <a:latin typeface="Calibri" pitchFamily="34" charset="0"/>
                <a:ea typeface="Calibri" pitchFamily="34" charset="-122"/>
                <a:cs typeface="Calibri" pitchFamily="34" charset="-120"/>
              </a:rPr>
              <a:t>Feb 2024 – Aug 2024</a:t>
            </a:r>
            <a:endParaRPr lang="en-US" sz="1000" dirty="0"/>
          </a:p>
        </p:txBody>
      </p:sp>
      <p:sp>
        <p:nvSpPr>
          <p:cNvPr id="29" name="Text 25"/>
          <p:cNvSpPr/>
          <p:nvPr/>
        </p:nvSpPr>
        <p:spPr>
          <a:xfrm>
            <a:off x="8183880" y="3383280"/>
            <a:ext cx="2286000" cy="228600"/>
          </a:xfrm>
          <a:prstGeom prst="rect">
            <a:avLst/>
          </a:prstGeom>
          <a:noFill/>
          <a:ln/>
        </p:spPr>
        <p:txBody>
          <a:bodyPr wrap="square" lIns="0" tIns="0" rIns="0" bIns="0" rtlCol="0" anchor="ctr"/>
          <a:lstStyle/>
          <a:p>
            <a:pPr marL="0" indent="0" algn="r">
              <a:buNone/>
            </a:pPr>
            <a:r>
              <a:rPr lang="en-US" sz="1000" i="1" dirty="0">
                <a:solidFill>
                  <a:srgbClr val="5A5A5A"/>
                </a:solidFill>
                <a:latin typeface="Calibri" pitchFamily="34" charset="0"/>
                <a:ea typeface="Calibri" pitchFamily="34" charset="-122"/>
                <a:cs typeface="Calibri" pitchFamily="34" charset="-120"/>
              </a:rPr>
              <a:t>Yogyakarta</a:t>
            </a:r>
            <a:endParaRPr lang="en-US" sz="1000" dirty="0"/>
          </a:p>
        </p:txBody>
      </p:sp>
      <p:sp>
        <p:nvSpPr>
          <p:cNvPr id="30" name="Text 26"/>
          <p:cNvSpPr/>
          <p:nvPr/>
        </p:nvSpPr>
        <p:spPr>
          <a:xfrm>
            <a:off x="914400" y="3703320"/>
            <a:ext cx="9875520" cy="548640"/>
          </a:xfrm>
          <a:prstGeom prst="rect">
            <a:avLst/>
          </a:prstGeom>
          <a:noFill/>
          <a:ln/>
        </p:spPr>
        <p:txBody>
          <a:bodyPr wrap="square" lIns="0" tIns="0" rIns="0" bIns="0" rtlCol="0" anchor="t"/>
          <a:lstStyle/>
          <a:p>
            <a:pPr marL="342900" indent="-342900" algn="just">
              <a:spcAft>
                <a:spcPts val="100"/>
              </a:spcAft>
              <a:buSzPct val="100000"/>
              <a:buChar char="■"/>
            </a:pPr>
            <a:r>
              <a:rPr lang="en-US" sz="1400" dirty="0">
                <a:solidFill>
                  <a:srgbClr val="1A1A1A"/>
                </a:solidFill>
                <a:latin typeface="Calibri" pitchFamily="34" charset="0"/>
                <a:ea typeface="Calibri" pitchFamily="34" charset="-122"/>
                <a:cs typeface="Calibri" pitchFamily="34" charset="-120"/>
              </a:rPr>
              <a:t>Mentored second-year students on AC circuit analysis, network theorems, and resonance.</a:t>
            </a:r>
            <a:endParaRPr lang="en-US" sz="1400" dirty="0"/>
          </a:p>
          <a:p>
            <a:pPr marL="342900" indent="-342900" algn="just">
              <a:spcAft>
                <a:spcPts val="100"/>
              </a:spcAft>
              <a:buSzPct val="100000"/>
              <a:buChar char="■"/>
            </a:pPr>
            <a:r>
              <a:rPr lang="en-US" sz="1400" dirty="0">
                <a:solidFill>
                  <a:srgbClr val="1A1A1A"/>
                </a:solidFill>
                <a:latin typeface="Calibri" pitchFamily="34" charset="0"/>
                <a:ea typeface="Calibri" pitchFamily="34" charset="-122"/>
                <a:cs typeface="Calibri" pitchFamily="34" charset="-120"/>
              </a:rPr>
              <a:t>Conducted lab assessments and supported instructors during practical sessions.</a:t>
            </a:r>
            <a:endParaRPr lang="en-US" sz="1400" dirty="0"/>
          </a:p>
        </p:txBody>
      </p:sp>
      <p:sp>
        <p:nvSpPr>
          <p:cNvPr id="31" name="Shape 27"/>
          <p:cNvSpPr/>
          <p:nvPr/>
        </p:nvSpPr>
        <p:spPr>
          <a:xfrm>
            <a:off x="676656" y="1874520"/>
            <a:ext cx="0" cy="2743200"/>
          </a:xfrm>
          <a:prstGeom prst="line">
            <a:avLst/>
          </a:prstGeom>
          <a:noFill/>
          <a:ln w="10160">
            <a:solidFill>
              <a:srgbClr val="C9A961"/>
            </a:solidFill>
            <a:prstDash val="solid"/>
          </a:ln>
        </p:spPr>
      </p:sp>
      <p:sp>
        <p:nvSpPr>
          <p:cNvPr id="32" name="Shape 28"/>
          <p:cNvSpPr/>
          <p:nvPr/>
        </p:nvSpPr>
        <p:spPr>
          <a:xfrm>
            <a:off x="7772400" y="1691640"/>
            <a:ext cx="3931920" cy="30175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33" name="Shape 29"/>
          <p:cNvSpPr/>
          <p:nvPr/>
        </p:nvSpPr>
        <p:spPr>
          <a:xfrm>
            <a:off x="7772400" y="1691640"/>
            <a:ext cx="54864" cy="3017520"/>
          </a:xfrm>
          <a:prstGeom prst="rect">
            <a:avLst/>
          </a:prstGeom>
          <a:solidFill>
            <a:srgbClr val="C9A961"/>
          </a:solidFill>
          <a:ln w="12700">
            <a:solidFill>
              <a:srgbClr val="C9A961"/>
            </a:solidFill>
            <a:prstDash val="solid"/>
          </a:ln>
        </p:spPr>
      </p:sp>
      <p:pic>
        <p:nvPicPr>
          <p:cNvPr id="34" name="Image 2" descr="/home/claude/project_imgs/lab_assistant.jpg"/>
          <p:cNvPicPr>
            <a:picLocks noChangeAspect="1"/>
          </p:cNvPicPr>
          <p:nvPr/>
        </p:nvPicPr>
        <p:blipFill>
          <a:blip r:embed="rId4"/>
          <a:srcRect/>
          <a:stretch/>
        </p:blipFill>
        <p:spPr>
          <a:xfrm>
            <a:off x="7909560" y="1828800"/>
            <a:ext cx="3657600" cy="2377440"/>
          </a:xfrm>
          <a:prstGeom prst="rect">
            <a:avLst/>
          </a:prstGeom>
        </p:spPr>
      </p:pic>
      <p:sp>
        <p:nvSpPr>
          <p:cNvPr id="35" name="Text 30"/>
          <p:cNvSpPr/>
          <p:nvPr/>
        </p:nvSpPr>
        <p:spPr>
          <a:xfrm>
            <a:off x="7909560" y="4251960"/>
            <a:ext cx="3657600" cy="365760"/>
          </a:xfrm>
          <a:prstGeom prst="rect">
            <a:avLst/>
          </a:prstGeom>
          <a:noFill/>
          <a:ln/>
        </p:spPr>
        <p:txBody>
          <a:bodyPr wrap="square" lIns="0" tIns="0" rIns="0" bIns="0" rtlCol="0" anchor="ctr"/>
          <a:lstStyle/>
          <a:p>
            <a:pPr marL="0" indent="0" algn="ctr">
              <a:buNone/>
            </a:pPr>
            <a:r>
              <a:rPr lang="en-US" sz="1000" i="1" dirty="0">
                <a:solidFill>
                  <a:srgbClr val="5A5A5A"/>
                </a:solidFill>
                <a:latin typeface="Calibri" pitchFamily="34" charset="0"/>
                <a:ea typeface="Calibri" pitchFamily="34" charset="-122"/>
                <a:cs typeface="Calibri" pitchFamily="34" charset="-120"/>
              </a:rPr>
              <a:t>Lab session — undergraduate practical</a:t>
            </a:r>
            <a:endParaRPr lang="en-US" sz="1000" dirty="0"/>
          </a:p>
        </p:txBody>
      </p:sp>
      <p:sp>
        <p:nvSpPr>
          <p:cNvPr id="36" name="Shape 31"/>
          <p:cNvSpPr/>
          <p:nvPr/>
        </p:nvSpPr>
        <p:spPr>
          <a:xfrm>
            <a:off x="640080" y="5029200"/>
            <a:ext cx="10881360" cy="1188720"/>
          </a:xfrm>
          <a:prstGeom prst="rect">
            <a:avLst/>
          </a:prstGeom>
          <a:solidFill>
            <a:srgbClr val="0A1628"/>
          </a:solidFill>
          <a:ln w="12700">
            <a:solidFill>
              <a:srgbClr val="0A1628"/>
            </a:solidFill>
            <a:prstDash val="solid"/>
          </a:ln>
          <a:effectLst>
            <a:outerShdw blurRad="76200" dist="25400" dir="8100000" algn="bl" rotWithShape="0">
              <a:srgbClr val="000000">
                <a:alpha val="12000"/>
              </a:srgbClr>
            </a:outerShdw>
          </a:effectLst>
        </p:spPr>
      </p:sp>
      <p:sp>
        <p:nvSpPr>
          <p:cNvPr id="37" name="Shape 32"/>
          <p:cNvSpPr/>
          <p:nvPr/>
        </p:nvSpPr>
        <p:spPr>
          <a:xfrm>
            <a:off x="640080" y="5029200"/>
            <a:ext cx="73152" cy="1188720"/>
          </a:xfrm>
          <a:prstGeom prst="rect">
            <a:avLst/>
          </a:prstGeom>
          <a:solidFill>
            <a:srgbClr val="C9A961"/>
          </a:solidFill>
          <a:ln w="12700">
            <a:solidFill>
              <a:srgbClr val="C9A961"/>
            </a:solidFill>
            <a:prstDash val="solid"/>
          </a:ln>
        </p:spPr>
      </p:sp>
      <p:sp>
        <p:nvSpPr>
          <p:cNvPr id="38" name="Text 33"/>
          <p:cNvSpPr/>
          <p:nvPr/>
        </p:nvSpPr>
        <p:spPr>
          <a:xfrm>
            <a:off x="868680" y="5120640"/>
            <a:ext cx="4572000" cy="274320"/>
          </a:xfrm>
          <a:prstGeom prst="rect">
            <a:avLst/>
          </a:prstGeom>
          <a:noFill/>
          <a:ln/>
        </p:spPr>
        <p:txBody>
          <a:bodyPr wrap="square" lIns="0" tIns="0" rIns="0" bIns="0" rtlCol="0" anchor="ctr"/>
          <a:lstStyle/>
          <a:p>
            <a:pPr marL="0" indent="0">
              <a:buNone/>
            </a:pPr>
            <a:r>
              <a:rPr lang="en-US" sz="1400" b="1" dirty="0">
                <a:solidFill>
                  <a:srgbClr val="C9A961"/>
                </a:solidFill>
                <a:latin typeface="Calibri" pitchFamily="34" charset="0"/>
                <a:ea typeface="Calibri" pitchFamily="34" charset="-122"/>
                <a:cs typeface="Calibri" pitchFamily="34" charset="-120"/>
              </a:rPr>
              <a:t>TEACHING PROFICIENCY</a:t>
            </a:r>
            <a:endParaRPr lang="en-US" sz="1400" dirty="0"/>
          </a:p>
        </p:txBody>
      </p:sp>
      <p:sp>
        <p:nvSpPr>
          <p:cNvPr id="39" name="Text 34"/>
          <p:cNvSpPr/>
          <p:nvPr/>
        </p:nvSpPr>
        <p:spPr>
          <a:xfrm>
            <a:off x="868680" y="5440680"/>
            <a:ext cx="10607040" cy="777240"/>
          </a:xfrm>
          <a:prstGeom prst="rect">
            <a:avLst/>
          </a:prstGeom>
          <a:noFill/>
          <a:ln/>
        </p:spPr>
        <p:txBody>
          <a:bodyPr wrap="square" lIns="0" tIns="0" rIns="0" bIns="0" rtlCol="0" anchor="t"/>
          <a:lstStyle/>
          <a:p>
            <a:pPr marL="0" indent="0" algn="just">
              <a:buNone/>
            </a:pPr>
            <a:r>
              <a:rPr lang="en-US" sz="1400" dirty="0">
                <a:solidFill>
                  <a:srgbClr val="FFFFFF"/>
                </a:solidFill>
                <a:latin typeface="Calibri" pitchFamily="34" charset="0"/>
                <a:ea typeface="Calibri" pitchFamily="34" charset="-122"/>
                <a:cs typeface="Calibri" pitchFamily="34" charset="-120"/>
              </a:rPr>
              <a:t>Across four semesters as a laboratory assistant, I have mentored over 200 undergraduate students in core electrical engineering subjects — from fundamental circuit theory to modern control systems and digital design. This experience has sharpened my technical communication skills, patience, and ability to break down complex concepts.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8F5EE"/>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0A1628"/>
          </a:solidFill>
          <a:ln w="12700">
            <a:solidFill>
              <a:srgbClr val="0A1628"/>
            </a:solidFill>
            <a:prstDash val="solid"/>
          </a:ln>
        </p:spPr>
      </p:sp>
      <p:sp>
        <p:nvSpPr>
          <p:cNvPr id="3" name="Shape 1"/>
          <p:cNvSpPr/>
          <p:nvPr/>
        </p:nvSpPr>
        <p:spPr>
          <a:xfrm>
            <a:off x="0" y="457200"/>
            <a:ext cx="12161520" cy="36576"/>
          </a:xfrm>
          <a:prstGeom prst="rect">
            <a:avLst/>
          </a:prstGeom>
          <a:solidFill>
            <a:srgbClr val="C9A961"/>
          </a:solidFill>
          <a:ln w="12700">
            <a:solidFill>
              <a:srgbClr val="C9A961"/>
            </a:solidFill>
            <a:prstDash val="solid"/>
          </a:ln>
        </p:spPr>
      </p:sp>
      <p:sp>
        <p:nvSpPr>
          <p:cNvPr id="4" name="Text 2"/>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5" name="Text 3"/>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6" name="Text 4"/>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15 / 17</a:t>
            </a:r>
            <a:endParaRPr lang="en-US" sz="900" dirty="0"/>
          </a:p>
        </p:txBody>
      </p:sp>
      <p:sp>
        <p:nvSpPr>
          <p:cNvPr id="7" name="Shape 5"/>
          <p:cNvSpPr/>
          <p:nvPr/>
        </p:nvSpPr>
        <p:spPr>
          <a:xfrm>
            <a:off x="0" y="6565392"/>
            <a:ext cx="12161520" cy="292608"/>
          </a:xfrm>
          <a:prstGeom prst="rect">
            <a:avLst/>
          </a:prstGeom>
          <a:solidFill>
            <a:srgbClr val="1B2D4A"/>
          </a:solidFill>
          <a:ln w="12700">
            <a:solidFill>
              <a:srgbClr val="1B2D4A"/>
            </a:solidFill>
            <a:prstDash val="solid"/>
          </a:ln>
        </p:spPr>
      </p:sp>
      <p:sp>
        <p:nvSpPr>
          <p:cNvPr id="8" name="Shape 6"/>
          <p:cNvSpPr/>
          <p:nvPr/>
        </p:nvSpPr>
        <p:spPr>
          <a:xfrm>
            <a:off x="0" y="6547104"/>
            <a:ext cx="12161520" cy="18288"/>
          </a:xfrm>
          <a:prstGeom prst="rect">
            <a:avLst/>
          </a:prstGeom>
          <a:solidFill>
            <a:srgbClr val="C9A961"/>
          </a:solidFill>
          <a:ln w="12700">
            <a:solidFill>
              <a:srgbClr val="C9A961"/>
            </a:solidFill>
            <a:prstDash val="solid"/>
          </a:ln>
        </p:spPr>
      </p:sp>
      <p:sp>
        <p:nvSpPr>
          <p:cNvPr id="9" name="Text 7"/>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0" name="Text 8"/>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11" name="Text 9"/>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12" name="Text 10"/>
          <p:cNvSpPr/>
          <p:nvPr/>
        </p:nvSpPr>
        <p:spPr>
          <a:xfrm>
            <a:off x="640080" y="822960"/>
            <a:ext cx="4572000" cy="274320"/>
          </a:xfrm>
          <a:prstGeom prst="rect">
            <a:avLst/>
          </a:prstGeom>
          <a:noFill/>
          <a:ln/>
        </p:spPr>
        <p:txBody>
          <a:bodyPr wrap="square" lIns="0" tIns="0" rIns="0" bIns="0" rtlCol="0" anchor="ctr"/>
          <a:lstStyle/>
          <a:p>
            <a:pPr marL="0" indent="0">
              <a:buNone/>
            </a:pPr>
            <a:r>
              <a:rPr lang="en-US" sz="2000" b="1" dirty="0">
                <a:solidFill>
                  <a:srgbClr val="C9A961"/>
                </a:solidFill>
                <a:latin typeface="Calibri" pitchFamily="34" charset="0"/>
                <a:ea typeface="Calibri" pitchFamily="34" charset="-122"/>
                <a:cs typeface="Calibri" pitchFamily="34" charset="-120"/>
              </a:rPr>
              <a:t>06  ·  LEADERSHIP</a:t>
            </a:r>
            <a:endParaRPr lang="en-US" sz="2000" dirty="0"/>
          </a:p>
        </p:txBody>
      </p:sp>
      <p:sp>
        <p:nvSpPr>
          <p:cNvPr id="13" name="Shape 11"/>
          <p:cNvSpPr/>
          <p:nvPr/>
        </p:nvSpPr>
        <p:spPr>
          <a:xfrm>
            <a:off x="640080" y="1115568"/>
            <a:ext cx="640080" cy="27432"/>
          </a:xfrm>
          <a:prstGeom prst="rect">
            <a:avLst/>
          </a:prstGeom>
          <a:solidFill>
            <a:srgbClr val="C9A961"/>
          </a:solidFill>
          <a:ln w="12700">
            <a:solidFill>
              <a:srgbClr val="C9A961"/>
            </a:solidFill>
            <a:prstDash val="solid"/>
          </a:ln>
        </p:spPr>
      </p:sp>
      <p:sp>
        <p:nvSpPr>
          <p:cNvPr id="14" name="Text 12"/>
          <p:cNvSpPr/>
          <p:nvPr/>
        </p:nvSpPr>
        <p:spPr>
          <a:xfrm>
            <a:off x="640080" y="1207008"/>
            <a:ext cx="8229600" cy="54864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Leadership &amp; Organizations</a:t>
            </a:r>
            <a:endParaRPr lang="en-US" sz="1400" dirty="0"/>
          </a:p>
        </p:txBody>
      </p:sp>
      <p:sp>
        <p:nvSpPr>
          <p:cNvPr id="15" name="Shape 13"/>
          <p:cNvSpPr/>
          <p:nvPr/>
        </p:nvSpPr>
        <p:spPr>
          <a:xfrm>
            <a:off x="640080" y="1783080"/>
            <a:ext cx="5486400" cy="201168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16" name="Shape 14"/>
          <p:cNvSpPr/>
          <p:nvPr/>
        </p:nvSpPr>
        <p:spPr>
          <a:xfrm>
            <a:off x="640080" y="1783080"/>
            <a:ext cx="5486400" cy="365760"/>
          </a:xfrm>
          <a:prstGeom prst="rect">
            <a:avLst/>
          </a:prstGeom>
          <a:solidFill>
            <a:srgbClr val="0A1628"/>
          </a:solidFill>
          <a:ln w="12700">
            <a:solidFill>
              <a:srgbClr val="0A1628"/>
            </a:solidFill>
            <a:prstDash val="solid"/>
          </a:ln>
        </p:spPr>
      </p:sp>
      <p:sp>
        <p:nvSpPr>
          <p:cNvPr id="17" name="Text 15"/>
          <p:cNvSpPr/>
          <p:nvPr/>
        </p:nvSpPr>
        <p:spPr>
          <a:xfrm>
            <a:off x="777240" y="1783080"/>
            <a:ext cx="5212080" cy="365760"/>
          </a:xfrm>
          <a:prstGeom prst="rect">
            <a:avLst/>
          </a:prstGeom>
          <a:noFill/>
          <a:ln/>
        </p:spPr>
        <p:txBody>
          <a:bodyPr wrap="square" lIns="0" tIns="0" rIns="0" bIns="0" rtlCol="0" anchor="ctr"/>
          <a:lstStyle/>
          <a:p>
            <a:pPr marL="0" indent="0">
              <a:buNone/>
            </a:pPr>
            <a:r>
              <a:rPr lang="en-US" sz="1400" b="1" dirty="0">
                <a:solidFill>
                  <a:srgbClr val="C9A961"/>
                </a:solidFill>
                <a:latin typeface="Calibri" pitchFamily="34" charset="0"/>
                <a:ea typeface="Calibri" pitchFamily="34" charset="-122"/>
                <a:cs typeface="Calibri" pitchFamily="34" charset="-120"/>
              </a:rPr>
              <a:t>IEEE STUDENT BRANCH UII</a:t>
            </a:r>
            <a:endParaRPr lang="en-US" sz="1400" dirty="0"/>
          </a:p>
        </p:txBody>
      </p:sp>
      <p:sp>
        <p:nvSpPr>
          <p:cNvPr id="18" name="Shape 16"/>
          <p:cNvSpPr/>
          <p:nvPr/>
        </p:nvSpPr>
        <p:spPr>
          <a:xfrm>
            <a:off x="777240" y="2359152"/>
            <a:ext cx="73152" cy="73152"/>
          </a:xfrm>
          <a:prstGeom prst="rect">
            <a:avLst/>
          </a:prstGeom>
          <a:solidFill>
            <a:srgbClr val="C9A961"/>
          </a:solidFill>
          <a:ln w="12700">
            <a:solidFill>
              <a:srgbClr val="C9A961"/>
            </a:solidFill>
            <a:prstDash val="solid"/>
          </a:ln>
        </p:spPr>
      </p:sp>
      <p:sp>
        <p:nvSpPr>
          <p:cNvPr id="19" name="Text 17"/>
          <p:cNvSpPr/>
          <p:nvPr/>
        </p:nvSpPr>
        <p:spPr>
          <a:xfrm>
            <a:off x="932688" y="2286000"/>
            <a:ext cx="5029200" cy="201168"/>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Director of Academies</a:t>
            </a:r>
            <a:endParaRPr lang="en-US" sz="1400" dirty="0"/>
          </a:p>
        </p:txBody>
      </p:sp>
      <p:sp>
        <p:nvSpPr>
          <p:cNvPr id="20" name="Text 18"/>
          <p:cNvSpPr/>
          <p:nvPr/>
        </p:nvSpPr>
        <p:spPr>
          <a:xfrm>
            <a:off x="932688" y="2487168"/>
            <a:ext cx="5029200" cy="18288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Jun 2024 – Present</a:t>
            </a:r>
            <a:endParaRPr lang="en-US" sz="1400" dirty="0"/>
          </a:p>
        </p:txBody>
      </p:sp>
      <p:sp>
        <p:nvSpPr>
          <p:cNvPr id="21" name="Shape 19"/>
          <p:cNvSpPr/>
          <p:nvPr/>
        </p:nvSpPr>
        <p:spPr>
          <a:xfrm>
            <a:off x="777240" y="2862072"/>
            <a:ext cx="73152" cy="73152"/>
          </a:xfrm>
          <a:prstGeom prst="rect">
            <a:avLst/>
          </a:prstGeom>
          <a:solidFill>
            <a:srgbClr val="C9A961"/>
          </a:solidFill>
          <a:ln w="12700">
            <a:solidFill>
              <a:srgbClr val="C9A961"/>
            </a:solidFill>
            <a:prstDash val="solid"/>
          </a:ln>
        </p:spPr>
      </p:sp>
      <p:sp>
        <p:nvSpPr>
          <p:cNvPr id="22" name="Text 20"/>
          <p:cNvSpPr/>
          <p:nvPr/>
        </p:nvSpPr>
        <p:spPr>
          <a:xfrm>
            <a:off x="932688" y="2788920"/>
            <a:ext cx="5029200" cy="201168"/>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Academies Staff</a:t>
            </a:r>
            <a:endParaRPr lang="en-US" sz="1400" dirty="0"/>
          </a:p>
        </p:txBody>
      </p:sp>
      <p:sp>
        <p:nvSpPr>
          <p:cNvPr id="23" name="Text 21"/>
          <p:cNvSpPr/>
          <p:nvPr/>
        </p:nvSpPr>
        <p:spPr>
          <a:xfrm>
            <a:off x="932688" y="2990088"/>
            <a:ext cx="5029200" cy="18288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Mar 2023 – Jun 2024</a:t>
            </a:r>
            <a:endParaRPr lang="en-US" sz="1400" dirty="0"/>
          </a:p>
        </p:txBody>
      </p:sp>
      <p:sp>
        <p:nvSpPr>
          <p:cNvPr id="24" name="Shape 22"/>
          <p:cNvSpPr/>
          <p:nvPr/>
        </p:nvSpPr>
        <p:spPr>
          <a:xfrm>
            <a:off x="777240" y="3364992"/>
            <a:ext cx="73152" cy="73152"/>
          </a:xfrm>
          <a:prstGeom prst="rect">
            <a:avLst/>
          </a:prstGeom>
          <a:solidFill>
            <a:srgbClr val="C9A961"/>
          </a:solidFill>
          <a:ln w="12700">
            <a:solidFill>
              <a:srgbClr val="C9A961"/>
            </a:solidFill>
            <a:prstDash val="solid"/>
          </a:ln>
        </p:spPr>
      </p:sp>
      <p:sp>
        <p:nvSpPr>
          <p:cNvPr id="25" name="Text 23"/>
          <p:cNvSpPr/>
          <p:nvPr/>
        </p:nvSpPr>
        <p:spPr>
          <a:xfrm>
            <a:off x="932688" y="3291840"/>
            <a:ext cx="5029200" cy="201168"/>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Member (IEEE Global)</a:t>
            </a:r>
            <a:endParaRPr lang="en-US" sz="1400" dirty="0"/>
          </a:p>
        </p:txBody>
      </p:sp>
      <p:sp>
        <p:nvSpPr>
          <p:cNvPr id="26" name="Text 24"/>
          <p:cNvSpPr/>
          <p:nvPr/>
        </p:nvSpPr>
        <p:spPr>
          <a:xfrm>
            <a:off x="932688" y="3493008"/>
            <a:ext cx="5029200" cy="18288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Jan 2024 – Dec 2024</a:t>
            </a:r>
            <a:endParaRPr lang="en-US" sz="1400" dirty="0"/>
          </a:p>
        </p:txBody>
      </p:sp>
      <p:sp>
        <p:nvSpPr>
          <p:cNvPr id="27" name="Shape 25"/>
          <p:cNvSpPr/>
          <p:nvPr/>
        </p:nvSpPr>
        <p:spPr>
          <a:xfrm>
            <a:off x="6400800" y="1783080"/>
            <a:ext cx="5120640" cy="201168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28" name="Shape 26"/>
          <p:cNvSpPr/>
          <p:nvPr/>
        </p:nvSpPr>
        <p:spPr>
          <a:xfrm>
            <a:off x="6400800" y="1783080"/>
            <a:ext cx="5120640" cy="365760"/>
          </a:xfrm>
          <a:prstGeom prst="rect">
            <a:avLst/>
          </a:prstGeom>
          <a:solidFill>
            <a:srgbClr val="0A1628"/>
          </a:solidFill>
          <a:ln w="12700">
            <a:solidFill>
              <a:srgbClr val="0A1628"/>
            </a:solidFill>
            <a:prstDash val="solid"/>
          </a:ln>
        </p:spPr>
      </p:sp>
      <p:sp>
        <p:nvSpPr>
          <p:cNvPr id="29" name="Text 27"/>
          <p:cNvSpPr/>
          <p:nvPr/>
        </p:nvSpPr>
        <p:spPr>
          <a:xfrm>
            <a:off x="6537960" y="1783080"/>
            <a:ext cx="4846320" cy="365760"/>
          </a:xfrm>
          <a:prstGeom prst="rect">
            <a:avLst/>
          </a:prstGeom>
          <a:noFill/>
          <a:ln/>
        </p:spPr>
        <p:txBody>
          <a:bodyPr wrap="square" lIns="0" tIns="0" rIns="0" bIns="0" rtlCol="0" anchor="ctr"/>
          <a:lstStyle/>
          <a:p>
            <a:pPr marL="0" indent="0">
              <a:buNone/>
            </a:pPr>
            <a:r>
              <a:rPr lang="en-US" sz="1400" b="1" dirty="0">
                <a:solidFill>
                  <a:srgbClr val="C9A961"/>
                </a:solidFill>
                <a:latin typeface="Calibri" pitchFamily="34" charset="0"/>
                <a:ea typeface="Calibri" pitchFamily="34" charset="-122"/>
                <a:cs typeface="Calibri" pitchFamily="34" charset="-120"/>
              </a:rPr>
              <a:t>UASC ELECTRIC VEHICLE</a:t>
            </a:r>
            <a:endParaRPr lang="en-US" sz="1400" dirty="0"/>
          </a:p>
        </p:txBody>
      </p:sp>
      <p:sp>
        <p:nvSpPr>
          <p:cNvPr id="30" name="Shape 28"/>
          <p:cNvSpPr/>
          <p:nvPr/>
        </p:nvSpPr>
        <p:spPr>
          <a:xfrm>
            <a:off x="6537960" y="2359152"/>
            <a:ext cx="73152" cy="73152"/>
          </a:xfrm>
          <a:prstGeom prst="rect">
            <a:avLst/>
          </a:prstGeom>
          <a:solidFill>
            <a:srgbClr val="C9A961"/>
          </a:solidFill>
          <a:ln w="12700">
            <a:solidFill>
              <a:srgbClr val="C9A961"/>
            </a:solidFill>
            <a:prstDash val="solid"/>
          </a:ln>
        </p:spPr>
      </p:sp>
      <p:sp>
        <p:nvSpPr>
          <p:cNvPr id="31" name="Text 29"/>
          <p:cNvSpPr/>
          <p:nvPr/>
        </p:nvSpPr>
        <p:spPr>
          <a:xfrm>
            <a:off x="6693408" y="2286000"/>
            <a:ext cx="4663440" cy="201168"/>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Head of Programming Division</a:t>
            </a:r>
            <a:endParaRPr lang="en-US" sz="1400" dirty="0"/>
          </a:p>
        </p:txBody>
      </p:sp>
      <p:sp>
        <p:nvSpPr>
          <p:cNvPr id="32" name="Text 30"/>
          <p:cNvSpPr/>
          <p:nvPr/>
        </p:nvSpPr>
        <p:spPr>
          <a:xfrm>
            <a:off x="6693408" y="2487168"/>
            <a:ext cx="4663440" cy="18288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May 2024 – Mar 2025</a:t>
            </a:r>
            <a:endParaRPr lang="en-US" sz="1400" dirty="0"/>
          </a:p>
        </p:txBody>
      </p:sp>
      <p:sp>
        <p:nvSpPr>
          <p:cNvPr id="33" name="Shape 31"/>
          <p:cNvSpPr/>
          <p:nvPr/>
        </p:nvSpPr>
        <p:spPr>
          <a:xfrm>
            <a:off x="6537960" y="2862072"/>
            <a:ext cx="73152" cy="73152"/>
          </a:xfrm>
          <a:prstGeom prst="rect">
            <a:avLst/>
          </a:prstGeom>
          <a:solidFill>
            <a:srgbClr val="C9A961"/>
          </a:solidFill>
          <a:ln w="12700">
            <a:solidFill>
              <a:srgbClr val="C9A961"/>
            </a:solidFill>
            <a:prstDash val="solid"/>
          </a:ln>
        </p:spPr>
      </p:sp>
      <p:sp>
        <p:nvSpPr>
          <p:cNvPr id="34" name="Text 32"/>
          <p:cNvSpPr/>
          <p:nvPr/>
        </p:nvSpPr>
        <p:spPr>
          <a:xfrm>
            <a:off x="6693408" y="2788920"/>
            <a:ext cx="4663440" cy="201168"/>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Electrical Engineer Staff</a:t>
            </a:r>
            <a:endParaRPr lang="en-US" sz="1400" dirty="0"/>
          </a:p>
        </p:txBody>
      </p:sp>
      <p:sp>
        <p:nvSpPr>
          <p:cNvPr id="35" name="Text 33"/>
          <p:cNvSpPr/>
          <p:nvPr/>
        </p:nvSpPr>
        <p:spPr>
          <a:xfrm>
            <a:off x="6693408" y="2990088"/>
            <a:ext cx="4663440" cy="18288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Dec 2023 – May 2024</a:t>
            </a:r>
            <a:endParaRPr lang="en-US" sz="1400" dirty="0"/>
          </a:p>
        </p:txBody>
      </p:sp>
      <p:sp>
        <p:nvSpPr>
          <p:cNvPr id="36" name="Shape 34"/>
          <p:cNvSpPr/>
          <p:nvPr/>
        </p:nvSpPr>
        <p:spPr>
          <a:xfrm>
            <a:off x="6537960" y="3364992"/>
            <a:ext cx="73152" cy="73152"/>
          </a:xfrm>
          <a:prstGeom prst="rect">
            <a:avLst/>
          </a:prstGeom>
          <a:solidFill>
            <a:srgbClr val="C9A961"/>
          </a:solidFill>
          <a:ln w="12700">
            <a:solidFill>
              <a:srgbClr val="C9A961"/>
            </a:solidFill>
            <a:prstDash val="solid"/>
          </a:ln>
        </p:spPr>
      </p:sp>
      <p:sp>
        <p:nvSpPr>
          <p:cNvPr id="37" name="Text 35"/>
          <p:cNvSpPr/>
          <p:nvPr/>
        </p:nvSpPr>
        <p:spPr>
          <a:xfrm>
            <a:off x="6693408" y="3291840"/>
            <a:ext cx="4663440" cy="201168"/>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Electrical Engineer Intern</a:t>
            </a:r>
            <a:endParaRPr lang="en-US" sz="1400" dirty="0"/>
          </a:p>
        </p:txBody>
      </p:sp>
      <p:sp>
        <p:nvSpPr>
          <p:cNvPr id="38" name="Text 36"/>
          <p:cNvSpPr/>
          <p:nvPr/>
        </p:nvSpPr>
        <p:spPr>
          <a:xfrm>
            <a:off x="6693408" y="3493008"/>
            <a:ext cx="4663440" cy="18288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Jul 2023 – Dec 2023</a:t>
            </a:r>
            <a:endParaRPr lang="en-US" sz="1400" dirty="0"/>
          </a:p>
        </p:txBody>
      </p:sp>
      <p:sp>
        <p:nvSpPr>
          <p:cNvPr id="39" name="Shape 37"/>
          <p:cNvSpPr/>
          <p:nvPr/>
        </p:nvSpPr>
        <p:spPr>
          <a:xfrm>
            <a:off x="640080" y="4023360"/>
            <a:ext cx="5486400" cy="11887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40" name="Shape 38"/>
          <p:cNvSpPr/>
          <p:nvPr/>
        </p:nvSpPr>
        <p:spPr>
          <a:xfrm>
            <a:off x="640080" y="4023360"/>
            <a:ext cx="5486400" cy="365760"/>
          </a:xfrm>
          <a:prstGeom prst="rect">
            <a:avLst/>
          </a:prstGeom>
          <a:solidFill>
            <a:srgbClr val="0A1628"/>
          </a:solidFill>
          <a:ln w="12700">
            <a:solidFill>
              <a:srgbClr val="0A1628"/>
            </a:solidFill>
            <a:prstDash val="solid"/>
          </a:ln>
        </p:spPr>
      </p:sp>
      <p:sp>
        <p:nvSpPr>
          <p:cNvPr id="41" name="Text 39"/>
          <p:cNvSpPr/>
          <p:nvPr/>
        </p:nvSpPr>
        <p:spPr>
          <a:xfrm>
            <a:off x="777240" y="4023360"/>
            <a:ext cx="5212080" cy="365760"/>
          </a:xfrm>
          <a:prstGeom prst="rect">
            <a:avLst/>
          </a:prstGeom>
          <a:noFill/>
          <a:ln/>
        </p:spPr>
        <p:txBody>
          <a:bodyPr wrap="square" lIns="0" tIns="0" rIns="0" bIns="0" rtlCol="0" anchor="ctr"/>
          <a:lstStyle/>
          <a:p>
            <a:pPr marL="0" indent="0">
              <a:buNone/>
            </a:pPr>
            <a:r>
              <a:rPr lang="en-US" sz="1400" b="1" dirty="0">
                <a:solidFill>
                  <a:srgbClr val="C9A961"/>
                </a:solidFill>
                <a:latin typeface="Calibri" pitchFamily="34" charset="0"/>
                <a:ea typeface="Calibri" pitchFamily="34" charset="-122"/>
                <a:cs typeface="Calibri" pitchFamily="34" charset="-120"/>
              </a:rPr>
              <a:t>UNISI ROBOTIC UII</a:t>
            </a:r>
            <a:endParaRPr lang="en-US" sz="1400" dirty="0"/>
          </a:p>
        </p:txBody>
      </p:sp>
      <p:sp>
        <p:nvSpPr>
          <p:cNvPr id="42" name="Shape 40"/>
          <p:cNvSpPr/>
          <p:nvPr/>
        </p:nvSpPr>
        <p:spPr>
          <a:xfrm>
            <a:off x="777240" y="4599432"/>
            <a:ext cx="73152" cy="73152"/>
          </a:xfrm>
          <a:prstGeom prst="rect">
            <a:avLst/>
          </a:prstGeom>
          <a:solidFill>
            <a:srgbClr val="C9A961"/>
          </a:solidFill>
          <a:ln w="12700">
            <a:solidFill>
              <a:srgbClr val="C9A961"/>
            </a:solidFill>
            <a:prstDash val="solid"/>
          </a:ln>
        </p:spPr>
      </p:sp>
      <p:sp>
        <p:nvSpPr>
          <p:cNvPr id="43" name="Text 41"/>
          <p:cNvSpPr/>
          <p:nvPr/>
        </p:nvSpPr>
        <p:spPr>
          <a:xfrm>
            <a:off x="932688" y="4526280"/>
            <a:ext cx="5029200" cy="201168"/>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Electrical Division Staff</a:t>
            </a:r>
            <a:endParaRPr lang="en-US" sz="1400" dirty="0"/>
          </a:p>
        </p:txBody>
      </p:sp>
      <p:sp>
        <p:nvSpPr>
          <p:cNvPr id="44" name="Text 42"/>
          <p:cNvSpPr/>
          <p:nvPr/>
        </p:nvSpPr>
        <p:spPr>
          <a:xfrm>
            <a:off x="932688" y="4727448"/>
            <a:ext cx="5029200" cy="18288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May 2024 – Present</a:t>
            </a:r>
            <a:endParaRPr lang="en-US" sz="1400" dirty="0"/>
          </a:p>
        </p:txBody>
      </p:sp>
      <p:sp>
        <p:nvSpPr>
          <p:cNvPr id="45" name="Shape 43"/>
          <p:cNvSpPr/>
          <p:nvPr/>
        </p:nvSpPr>
        <p:spPr>
          <a:xfrm>
            <a:off x="6400800" y="4023360"/>
            <a:ext cx="5120640" cy="11887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46" name="Shape 44"/>
          <p:cNvSpPr/>
          <p:nvPr/>
        </p:nvSpPr>
        <p:spPr>
          <a:xfrm>
            <a:off x="6400800" y="4023360"/>
            <a:ext cx="5120640" cy="365760"/>
          </a:xfrm>
          <a:prstGeom prst="rect">
            <a:avLst/>
          </a:prstGeom>
          <a:solidFill>
            <a:srgbClr val="0A1628"/>
          </a:solidFill>
          <a:ln w="12700">
            <a:solidFill>
              <a:srgbClr val="0A1628"/>
            </a:solidFill>
            <a:prstDash val="solid"/>
          </a:ln>
        </p:spPr>
      </p:sp>
      <p:sp>
        <p:nvSpPr>
          <p:cNvPr id="47" name="Text 45"/>
          <p:cNvSpPr/>
          <p:nvPr/>
        </p:nvSpPr>
        <p:spPr>
          <a:xfrm>
            <a:off x="6537960" y="4023360"/>
            <a:ext cx="4846320" cy="365760"/>
          </a:xfrm>
          <a:prstGeom prst="rect">
            <a:avLst/>
          </a:prstGeom>
          <a:noFill/>
          <a:ln/>
        </p:spPr>
        <p:txBody>
          <a:bodyPr wrap="square" lIns="0" tIns="0" rIns="0" bIns="0" rtlCol="0" anchor="ctr"/>
          <a:lstStyle/>
          <a:p>
            <a:pPr marL="0" indent="0">
              <a:buNone/>
            </a:pPr>
            <a:r>
              <a:rPr lang="en-US" sz="1400" b="1" dirty="0">
                <a:solidFill>
                  <a:srgbClr val="C9A961"/>
                </a:solidFill>
                <a:latin typeface="Calibri" pitchFamily="34" charset="0"/>
                <a:ea typeface="Calibri" pitchFamily="34" charset="-122"/>
                <a:cs typeface="Calibri" pitchFamily="34" charset="-120"/>
              </a:rPr>
              <a:t>UII EXCELLENT COMMUNITY (UII EC)</a:t>
            </a:r>
            <a:endParaRPr lang="en-US" sz="1400" dirty="0"/>
          </a:p>
        </p:txBody>
      </p:sp>
      <p:sp>
        <p:nvSpPr>
          <p:cNvPr id="48" name="Shape 46"/>
          <p:cNvSpPr/>
          <p:nvPr/>
        </p:nvSpPr>
        <p:spPr>
          <a:xfrm>
            <a:off x="6537960" y="4599432"/>
            <a:ext cx="73152" cy="73152"/>
          </a:xfrm>
          <a:prstGeom prst="rect">
            <a:avLst/>
          </a:prstGeom>
          <a:solidFill>
            <a:srgbClr val="C9A961"/>
          </a:solidFill>
          <a:ln w="12700">
            <a:solidFill>
              <a:srgbClr val="C9A961"/>
            </a:solidFill>
            <a:prstDash val="solid"/>
          </a:ln>
        </p:spPr>
      </p:sp>
      <p:sp>
        <p:nvSpPr>
          <p:cNvPr id="49" name="Text 47"/>
          <p:cNvSpPr/>
          <p:nvPr/>
        </p:nvSpPr>
        <p:spPr>
          <a:xfrm>
            <a:off x="6693408" y="4526280"/>
            <a:ext cx="4663440" cy="201168"/>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Full Scholarship Awardee</a:t>
            </a:r>
            <a:endParaRPr lang="en-US" sz="1400" dirty="0"/>
          </a:p>
        </p:txBody>
      </p:sp>
      <p:sp>
        <p:nvSpPr>
          <p:cNvPr id="50" name="Text 48"/>
          <p:cNvSpPr/>
          <p:nvPr/>
        </p:nvSpPr>
        <p:spPr>
          <a:xfrm>
            <a:off x="6693408" y="4727448"/>
            <a:ext cx="4663440" cy="18288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Aug 2022 – Present</a:t>
            </a:r>
            <a:endParaRPr lang="en-US" sz="1400" dirty="0"/>
          </a:p>
        </p:txBody>
      </p:sp>
      <p:sp>
        <p:nvSpPr>
          <p:cNvPr id="51" name="Shape 49"/>
          <p:cNvSpPr/>
          <p:nvPr/>
        </p:nvSpPr>
        <p:spPr>
          <a:xfrm>
            <a:off x="640080" y="5440680"/>
            <a:ext cx="10881360" cy="365760"/>
          </a:xfrm>
          <a:prstGeom prst="rect">
            <a:avLst/>
          </a:prstGeom>
          <a:solidFill>
            <a:srgbClr val="0A1628"/>
          </a:solidFill>
          <a:ln w="12700">
            <a:solidFill>
              <a:srgbClr val="0A1628"/>
            </a:solidFill>
            <a:prstDash val="solid"/>
          </a:ln>
        </p:spPr>
      </p:sp>
      <p:sp>
        <p:nvSpPr>
          <p:cNvPr id="52" name="Text 50"/>
          <p:cNvSpPr/>
          <p:nvPr/>
        </p:nvSpPr>
        <p:spPr>
          <a:xfrm>
            <a:off x="777240" y="5440680"/>
            <a:ext cx="5486400" cy="365760"/>
          </a:xfrm>
          <a:prstGeom prst="rect">
            <a:avLst/>
          </a:prstGeom>
          <a:noFill/>
          <a:ln/>
        </p:spPr>
        <p:txBody>
          <a:bodyPr wrap="square" lIns="0" tIns="0" rIns="0" bIns="0" rtlCol="0" anchor="ctr"/>
          <a:lstStyle/>
          <a:p>
            <a:pPr marL="0" indent="0">
              <a:buNone/>
            </a:pPr>
            <a:r>
              <a:rPr lang="en-US" sz="1400" b="1" dirty="0">
                <a:solidFill>
                  <a:srgbClr val="C9A961"/>
                </a:solidFill>
                <a:latin typeface="Calibri" pitchFamily="34" charset="0"/>
                <a:ea typeface="Calibri" pitchFamily="34" charset="-122"/>
                <a:cs typeface="Calibri" pitchFamily="34" charset="-120"/>
              </a:rPr>
              <a:t>COMMITTEE EXPERIENCE</a:t>
            </a:r>
            <a:endParaRPr lang="en-US" sz="1400" dirty="0"/>
          </a:p>
        </p:txBody>
      </p:sp>
      <p:sp>
        <p:nvSpPr>
          <p:cNvPr id="53" name="Shape 51"/>
          <p:cNvSpPr/>
          <p:nvPr/>
        </p:nvSpPr>
        <p:spPr>
          <a:xfrm>
            <a:off x="640080" y="5806440"/>
            <a:ext cx="10881360" cy="713232"/>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54" name="Shape 52"/>
          <p:cNvSpPr/>
          <p:nvPr/>
        </p:nvSpPr>
        <p:spPr>
          <a:xfrm>
            <a:off x="640080" y="5806440"/>
            <a:ext cx="45719" cy="758952"/>
          </a:xfrm>
          <a:prstGeom prst="rect">
            <a:avLst/>
          </a:prstGeom>
          <a:solidFill>
            <a:srgbClr val="C9A961"/>
          </a:solidFill>
          <a:ln w="12700">
            <a:solidFill>
              <a:srgbClr val="C9A961"/>
            </a:solidFill>
            <a:prstDash val="solid"/>
          </a:ln>
        </p:spPr>
      </p:sp>
      <p:sp>
        <p:nvSpPr>
          <p:cNvPr id="55" name="Text 53"/>
          <p:cNvSpPr/>
          <p:nvPr/>
        </p:nvSpPr>
        <p:spPr>
          <a:xfrm>
            <a:off x="868680" y="5852160"/>
            <a:ext cx="10607040" cy="22860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Electrical Link Togetherness (ELITE) — Master of Ceremony</a:t>
            </a:r>
            <a:endParaRPr lang="en-US" sz="1400" dirty="0"/>
          </a:p>
        </p:txBody>
      </p:sp>
      <p:sp>
        <p:nvSpPr>
          <p:cNvPr id="56" name="Text 54"/>
          <p:cNvSpPr/>
          <p:nvPr/>
        </p:nvSpPr>
        <p:spPr>
          <a:xfrm>
            <a:off x="868680" y="6053328"/>
            <a:ext cx="10607040" cy="201168"/>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Events Department · Department of Electrical Engineering UII</a:t>
            </a:r>
            <a:endParaRPr lang="en-US" sz="1400" dirty="0"/>
          </a:p>
        </p:txBody>
      </p:sp>
      <p:sp>
        <p:nvSpPr>
          <p:cNvPr id="57" name="Text 55"/>
          <p:cNvSpPr/>
          <p:nvPr/>
        </p:nvSpPr>
        <p:spPr>
          <a:xfrm>
            <a:off x="868680" y="6236208"/>
            <a:ext cx="10607040" cy="201168"/>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Hosted department-wide events; coordinated event flow and on-stage communication.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8F5EE"/>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0A1628"/>
          </a:solidFill>
          <a:ln w="12700">
            <a:solidFill>
              <a:srgbClr val="0A1628"/>
            </a:solidFill>
            <a:prstDash val="solid"/>
          </a:ln>
        </p:spPr>
      </p:sp>
      <p:sp>
        <p:nvSpPr>
          <p:cNvPr id="3" name="Shape 1"/>
          <p:cNvSpPr/>
          <p:nvPr/>
        </p:nvSpPr>
        <p:spPr>
          <a:xfrm>
            <a:off x="0" y="457200"/>
            <a:ext cx="12161520" cy="36576"/>
          </a:xfrm>
          <a:prstGeom prst="rect">
            <a:avLst/>
          </a:prstGeom>
          <a:solidFill>
            <a:srgbClr val="C9A961"/>
          </a:solidFill>
          <a:ln w="12700">
            <a:solidFill>
              <a:srgbClr val="C9A961"/>
            </a:solidFill>
            <a:prstDash val="solid"/>
          </a:ln>
        </p:spPr>
      </p:sp>
      <p:sp>
        <p:nvSpPr>
          <p:cNvPr id="4" name="Text 2"/>
          <p:cNvSpPr/>
          <p:nvPr/>
        </p:nvSpPr>
        <p:spPr>
          <a:xfrm>
            <a:off x="457200" y="64008"/>
            <a:ext cx="365760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MUHAMMAD FATHONI</a:t>
            </a:r>
            <a:endParaRPr lang="en-US" sz="1000" dirty="0"/>
          </a:p>
        </p:txBody>
      </p:sp>
      <p:sp>
        <p:nvSpPr>
          <p:cNvPr id="5" name="Text 3"/>
          <p:cNvSpPr/>
          <p:nvPr/>
        </p:nvSpPr>
        <p:spPr>
          <a:xfrm>
            <a:off x="457200" y="246888"/>
            <a:ext cx="3657600" cy="182880"/>
          </a:xfrm>
          <a:prstGeom prst="rect">
            <a:avLst/>
          </a:prstGeom>
          <a:noFill/>
          <a:ln/>
        </p:spPr>
        <p:txBody>
          <a:bodyPr wrap="square" lIns="0" tIns="0" rIns="0" bIns="0" rtlCol="0" anchor="ctr"/>
          <a:lstStyle/>
          <a:p>
            <a:pPr marL="0" indent="0">
              <a:buNone/>
            </a:pPr>
            <a:r>
              <a:rPr lang="en-US" sz="900" i="1" dirty="0">
                <a:solidFill>
                  <a:srgbClr val="E8D7A8"/>
                </a:solidFill>
                <a:latin typeface="Calibri" pitchFamily="34" charset="0"/>
                <a:ea typeface="Calibri" pitchFamily="34" charset="-122"/>
                <a:cs typeface="Calibri" pitchFamily="34" charset="-120"/>
              </a:rPr>
              <a:t>Electrical Engineer  ·  AI &amp; IoT Enthusiast</a:t>
            </a:r>
            <a:endParaRPr lang="en-US" sz="900" dirty="0"/>
          </a:p>
        </p:txBody>
      </p:sp>
      <p:sp>
        <p:nvSpPr>
          <p:cNvPr id="6" name="Text 4"/>
          <p:cNvSpPr/>
          <p:nvPr/>
        </p:nvSpPr>
        <p:spPr>
          <a:xfrm>
            <a:off x="10607040" y="155448"/>
            <a:ext cx="1097280" cy="182880"/>
          </a:xfrm>
          <a:prstGeom prst="rect">
            <a:avLst/>
          </a:prstGeom>
          <a:noFill/>
          <a:ln/>
        </p:spPr>
        <p:txBody>
          <a:bodyPr wrap="square" lIns="0" tIns="0" rIns="0" bIns="0" rtlCol="0" anchor="ctr"/>
          <a:lstStyle/>
          <a:p>
            <a:pPr marL="0" indent="0" algn="r">
              <a:buNone/>
            </a:pPr>
            <a:r>
              <a:rPr lang="en-US" sz="900" b="1" dirty="0">
                <a:solidFill>
                  <a:srgbClr val="E8D7A8"/>
                </a:solidFill>
                <a:latin typeface="Calibri" pitchFamily="34" charset="0"/>
                <a:ea typeface="Calibri" pitchFamily="34" charset="-122"/>
                <a:cs typeface="Calibri" pitchFamily="34" charset="-120"/>
              </a:rPr>
              <a:t>PAGE 16 / 17</a:t>
            </a:r>
            <a:endParaRPr lang="en-US" sz="900" dirty="0"/>
          </a:p>
        </p:txBody>
      </p:sp>
      <p:sp>
        <p:nvSpPr>
          <p:cNvPr id="7" name="Shape 5"/>
          <p:cNvSpPr/>
          <p:nvPr/>
        </p:nvSpPr>
        <p:spPr>
          <a:xfrm>
            <a:off x="0" y="6565392"/>
            <a:ext cx="12161520" cy="292608"/>
          </a:xfrm>
          <a:prstGeom prst="rect">
            <a:avLst/>
          </a:prstGeom>
          <a:solidFill>
            <a:srgbClr val="1B2D4A"/>
          </a:solidFill>
          <a:ln w="12700">
            <a:solidFill>
              <a:srgbClr val="1B2D4A"/>
            </a:solidFill>
            <a:prstDash val="solid"/>
          </a:ln>
        </p:spPr>
      </p:sp>
      <p:sp>
        <p:nvSpPr>
          <p:cNvPr id="8" name="Shape 6"/>
          <p:cNvSpPr/>
          <p:nvPr/>
        </p:nvSpPr>
        <p:spPr>
          <a:xfrm>
            <a:off x="0" y="6547104"/>
            <a:ext cx="12161520" cy="18288"/>
          </a:xfrm>
          <a:prstGeom prst="rect">
            <a:avLst/>
          </a:prstGeom>
          <a:solidFill>
            <a:srgbClr val="C9A961"/>
          </a:solidFill>
          <a:ln w="12700">
            <a:solidFill>
              <a:srgbClr val="C9A961"/>
            </a:solidFill>
            <a:prstDash val="solid"/>
          </a:ln>
        </p:spPr>
      </p:sp>
      <p:sp>
        <p:nvSpPr>
          <p:cNvPr id="9" name="Text 7"/>
          <p:cNvSpPr/>
          <p:nvPr/>
        </p:nvSpPr>
        <p:spPr>
          <a:xfrm>
            <a:off x="457200" y="6611112"/>
            <a:ext cx="3657600" cy="20116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fathonimuhammad2411@gmail.com</a:t>
            </a:r>
            <a:endParaRPr lang="en-US" sz="900" dirty="0"/>
          </a:p>
        </p:txBody>
      </p:sp>
      <p:sp>
        <p:nvSpPr>
          <p:cNvPr id="10" name="Text 8"/>
          <p:cNvSpPr/>
          <p:nvPr/>
        </p:nvSpPr>
        <p:spPr>
          <a:xfrm>
            <a:off x="4983480" y="6611112"/>
            <a:ext cx="2194560" cy="20116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+62 822-5850-3481</a:t>
            </a:r>
            <a:endParaRPr lang="en-US" sz="900" dirty="0"/>
          </a:p>
        </p:txBody>
      </p:sp>
      <p:sp>
        <p:nvSpPr>
          <p:cNvPr id="11" name="Text 9"/>
          <p:cNvSpPr/>
          <p:nvPr/>
        </p:nvSpPr>
        <p:spPr>
          <a:xfrm>
            <a:off x="8046720" y="6611112"/>
            <a:ext cx="3657600" cy="201168"/>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linkedin.com/in/muhammad-fathoni-038274266</a:t>
            </a:r>
            <a:endParaRPr lang="en-US" sz="900" dirty="0"/>
          </a:p>
        </p:txBody>
      </p:sp>
      <p:sp>
        <p:nvSpPr>
          <p:cNvPr id="12" name="Text 10"/>
          <p:cNvSpPr/>
          <p:nvPr/>
        </p:nvSpPr>
        <p:spPr>
          <a:xfrm>
            <a:off x="640080" y="822960"/>
            <a:ext cx="4572000" cy="274320"/>
          </a:xfrm>
          <a:prstGeom prst="rect">
            <a:avLst/>
          </a:prstGeom>
          <a:noFill/>
          <a:ln/>
        </p:spPr>
        <p:txBody>
          <a:bodyPr wrap="square" lIns="0" tIns="0" rIns="0" bIns="0" rtlCol="0" anchor="ctr"/>
          <a:lstStyle/>
          <a:p>
            <a:r>
              <a:rPr lang="en-US" sz="2000" b="1" dirty="0">
                <a:solidFill>
                  <a:srgbClr val="C9A961"/>
                </a:solidFill>
                <a:latin typeface="Calibri" pitchFamily="34" charset="0"/>
                <a:ea typeface="Calibri" pitchFamily="34" charset="-122"/>
                <a:cs typeface="Calibri" pitchFamily="34" charset="-120"/>
              </a:rPr>
              <a:t>07  ·  ACHIEVEMENTS AND CERTIFICATIONS</a:t>
            </a:r>
            <a:endParaRPr lang="en-US" sz="2000" dirty="0"/>
          </a:p>
        </p:txBody>
      </p:sp>
      <p:sp>
        <p:nvSpPr>
          <p:cNvPr id="13" name="Shape 11"/>
          <p:cNvSpPr/>
          <p:nvPr/>
        </p:nvSpPr>
        <p:spPr>
          <a:xfrm>
            <a:off x="640080" y="1115568"/>
            <a:ext cx="640080" cy="27432"/>
          </a:xfrm>
          <a:prstGeom prst="rect">
            <a:avLst/>
          </a:prstGeom>
          <a:solidFill>
            <a:srgbClr val="C9A961"/>
          </a:solidFill>
          <a:ln w="12700">
            <a:solidFill>
              <a:srgbClr val="C9A961"/>
            </a:solidFill>
            <a:prstDash val="solid"/>
          </a:ln>
        </p:spPr>
      </p:sp>
      <p:sp>
        <p:nvSpPr>
          <p:cNvPr id="14" name="Text 12"/>
          <p:cNvSpPr/>
          <p:nvPr/>
        </p:nvSpPr>
        <p:spPr>
          <a:xfrm>
            <a:off x="640080" y="1207008"/>
            <a:ext cx="8229600" cy="548640"/>
          </a:xfrm>
          <a:prstGeom prst="rect">
            <a:avLst/>
          </a:prstGeom>
          <a:noFill/>
          <a:ln/>
        </p:spPr>
        <p:txBody>
          <a:bodyPr wrap="square" lIns="0" tIns="0" rIns="0" bIns="0" rtlCol="0" anchor="ctr"/>
          <a:lstStyle/>
          <a:p>
            <a:pPr marL="0" indent="0">
              <a:buNone/>
            </a:pPr>
            <a:r>
              <a:rPr lang="en-US" sz="2800" b="1" dirty="0">
                <a:solidFill>
                  <a:srgbClr val="0A1628"/>
                </a:solidFill>
                <a:latin typeface="Calibri" pitchFamily="34" charset="0"/>
                <a:ea typeface="Calibri" pitchFamily="34" charset="-122"/>
                <a:cs typeface="Calibri" pitchFamily="34" charset="-120"/>
              </a:rPr>
              <a:t>Achievements</a:t>
            </a:r>
            <a:endParaRPr lang="en-US" sz="2800" dirty="0"/>
          </a:p>
        </p:txBody>
      </p:sp>
      <p:sp>
        <p:nvSpPr>
          <p:cNvPr id="15" name="Shape 13"/>
          <p:cNvSpPr/>
          <p:nvPr/>
        </p:nvSpPr>
        <p:spPr>
          <a:xfrm>
            <a:off x="640080" y="1828800"/>
            <a:ext cx="411480" cy="411480"/>
          </a:xfrm>
          <a:prstGeom prst="ellipse">
            <a:avLst/>
          </a:prstGeom>
          <a:solidFill>
            <a:srgbClr val="0A1628"/>
          </a:solidFill>
          <a:ln w="16510">
            <a:solidFill>
              <a:srgbClr val="C9A961"/>
            </a:solidFill>
            <a:prstDash val="solid"/>
          </a:ln>
        </p:spPr>
      </p:sp>
      <p:sp>
        <p:nvSpPr>
          <p:cNvPr id="16" name="Text 14"/>
          <p:cNvSpPr/>
          <p:nvPr/>
        </p:nvSpPr>
        <p:spPr>
          <a:xfrm>
            <a:off x="640080" y="1828800"/>
            <a:ext cx="411480" cy="411480"/>
          </a:xfrm>
          <a:prstGeom prst="rect">
            <a:avLst/>
          </a:prstGeom>
          <a:noFill/>
          <a:ln/>
        </p:spPr>
        <p:txBody>
          <a:bodyPr wrap="square" lIns="0" tIns="0" rIns="0" bIns="0" rtlCol="0" anchor="ctr"/>
          <a:lstStyle/>
          <a:p>
            <a:pPr marL="0" indent="0" algn="ctr">
              <a:buNone/>
            </a:pPr>
            <a:r>
              <a:rPr lang="en-US" sz="1000" b="1" dirty="0">
                <a:solidFill>
                  <a:srgbClr val="C9A961"/>
                </a:solidFill>
                <a:latin typeface="Calibri" pitchFamily="34" charset="0"/>
                <a:ea typeface="Calibri" pitchFamily="34" charset="-122"/>
                <a:cs typeface="Calibri" pitchFamily="34" charset="-120"/>
              </a:rPr>
              <a:t>1ST</a:t>
            </a:r>
            <a:endParaRPr lang="en-US" sz="1000" dirty="0"/>
          </a:p>
        </p:txBody>
      </p:sp>
      <p:sp>
        <p:nvSpPr>
          <p:cNvPr id="17" name="Text 15"/>
          <p:cNvSpPr/>
          <p:nvPr/>
        </p:nvSpPr>
        <p:spPr>
          <a:xfrm>
            <a:off x="1188720" y="1828800"/>
            <a:ext cx="5486400" cy="22860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1st Place — IT Centrum Startup Hackathon 2024</a:t>
            </a:r>
            <a:endParaRPr lang="en-US" sz="1200" dirty="0"/>
          </a:p>
        </p:txBody>
      </p:sp>
      <p:sp>
        <p:nvSpPr>
          <p:cNvPr id="18" name="Text 16"/>
          <p:cNvSpPr/>
          <p:nvPr/>
        </p:nvSpPr>
        <p:spPr>
          <a:xfrm>
            <a:off x="1188720" y="2057400"/>
            <a:ext cx="5486400" cy="201168"/>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Universitas Islam Indonesia · Dec 13–14, 2024</a:t>
            </a:r>
            <a:endParaRPr lang="en-US" sz="1400" dirty="0"/>
          </a:p>
        </p:txBody>
      </p:sp>
      <p:sp>
        <p:nvSpPr>
          <p:cNvPr id="19" name="Shape 17"/>
          <p:cNvSpPr/>
          <p:nvPr/>
        </p:nvSpPr>
        <p:spPr>
          <a:xfrm>
            <a:off x="640080" y="2331720"/>
            <a:ext cx="411480" cy="411480"/>
          </a:xfrm>
          <a:prstGeom prst="ellipse">
            <a:avLst/>
          </a:prstGeom>
          <a:solidFill>
            <a:srgbClr val="0A1628"/>
          </a:solidFill>
          <a:ln w="16510">
            <a:solidFill>
              <a:srgbClr val="C9A961"/>
            </a:solidFill>
            <a:prstDash val="solid"/>
          </a:ln>
        </p:spPr>
      </p:sp>
      <p:sp>
        <p:nvSpPr>
          <p:cNvPr id="20" name="Text 18"/>
          <p:cNvSpPr/>
          <p:nvPr/>
        </p:nvSpPr>
        <p:spPr>
          <a:xfrm>
            <a:off x="640080" y="2331720"/>
            <a:ext cx="411480" cy="411480"/>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1ST</a:t>
            </a:r>
            <a:endParaRPr lang="en-US" sz="1400" dirty="0"/>
          </a:p>
        </p:txBody>
      </p:sp>
      <p:sp>
        <p:nvSpPr>
          <p:cNvPr id="21" name="Text 19"/>
          <p:cNvSpPr/>
          <p:nvPr/>
        </p:nvSpPr>
        <p:spPr>
          <a:xfrm>
            <a:off x="1188720" y="2331720"/>
            <a:ext cx="5486400" cy="22860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1st Place — Business Idea Competition</a:t>
            </a:r>
            <a:endParaRPr lang="en-US" sz="1400" dirty="0"/>
          </a:p>
        </p:txBody>
      </p:sp>
      <p:sp>
        <p:nvSpPr>
          <p:cNvPr id="22" name="Text 20"/>
          <p:cNvSpPr/>
          <p:nvPr/>
        </p:nvSpPr>
        <p:spPr>
          <a:xfrm>
            <a:off x="1188720" y="2560320"/>
            <a:ext cx="5486400" cy="201168"/>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Student Entrepreneur Day 2024</a:t>
            </a:r>
            <a:endParaRPr lang="en-US" sz="1400" dirty="0"/>
          </a:p>
        </p:txBody>
      </p:sp>
      <p:sp>
        <p:nvSpPr>
          <p:cNvPr id="23" name="Shape 21"/>
          <p:cNvSpPr/>
          <p:nvPr/>
        </p:nvSpPr>
        <p:spPr>
          <a:xfrm>
            <a:off x="640080" y="2834640"/>
            <a:ext cx="411480" cy="411480"/>
          </a:xfrm>
          <a:prstGeom prst="ellipse">
            <a:avLst/>
          </a:prstGeom>
          <a:solidFill>
            <a:srgbClr val="0A1628"/>
          </a:solidFill>
          <a:ln w="16510">
            <a:solidFill>
              <a:srgbClr val="C9A961"/>
            </a:solidFill>
            <a:prstDash val="solid"/>
          </a:ln>
        </p:spPr>
      </p:sp>
      <p:sp>
        <p:nvSpPr>
          <p:cNvPr id="24" name="Text 22"/>
          <p:cNvSpPr/>
          <p:nvPr/>
        </p:nvSpPr>
        <p:spPr>
          <a:xfrm>
            <a:off x="640080" y="2834640"/>
            <a:ext cx="411480" cy="411480"/>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4TH</a:t>
            </a:r>
            <a:endParaRPr lang="en-US" sz="1400" dirty="0"/>
          </a:p>
        </p:txBody>
      </p:sp>
      <p:sp>
        <p:nvSpPr>
          <p:cNvPr id="25" name="Text 23"/>
          <p:cNvSpPr/>
          <p:nvPr/>
        </p:nvSpPr>
        <p:spPr>
          <a:xfrm>
            <a:off x="1188720" y="2834640"/>
            <a:ext cx="5486400" cy="22860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4th Place — PKM IC Karsa Cipta Scheme</a:t>
            </a:r>
            <a:endParaRPr lang="en-US" sz="1400" dirty="0"/>
          </a:p>
        </p:txBody>
      </p:sp>
      <p:sp>
        <p:nvSpPr>
          <p:cNvPr id="26" name="Text 24"/>
          <p:cNvSpPr/>
          <p:nvPr/>
        </p:nvSpPr>
        <p:spPr>
          <a:xfrm>
            <a:off x="1188720" y="3063240"/>
            <a:ext cx="5486400" cy="201168"/>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Ministry of Education · 2024</a:t>
            </a:r>
            <a:endParaRPr lang="en-US" sz="1400" dirty="0"/>
          </a:p>
        </p:txBody>
      </p:sp>
      <p:sp>
        <p:nvSpPr>
          <p:cNvPr id="27" name="Shape 25"/>
          <p:cNvSpPr/>
          <p:nvPr/>
        </p:nvSpPr>
        <p:spPr>
          <a:xfrm>
            <a:off x="640080" y="3337560"/>
            <a:ext cx="411480" cy="411480"/>
          </a:xfrm>
          <a:prstGeom prst="ellipse">
            <a:avLst/>
          </a:prstGeom>
          <a:solidFill>
            <a:srgbClr val="0A1628"/>
          </a:solidFill>
          <a:ln w="16510">
            <a:solidFill>
              <a:srgbClr val="C9A961"/>
            </a:solidFill>
            <a:prstDash val="solid"/>
          </a:ln>
        </p:spPr>
      </p:sp>
      <p:sp>
        <p:nvSpPr>
          <p:cNvPr id="28" name="Text 26"/>
          <p:cNvSpPr/>
          <p:nvPr/>
        </p:nvSpPr>
        <p:spPr>
          <a:xfrm>
            <a:off x="640080" y="3337560"/>
            <a:ext cx="411480" cy="411480"/>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1188720" y="3337560"/>
            <a:ext cx="5486400" cy="22860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PKM Karsa Cipta Funding Recipient</a:t>
            </a:r>
            <a:endParaRPr lang="en-US" sz="1400" dirty="0"/>
          </a:p>
        </p:txBody>
      </p:sp>
      <p:sp>
        <p:nvSpPr>
          <p:cNvPr id="30" name="Text 28"/>
          <p:cNvSpPr/>
          <p:nvPr/>
        </p:nvSpPr>
        <p:spPr>
          <a:xfrm>
            <a:off x="1188720" y="3566160"/>
            <a:ext cx="5486400" cy="201168"/>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Ministry of Education · 2024</a:t>
            </a:r>
            <a:endParaRPr lang="en-US" sz="1400" dirty="0"/>
          </a:p>
        </p:txBody>
      </p:sp>
      <p:sp>
        <p:nvSpPr>
          <p:cNvPr id="31" name="Shape 29"/>
          <p:cNvSpPr/>
          <p:nvPr/>
        </p:nvSpPr>
        <p:spPr>
          <a:xfrm>
            <a:off x="640080" y="3840480"/>
            <a:ext cx="411480" cy="411480"/>
          </a:xfrm>
          <a:prstGeom prst="ellipse">
            <a:avLst/>
          </a:prstGeom>
          <a:solidFill>
            <a:srgbClr val="0A1628"/>
          </a:solidFill>
          <a:ln w="16510">
            <a:solidFill>
              <a:srgbClr val="C9A961"/>
            </a:solidFill>
            <a:prstDash val="solid"/>
          </a:ln>
        </p:spPr>
      </p:sp>
      <p:sp>
        <p:nvSpPr>
          <p:cNvPr id="32" name="Text 30"/>
          <p:cNvSpPr/>
          <p:nvPr/>
        </p:nvSpPr>
        <p:spPr>
          <a:xfrm>
            <a:off x="640080" y="3840480"/>
            <a:ext cx="411480" cy="411480"/>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3RD</a:t>
            </a:r>
            <a:endParaRPr lang="en-US" sz="1400" dirty="0"/>
          </a:p>
        </p:txBody>
      </p:sp>
      <p:sp>
        <p:nvSpPr>
          <p:cNvPr id="33" name="Text 31"/>
          <p:cNvSpPr/>
          <p:nvPr/>
        </p:nvSpPr>
        <p:spPr>
          <a:xfrm>
            <a:off x="1188720" y="3840480"/>
            <a:ext cx="5486400" cy="22860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3rd Place — PKM IC Community Service Scheme</a:t>
            </a:r>
            <a:endParaRPr lang="en-US" sz="1400" dirty="0"/>
          </a:p>
        </p:txBody>
      </p:sp>
      <p:sp>
        <p:nvSpPr>
          <p:cNvPr id="34" name="Text 32"/>
          <p:cNvSpPr/>
          <p:nvPr/>
        </p:nvSpPr>
        <p:spPr>
          <a:xfrm>
            <a:off x="1188720" y="4069080"/>
            <a:ext cx="5486400" cy="201168"/>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Ministry of Education · 2025</a:t>
            </a:r>
            <a:endParaRPr lang="en-US" sz="1400" dirty="0"/>
          </a:p>
        </p:txBody>
      </p:sp>
      <p:sp>
        <p:nvSpPr>
          <p:cNvPr id="35" name="Shape 33"/>
          <p:cNvSpPr/>
          <p:nvPr/>
        </p:nvSpPr>
        <p:spPr>
          <a:xfrm>
            <a:off x="640080" y="4343400"/>
            <a:ext cx="411480" cy="411480"/>
          </a:xfrm>
          <a:prstGeom prst="ellipse">
            <a:avLst/>
          </a:prstGeom>
          <a:solidFill>
            <a:srgbClr val="0A1628"/>
          </a:solidFill>
          <a:ln w="16510">
            <a:solidFill>
              <a:srgbClr val="C9A961"/>
            </a:solidFill>
            <a:prstDash val="solid"/>
          </a:ln>
        </p:spPr>
      </p:sp>
      <p:sp>
        <p:nvSpPr>
          <p:cNvPr id="36" name="Text 34"/>
          <p:cNvSpPr/>
          <p:nvPr/>
        </p:nvSpPr>
        <p:spPr>
          <a:xfrm>
            <a:off x="640080" y="4343400"/>
            <a:ext cx="411480" cy="411480"/>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5TH</a:t>
            </a:r>
            <a:endParaRPr lang="en-US" sz="1400" dirty="0"/>
          </a:p>
        </p:txBody>
      </p:sp>
      <p:sp>
        <p:nvSpPr>
          <p:cNvPr id="37" name="Text 35"/>
          <p:cNvSpPr/>
          <p:nvPr/>
        </p:nvSpPr>
        <p:spPr>
          <a:xfrm>
            <a:off x="1188720" y="4343400"/>
            <a:ext cx="5486400" cy="22860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5th Place — PKM IC Innovative Work Scheme</a:t>
            </a:r>
            <a:endParaRPr lang="en-US" sz="1400" dirty="0"/>
          </a:p>
        </p:txBody>
      </p:sp>
      <p:sp>
        <p:nvSpPr>
          <p:cNvPr id="38" name="Text 36"/>
          <p:cNvSpPr/>
          <p:nvPr/>
        </p:nvSpPr>
        <p:spPr>
          <a:xfrm>
            <a:off x="1188720" y="4572000"/>
            <a:ext cx="5486400" cy="201168"/>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Ministry of Education · 2025</a:t>
            </a:r>
            <a:endParaRPr lang="en-US" sz="1400" dirty="0"/>
          </a:p>
        </p:txBody>
      </p:sp>
      <p:sp>
        <p:nvSpPr>
          <p:cNvPr id="39" name="Shape 37"/>
          <p:cNvSpPr/>
          <p:nvPr/>
        </p:nvSpPr>
        <p:spPr>
          <a:xfrm>
            <a:off x="640080" y="4846320"/>
            <a:ext cx="411480" cy="411480"/>
          </a:xfrm>
          <a:prstGeom prst="ellipse">
            <a:avLst/>
          </a:prstGeom>
          <a:solidFill>
            <a:srgbClr val="0A1628"/>
          </a:solidFill>
          <a:ln w="16510">
            <a:solidFill>
              <a:srgbClr val="C9A961"/>
            </a:solidFill>
            <a:prstDash val="solid"/>
          </a:ln>
        </p:spPr>
      </p:sp>
      <p:sp>
        <p:nvSpPr>
          <p:cNvPr id="40" name="Text 38"/>
          <p:cNvSpPr/>
          <p:nvPr/>
        </p:nvSpPr>
        <p:spPr>
          <a:xfrm>
            <a:off x="640080" y="4846320"/>
            <a:ext cx="411480" cy="411480"/>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a:t>
            </a:r>
            <a:endParaRPr lang="en-US" sz="1400" dirty="0"/>
          </a:p>
        </p:txBody>
      </p:sp>
      <p:sp>
        <p:nvSpPr>
          <p:cNvPr id="41" name="Text 39"/>
          <p:cNvSpPr/>
          <p:nvPr/>
        </p:nvSpPr>
        <p:spPr>
          <a:xfrm>
            <a:off x="1188720" y="4846320"/>
            <a:ext cx="5486400" cy="22860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UII Excellent Community Full Scholarship Awardee</a:t>
            </a:r>
            <a:endParaRPr lang="en-US" sz="1400" dirty="0"/>
          </a:p>
        </p:txBody>
      </p:sp>
      <p:sp>
        <p:nvSpPr>
          <p:cNvPr id="42" name="Text 40"/>
          <p:cNvSpPr/>
          <p:nvPr/>
        </p:nvSpPr>
        <p:spPr>
          <a:xfrm>
            <a:off x="1188720" y="5074920"/>
            <a:ext cx="5486400" cy="201168"/>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UII · 2022 – 2026</a:t>
            </a:r>
            <a:endParaRPr lang="en-US" sz="1400" dirty="0"/>
          </a:p>
        </p:txBody>
      </p:sp>
      <p:sp>
        <p:nvSpPr>
          <p:cNvPr id="43" name="Text 41"/>
          <p:cNvSpPr/>
          <p:nvPr/>
        </p:nvSpPr>
        <p:spPr>
          <a:xfrm>
            <a:off x="6858000" y="822960"/>
            <a:ext cx="4572000" cy="274320"/>
          </a:xfrm>
          <a:prstGeom prst="rect">
            <a:avLst/>
          </a:prstGeom>
          <a:noFill/>
          <a:ln/>
        </p:spPr>
        <p:txBody>
          <a:bodyPr wrap="square" lIns="0" tIns="0" rIns="0" bIns="0" rtlCol="0" anchor="ctr"/>
          <a:lstStyle/>
          <a:p>
            <a:pPr marL="0" indent="0">
              <a:buNone/>
            </a:pPr>
            <a:endParaRPr lang="en-US" sz="2000" dirty="0"/>
          </a:p>
        </p:txBody>
      </p:sp>
      <p:sp>
        <p:nvSpPr>
          <p:cNvPr id="45" name="Text 43"/>
          <p:cNvSpPr/>
          <p:nvPr/>
        </p:nvSpPr>
        <p:spPr>
          <a:xfrm>
            <a:off x="6858000" y="1207008"/>
            <a:ext cx="8229600" cy="548640"/>
          </a:xfrm>
          <a:prstGeom prst="rect">
            <a:avLst/>
          </a:prstGeom>
          <a:noFill/>
          <a:ln/>
        </p:spPr>
        <p:txBody>
          <a:bodyPr wrap="square" lIns="0" tIns="0" rIns="0" bIns="0" rtlCol="0" anchor="ctr"/>
          <a:lstStyle/>
          <a:p>
            <a:pPr marL="0" indent="0">
              <a:buNone/>
            </a:pPr>
            <a:r>
              <a:rPr lang="en-US" sz="2800" b="1" dirty="0">
                <a:solidFill>
                  <a:srgbClr val="0A1628"/>
                </a:solidFill>
                <a:latin typeface="Calibri" pitchFamily="34" charset="0"/>
                <a:ea typeface="Calibri" pitchFamily="34" charset="-122"/>
                <a:cs typeface="Calibri" pitchFamily="34" charset="-120"/>
              </a:rPr>
              <a:t>Certifications</a:t>
            </a:r>
            <a:endParaRPr lang="en-US" sz="2800" dirty="0"/>
          </a:p>
        </p:txBody>
      </p:sp>
      <p:sp>
        <p:nvSpPr>
          <p:cNvPr id="46" name="Shape 44"/>
          <p:cNvSpPr/>
          <p:nvPr/>
        </p:nvSpPr>
        <p:spPr>
          <a:xfrm>
            <a:off x="6858000" y="1828800"/>
            <a:ext cx="4663440" cy="5029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47" name="Shape 45"/>
          <p:cNvSpPr/>
          <p:nvPr/>
        </p:nvSpPr>
        <p:spPr>
          <a:xfrm>
            <a:off x="6858000" y="1828800"/>
            <a:ext cx="73152" cy="502920"/>
          </a:xfrm>
          <a:prstGeom prst="rect">
            <a:avLst/>
          </a:prstGeom>
          <a:solidFill>
            <a:srgbClr val="C9A961"/>
          </a:solidFill>
          <a:ln w="12700">
            <a:solidFill>
              <a:srgbClr val="C9A961"/>
            </a:solidFill>
            <a:prstDash val="solid"/>
          </a:ln>
        </p:spPr>
      </p:sp>
      <p:sp>
        <p:nvSpPr>
          <p:cNvPr id="48" name="Text 46"/>
          <p:cNvSpPr/>
          <p:nvPr/>
        </p:nvSpPr>
        <p:spPr>
          <a:xfrm>
            <a:off x="6995160" y="1874520"/>
            <a:ext cx="3017520" cy="22860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HCIA-Datacom V1.0</a:t>
            </a:r>
            <a:endParaRPr lang="en-US" sz="1400" dirty="0"/>
          </a:p>
        </p:txBody>
      </p:sp>
      <p:sp>
        <p:nvSpPr>
          <p:cNvPr id="49" name="Text 47"/>
          <p:cNvSpPr/>
          <p:nvPr/>
        </p:nvSpPr>
        <p:spPr>
          <a:xfrm>
            <a:off x="6995160" y="2103120"/>
            <a:ext cx="3017520" cy="201168"/>
          </a:xfrm>
          <a:prstGeom prst="rect">
            <a:avLst/>
          </a:prstGeom>
          <a:noFill/>
          <a:ln/>
        </p:spPr>
        <p:txBody>
          <a:bodyPr wrap="square" lIns="0" tIns="0" rIns="0" bIns="0" rtlCol="0" anchor="ctr"/>
          <a:lstStyle/>
          <a:p>
            <a:pPr marL="0" indent="0">
              <a:buNone/>
            </a:pPr>
            <a:r>
              <a:rPr lang="en-US" sz="1400" dirty="0">
                <a:solidFill>
                  <a:srgbClr val="5A5A5A"/>
                </a:solidFill>
                <a:latin typeface="Calibri" pitchFamily="34" charset="0"/>
                <a:ea typeface="Calibri" pitchFamily="34" charset="-122"/>
                <a:cs typeface="Calibri" pitchFamily="34" charset="-120"/>
              </a:rPr>
              <a:t>Huawei Talent Online</a:t>
            </a:r>
            <a:endParaRPr lang="en-US" sz="1400" dirty="0"/>
          </a:p>
        </p:txBody>
      </p:sp>
      <p:sp>
        <p:nvSpPr>
          <p:cNvPr id="50" name="Text 48"/>
          <p:cNvSpPr/>
          <p:nvPr/>
        </p:nvSpPr>
        <p:spPr>
          <a:xfrm>
            <a:off x="10149840" y="1984248"/>
            <a:ext cx="1280160" cy="228600"/>
          </a:xfrm>
          <a:prstGeom prst="rect">
            <a:avLst/>
          </a:prstGeom>
          <a:noFill/>
          <a:ln/>
        </p:spPr>
        <p:txBody>
          <a:bodyPr wrap="square" lIns="0" tIns="0" rIns="0" bIns="0" rtlCol="0" anchor="ctr"/>
          <a:lstStyle/>
          <a:p>
            <a:pPr marL="0" indent="0" algn="r">
              <a:buNone/>
            </a:pPr>
            <a:r>
              <a:rPr lang="en-US" sz="1400" b="1" dirty="0">
                <a:solidFill>
                  <a:srgbClr val="C9A961"/>
                </a:solidFill>
                <a:latin typeface="Calibri" pitchFamily="34" charset="0"/>
                <a:ea typeface="Calibri" pitchFamily="34" charset="-122"/>
                <a:cs typeface="Calibri" pitchFamily="34" charset="-120"/>
              </a:rPr>
              <a:t>Dec 13, 2023</a:t>
            </a:r>
            <a:endParaRPr lang="en-US" sz="1400" dirty="0"/>
          </a:p>
        </p:txBody>
      </p:sp>
      <p:sp>
        <p:nvSpPr>
          <p:cNvPr id="51" name="Shape 49"/>
          <p:cNvSpPr/>
          <p:nvPr/>
        </p:nvSpPr>
        <p:spPr>
          <a:xfrm>
            <a:off x="6858000" y="2423160"/>
            <a:ext cx="4663440" cy="5029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52" name="Shape 50"/>
          <p:cNvSpPr/>
          <p:nvPr/>
        </p:nvSpPr>
        <p:spPr>
          <a:xfrm>
            <a:off x="6858000" y="2423160"/>
            <a:ext cx="73152" cy="502920"/>
          </a:xfrm>
          <a:prstGeom prst="rect">
            <a:avLst/>
          </a:prstGeom>
          <a:solidFill>
            <a:srgbClr val="C9A961"/>
          </a:solidFill>
          <a:ln w="12700">
            <a:solidFill>
              <a:srgbClr val="C9A961"/>
            </a:solidFill>
            <a:prstDash val="solid"/>
          </a:ln>
        </p:spPr>
      </p:sp>
      <p:sp>
        <p:nvSpPr>
          <p:cNvPr id="53" name="Text 51"/>
          <p:cNvSpPr/>
          <p:nvPr/>
        </p:nvSpPr>
        <p:spPr>
          <a:xfrm>
            <a:off x="6995160" y="2468880"/>
            <a:ext cx="3017520" cy="22860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Basic PLC Training</a:t>
            </a:r>
            <a:endParaRPr lang="en-US" sz="1400" dirty="0"/>
          </a:p>
        </p:txBody>
      </p:sp>
      <p:sp>
        <p:nvSpPr>
          <p:cNvPr id="54" name="Text 52"/>
          <p:cNvSpPr/>
          <p:nvPr/>
        </p:nvSpPr>
        <p:spPr>
          <a:xfrm>
            <a:off x="6995160" y="2697480"/>
            <a:ext cx="3017520" cy="201168"/>
          </a:xfrm>
          <a:prstGeom prst="rect">
            <a:avLst/>
          </a:prstGeom>
          <a:noFill/>
          <a:ln/>
        </p:spPr>
        <p:txBody>
          <a:bodyPr wrap="square" lIns="0" tIns="0" rIns="0" bIns="0" rtlCol="0" anchor="ctr"/>
          <a:lstStyle/>
          <a:p>
            <a:pPr marL="0" indent="0">
              <a:buNone/>
            </a:pPr>
            <a:r>
              <a:rPr lang="en-US" sz="1400" dirty="0">
                <a:solidFill>
                  <a:srgbClr val="5A5A5A"/>
                </a:solidFill>
                <a:latin typeface="Calibri" pitchFamily="34" charset="0"/>
                <a:ea typeface="Calibri" pitchFamily="34" charset="-122"/>
                <a:cs typeface="Calibri" pitchFamily="34" charset="-120"/>
              </a:rPr>
              <a:t>Dept. of Electrical Eng., UII</a:t>
            </a:r>
            <a:endParaRPr lang="en-US" sz="1400" dirty="0"/>
          </a:p>
        </p:txBody>
      </p:sp>
      <p:sp>
        <p:nvSpPr>
          <p:cNvPr id="55" name="Text 53"/>
          <p:cNvSpPr/>
          <p:nvPr/>
        </p:nvSpPr>
        <p:spPr>
          <a:xfrm>
            <a:off x="10149840" y="2578608"/>
            <a:ext cx="1280160" cy="228600"/>
          </a:xfrm>
          <a:prstGeom prst="rect">
            <a:avLst/>
          </a:prstGeom>
          <a:noFill/>
          <a:ln/>
        </p:spPr>
        <p:txBody>
          <a:bodyPr wrap="square" lIns="0" tIns="0" rIns="0" bIns="0" rtlCol="0" anchor="ctr"/>
          <a:lstStyle/>
          <a:p>
            <a:pPr marL="0" indent="0" algn="r">
              <a:buNone/>
            </a:pPr>
            <a:r>
              <a:rPr lang="en-US" sz="1400" b="1" dirty="0">
                <a:solidFill>
                  <a:srgbClr val="C9A961"/>
                </a:solidFill>
                <a:latin typeface="Calibri" pitchFamily="34" charset="0"/>
                <a:ea typeface="Calibri" pitchFamily="34" charset="-122"/>
                <a:cs typeface="Calibri" pitchFamily="34" charset="-120"/>
              </a:rPr>
              <a:t>Dec 21, 2024</a:t>
            </a:r>
            <a:endParaRPr lang="en-US" sz="1400" dirty="0"/>
          </a:p>
        </p:txBody>
      </p:sp>
      <p:sp>
        <p:nvSpPr>
          <p:cNvPr id="56" name="Shape 54"/>
          <p:cNvSpPr/>
          <p:nvPr/>
        </p:nvSpPr>
        <p:spPr>
          <a:xfrm>
            <a:off x="6858000" y="3017520"/>
            <a:ext cx="4663440" cy="5029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57" name="Shape 55"/>
          <p:cNvSpPr/>
          <p:nvPr/>
        </p:nvSpPr>
        <p:spPr>
          <a:xfrm>
            <a:off x="6858000" y="3017520"/>
            <a:ext cx="73152" cy="502920"/>
          </a:xfrm>
          <a:prstGeom prst="rect">
            <a:avLst/>
          </a:prstGeom>
          <a:solidFill>
            <a:srgbClr val="C9A961"/>
          </a:solidFill>
          <a:ln w="12700">
            <a:solidFill>
              <a:srgbClr val="C9A961"/>
            </a:solidFill>
            <a:prstDash val="solid"/>
          </a:ln>
        </p:spPr>
      </p:sp>
      <p:sp>
        <p:nvSpPr>
          <p:cNvPr id="58" name="Text 56"/>
          <p:cNvSpPr/>
          <p:nvPr/>
        </p:nvSpPr>
        <p:spPr>
          <a:xfrm>
            <a:off x="6995160" y="3063240"/>
            <a:ext cx="3017520" cy="22860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Python for Data Science (Beginner)</a:t>
            </a:r>
            <a:endParaRPr lang="en-US" sz="1400" dirty="0"/>
          </a:p>
        </p:txBody>
      </p:sp>
      <p:sp>
        <p:nvSpPr>
          <p:cNvPr id="59" name="Text 57"/>
          <p:cNvSpPr/>
          <p:nvPr/>
        </p:nvSpPr>
        <p:spPr>
          <a:xfrm>
            <a:off x="6995160" y="3291840"/>
            <a:ext cx="3017520" cy="201168"/>
          </a:xfrm>
          <a:prstGeom prst="rect">
            <a:avLst/>
          </a:prstGeom>
          <a:noFill/>
          <a:ln/>
        </p:spPr>
        <p:txBody>
          <a:bodyPr wrap="square" lIns="0" tIns="0" rIns="0" bIns="0" rtlCol="0" anchor="ctr"/>
          <a:lstStyle/>
          <a:p>
            <a:pPr marL="0" indent="0">
              <a:buNone/>
            </a:pPr>
            <a:r>
              <a:rPr lang="en-US" sz="1400" dirty="0">
                <a:solidFill>
                  <a:srgbClr val="5A5A5A"/>
                </a:solidFill>
                <a:latin typeface="Calibri" pitchFamily="34" charset="0"/>
                <a:ea typeface="Calibri" pitchFamily="34" charset="-122"/>
                <a:cs typeface="Calibri" pitchFamily="34" charset="-120"/>
              </a:rPr>
              <a:t>Dept. of Electrical Eng., UII</a:t>
            </a:r>
            <a:endParaRPr lang="en-US" sz="1400" dirty="0"/>
          </a:p>
        </p:txBody>
      </p:sp>
      <p:sp>
        <p:nvSpPr>
          <p:cNvPr id="60" name="Text 58"/>
          <p:cNvSpPr/>
          <p:nvPr/>
        </p:nvSpPr>
        <p:spPr>
          <a:xfrm>
            <a:off x="10149840" y="3172968"/>
            <a:ext cx="1280160" cy="228600"/>
          </a:xfrm>
          <a:prstGeom prst="rect">
            <a:avLst/>
          </a:prstGeom>
          <a:noFill/>
          <a:ln/>
        </p:spPr>
        <p:txBody>
          <a:bodyPr wrap="square" lIns="0" tIns="0" rIns="0" bIns="0" rtlCol="0" anchor="ctr"/>
          <a:lstStyle/>
          <a:p>
            <a:pPr marL="0" indent="0" algn="r">
              <a:buNone/>
            </a:pPr>
            <a:r>
              <a:rPr lang="en-US" sz="1400" b="1" dirty="0">
                <a:solidFill>
                  <a:srgbClr val="C9A961"/>
                </a:solidFill>
                <a:latin typeface="Calibri" pitchFamily="34" charset="0"/>
                <a:ea typeface="Calibri" pitchFamily="34" charset="-122"/>
                <a:cs typeface="Calibri" pitchFamily="34" charset="-120"/>
              </a:rPr>
              <a:t>Nov 2024 &amp; May 2025</a:t>
            </a:r>
            <a:endParaRPr lang="en-US" sz="1400" dirty="0"/>
          </a:p>
        </p:txBody>
      </p:sp>
      <p:sp>
        <p:nvSpPr>
          <p:cNvPr id="61" name="Shape 59"/>
          <p:cNvSpPr/>
          <p:nvPr/>
        </p:nvSpPr>
        <p:spPr>
          <a:xfrm>
            <a:off x="6858000" y="3611880"/>
            <a:ext cx="4663440" cy="5029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62" name="Shape 60"/>
          <p:cNvSpPr/>
          <p:nvPr/>
        </p:nvSpPr>
        <p:spPr>
          <a:xfrm>
            <a:off x="6858000" y="3611880"/>
            <a:ext cx="73152" cy="502920"/>
          </a:xfrm>
          <a:prstGeom prst="rect">
            <a:avLst/>
          </a:prstGeom>
          <a:solidFill>
            <a:srgbClr val="C9A961"/>
          </a:solidFill>
          <a:ln w="12700">
            <a:solidFill>
              <a:srgbClr val="C9A961"/>
            </a:solidFill>
            <a:prstDash val="solid"/>
          </a:ln>
        </p:spPr>
      </p:sp>
      <p:sp>
        <p:nvSpPr>
          <p:cNvPr id="63" name="Text 61"/>
          <p:cNvSpPr/>
          <p:nvPr/>
        </p:nvSpPr>
        <p:spPr>
          <a:xfrm>
            <a:off x="6995160" y="3657600"/>
            <a:ext cx="3017520" cy="22860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Leadership Training UII EC 2022</a:t>
            </a:r>
            <a:endParaRPr lang="en-US" sz="1400" dirty="0"/>
          </a:p>
        </p:txBody>
      </p:sp>
      <p:sp>
        <p:nvSpPr>
          <p:cNvPr id="64" name="Text 62"/>
          <p:cNvSpPr/>
          <p:nvPr/>
        </p:nvSpPr>
        <p:spPr>
          <a:xfrm>
            <a:off x="6995160" y="3886200"/>
            <a:ext cx="3017520" cy="201168"/>
          </a:xfrm>
          <a:prstGeom prst="rect">
            <a:avLst/>
          </a:prstGeom>
          <a:noFill/>
          <a:ln/>
        </p:spPr>
        <p:txBody>
          <a:bodyPr wrap="square" lIns="0" tIns="0" rIns="0" bIns="0" rtlCol="0" anchor="ctr"/>
          <a:lstStyle/>
          <a:p>
            <a:pPr marL="0" indent="0">
              <a:buNone/>
            </a:pPr>
            <a:r>
              <a:rPr lang="en-US" sz="1400" dirty="0">
                <a:solidFill>
                  <a:srgbClr val="5A5A5A"/>
                </a:solidFill>
                <a:latin typeface="Calibri" pitchFamily="34" charset="0"/>
                <a:ea typeface="Calibri" pitchFamily="34" charset="-122"/>
                <a:cs typeface="Calibri" pitchFamily="34" charset="-120"/>
              </a:rPr>
              <a:t>UII Student Affairs Directorate</a:t>
            </a:r>
            <a:endParaRPr lang="en-US" sz="1400" dirty="0"/>
          </a:p>
        </p:txBody>
      </p:sp>
      <p:sp>
        <p:nvSpPr>
          <p:cNvPr id="65" name="Text 63"/>
          <p:cNvSpPr/>
          <p:nvPr/>
        </p:nvSpPr>
        <p:spPr>
          <a:xfrm>
            <a:off x="10149840" y="3767328"/>
            <a:ext cx="1280160" cy="228600"/>
          </a:xfrm>
          <a:prstGeom prst="rect">
            <a:avLst/>
          </a:prstGeom>
          <a:noFill/>
          <a:ln/>
        </p:spPr>
        <p:txBody>
          <a:bodyPr wrap="square" lIns="0" tIns="0" rIns="0" bIns="0" rtlCol="0" anchor="ctr"/>
          <a:lstStyle/>
          <a:p>
            <a:pPr marL="0" indent="0" algn="r">
              <a:buNone/>
            </a:pPr>
            <a:r>
              <a:rPr lang="en-US" sz="1400" b="1" dirty="0">
                <a:solidFill>
                  <a:srgbClr val="C9A961"/>
                </a:solidFill>
                <a:latin typeface="Calibri" pitchFamily="34" charset="0"/>
                <a:ea typeface="Calibri" pitchFamily="34" charset="-122"/>
                <a:cs typeface="Calibri" pitchFamily="34" charset="-120"/>
              </a:rPr>
              <a:t>Jun 29, 2024</a:t>
            </a:r>
            <a:endParaRPr lang="en-US" sz="1400" dirty="0"/>
          </a:p>
        </p:txBody>
      </p:sp>
      <p:sp>
        <p:nvSpPr>
          <p:cNvPr id="66" name="Shape 64"/>
          <p:cNvSpPr/>
          <p:nvPr/>
        </p:nvSpPr>
        <p:spPr>
          <a:xfrm>
            <a:off x="6858000" y="4206240"/>
            <a:ext cx="4663440" cy="5029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67" name="Shape 65"/>
          <p:cNvSpPr/>
          <p:nvPr/>
        </p:nvSpPr>
        <p:spPr>
          <a:xfrm>
            <a:off x="6858000" y="4206240"/>
            <a:ext cx="73152" cy="502920"/>
          </a:xfrm>
          <a:prstGeom prst="rect">
            <a:avLst/>
          </a:prstGeom>
          <a:solidFill>
            <a:srgbClr val="C9A961"/>
          </a:solidFill>
          <a:ln w="12700">
            <a:solidFill>
              <a:srgbClr val="C9A961"/>
            </a:solidFill>
            <a:prstDash val="solid"/>
          </a:ln>
        </p:spPr>
      </p:sp>
      <p:sp>
        <p:nvSpPr>
          <p:cNvPr id="68" name="Text 66"/>
          <p:cNvSpPr/>
          <p:nvPr/>
        </p:nvSpPr>
        <p:spPr>
          <a:xfrm>
            <a:off x="6995160" y="4251960"/>
            <a:ext cx="3017520" cy="22860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Personal Development Basic Training</a:t>
            </a:r>
            <a:endParaRPr lang="en-US" sz="1400" dirty="0"/>
          </a:p>
        </p:txBody>
      </p:sp>
      <p:sp>
        <p:nvSpPr>
          <p:cNvPr id="69" name="Text 67"/>
          <p:cNvSpPr/>
          <p:nvPr/>
        </p:nvSpPr>
        <p:spPr>
          <a:xfrm>
            <a:off x="6995160" y="4480560"/>
            <a:ext cx="3017520" cy="201168"/>
          </a:xfrm>
          <a:prstGeom prst="rect">
            <a:avLst/>
          </a:prstGeom>
          <a:noFill/>
          <a:ln/>
        </p:spPr>
        <p:txBody>
          <a:bodyPr wrap="square" lIns="0" tIns="0" rIns="0" bIns="0" rtlCol="0" anchor="ctr"/>
          <a:lstStyle/>
          <a:p>
            <a:pPr marL="0" indent="0">
              <a:buNone/>
            </a:pPr>
            <a:r>
              <a:rPr lang="en-US" sz="1400" dirty="0">
                <a:solidFill>
                  <a:srgbClr val="5A5A5A"/>
                </a:solidFill>
                <a:latin typeface="Calibri" pitchFamily="34" charset="0"/>
                <a:ea typeface="Calibri" pitchFamily="34" charset="-122"/>
                <a:cs typeface="Calibri" pitchFamily="34" charset="-120"/>
              </a:rPr>
              <a:t>UII Student Affairs Directorate</a:t>
            </a:r>
            <a:endParaRPr lang="en-US" sz="1400" dirty="0"/>
          </a:p>
        </p:txBody>
      </p:sp>
      <p:sp>
        <p:nvSpPr>
          <p:cNvPr id="70" name="Text 68"/>
          <p:cNvSpPr/>
          <p:nvPr/>
        </p:nvSpPr>
        <p:spPr>
          <a:xfrm>
            <a:off x="10149840" y="4361688"/>
            <a:ext cx="1280160" cy="228600"/>
          </a:xfrm>
          <a:prstGeom prst="rect">
            <a:avLst/>
          </a:prstGeom>
          <a:noFill/>
          <a:ln/>
        </p:spPr>
        <p:txBody>
          <a:bodyPr wrap="square" lIns="0" tIns="0" rIns="0" bIns="0" rtlCol="0" anchor="ctr"/>
          <a:lstStyle/>
          <a:p>
            <a:pPr marL="0" indent="0" algn="r">
              <a:buNone/>
            </a:pPr>
            <a:r>
              <a:rPr lang="en-US" sz="1400" b="1" dirty="0">
                <a:solidFill>
                  <a:srgbClr val="C9A961"/>
                </a:solidFill>
                <a:latin typeface="Calibri" pitchFamily="34" charset="0"/>
                <a:ea typeface="Calibri" pitchFamily="34" charset="-122"/>
                <a:cs typeface="Calibri" pitchFamily="34" charset="-120"/>
              </a:rPr>
              <a:t>Jun 25, 2023</a:t>
            </a:r>
            <a:endParaRPr lang="en-US" sz="1400" dirty="0"/>
          </a:p>
        </p:txBody>
      </p:sp>
      <p:sp>
        <p:nvSpPr>
          <p:cNvPr id="71" name="Shape 69"/>
          <p:cNvSpPr/>
          <p:nvPr/>
        </p:nvSpPr>
        <p:spPr>
          <a:xfrm>
            <a:off x="6858000" y="4800600"/>
            <a:ext cx="4663440" cy="502920"/>
          </a:xfrm>
          <a:prstGeom prst="rect">
            <a:avLst/>
          </a:prstGeom>
          <a:solidFill>
            <a:srgbClr val="FFFFFF"/>
          </a:solidFill>
          <a:ln w="12700">
            <a:solidFill>
              <a:srgbClr val="FFFFFF"/>
            </a:solidFill>
            <a:prstDash val="solid"/>
          </a:ln>
          <a:effectLst>
            <a:outerShdw blurRad="76200" dist="25400" dir="8100000" algn="bl" rotWithShape="0">
              <a:srgbClr val="000000">
                <a:alpha val="12000"/>
              </a:srgbClr>
            </a:outerShdw>
          </a:effectLst>
        </p:spPr>
      </p:sp>
      <p:sp>
        <p:nvSpPr>
          <p:cNvPr id="72" name="Shape 70"/>
          <p:cNvSpPr/>
          <p:nvPr/>
        </p:nvSpPr>
        <p:spPr>
          <a:xfrm>
            <a:off x="6858000" y="4800600"/>
            <a:ext cx="73152" cy="502920"/>
          </a:xfrm>
          <a:prstGeom prst="rect">
            <a:avLst/>
          </a:prstGeom>
          <a:solidFill>
            <a:srgbClr val="C9A961"/>
          </a:solidFill>
          <a:ln w="12700">
            <a:solidFill>
              <a:srgbClr val="C9A961"/>
            </a:solidFill>
            <a:prstDash val="solid"/>
          </a:ln>
        </p:spPr>
      </p:sp>
      <p:sp>
        <p:nvSpPr>
          <p:cNvPr id="73" name="Text 71"/>
          <p:cNvSpPr/>
          <p:nvPr/>
        </p:nvSpPr>
        <p:spPr>
          <a:xfrm>
            <a:off x="6995160" y="4846320"/>
            <a:ext cx="3017520" cy="22860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IEEE Leadership Class 2022</a:t>
            </a:r>
            <a:endParaRPr lang="en-US" sz="1400" dirty="0"/>
          </a:p>
        </p:txBody>
      </p:sp>
      <p:sp>
        <p:nvSpPr>
          <p:cNvPr id="74" name="Text 72"/>
          <p:cNvSpPr/>
          <p:nvPr/>
        </p:nvSpPr>
        <p:spPr>
          <a:xfrm>
            <a:off x="6995160" y="5074920"/>
            <a:ext cx="3017520" cy="201168"/>
          </a:xfrm>
          <a:prstGeom prst="rect">
            <a:avLst/>
          </a:prstGeom>
          <a:noFill/>
          <a:ln/>
        </p:spPr>
        <p:txBody>
          <a:bodyPr wrap="square" lIns="0" tIns="0" rIns="0" bIns="0" rtlCol="0" anchor="ctr"/>
          <a:lstStyle/>
          <a:p>
            <a:pPr marL="0" indent="0">
              <a:buNone/>
            </a:pPr>
            <a:r>
              <a:rPr lang="en-US" sz="1400" dirty="0">
                <a:solidFill>
                  <a:srgbClr val="5A5A5A"/>
                </a:solidFill>
                <a:latin typeface="Calibri" pitchFamily="34" charset="0"/>
                <a:ea typeface="Calibri" pitchFamily="34" charset="-122"/>
                <a:cs typeface="Calibri" pitchFamily="34" charset="-120"/>
              </a:rPr>
              <a:t>IEEE Student Branch UII</a:t>
            </a:r>
            <a:endParaRPr lang="en-US" sz="1400" dirty="0"/>
          </a:p>
        </p:txBody>
      </p:sp>
      <p:sp>
        <p:nvSpPr>
          <p:cNvPr id="75" name="Text 73"/>
          <p:cNvSpPr/>
          <p:nvPr/>
        </p:nvSpPr>
        <p:spPr>
          <a:xfrm>
            <a:off x="10149840" y="4956048"/>
            <a:ext cx="1280160" cy="228600"/>
          </a:xfrm>
          <a:prstGeom prst="rect">
            <a:avLst/>
          </a:prstGeom>
          <a:noFill/>
          <a:ln/>
        </p:spPr>
        <p:txBody>
          <a:bodyPr wrap="square" lIns="0" tIns="0" rIns="0" bIns="0" rtlCol="0" anchor="ctr"/>
          <a:lstStyle/>
          <a:p>
            <a:pPr marL="0" indent="0" algn="r">
              <a:buNone/>
            </a:pPr>
            <a:r>
              <a:rPr lang="en-US" sz="1400" b="1" dirty="0">
                <a:solidFill>
                  <a:srgbClr val="C9A961"/>
                </a:solidFill>
                <a:latin typeface="Calibri" pitchFamily="34" charset="0"/>
                <a:ea typeface="Calibri" pitchFamily="34" charset="-122"/>
                <a:cs typeface="Calibri" pitchFamily="34" charset="-120"/>
              </a:rPr>
              <a:t>Nov–Dec 2022</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457200"/>
            <a:ext cx="2743200" cy="2743200"/>
          </a:xfrm>
          <a:prstGeom prst="line">
            <a:avLst/>
          </a:prstGeom>
          <a:noFill/>
          <a:ln w="5080">
            <a:solidFill>
              <a:srgbClr val="C9A961"/>
            </a:solidFill>
            <a:prstDash val="solid"/>
          </a:ln>
        </p:spPr>
      </p:sp>
      <p:sp>
        <p:nvSpPr>
          <p:cNvPr id="3" name="Shape 1"/>
          <p:cNvSpPr/>
          <p:nvPr/>
        </p:nvSpPr>
        <p:spPr>
          <a:xfrm>
            <a:off x="0" y="731520"/>
            <a:ext cx="2468880" cy="2468880"/>
          </a:xfrm>
          <a:prstGeom prst="line">
            <a:avLst/>
          </a:prstGeom>
          <a:noFill/>
          <a:ln w="5080">
            <a:solidFill>
              <a:srgbClr val="C9A961"/>
            </a:solidFill>
            <a:prstDash val="solid"/>
          </a:ln>
        </p:spPr>
      </p:sp>
      <p:sp>
        <p:nvSpPr>
          <p:cNvPr id="4" name="Shape 2"/>
          <p:cNvSpPr/>
          <p:nvPr/>
        </p:nvSpPr>
        <p:spPr>
          <a:xfrm>
            <a:off x="0" y="1005840"/>
            <a:ext cx="2194560" cy="2194560"/>
          </a:xfrm>
          <a:prstGeom prst="line">
            <a:avLst/>
          </a:prstGeom>
          <a:noFill/>
          <a:ln w="5080">
            <a:solidFill>
              <a:srgbClr val="C9A961"/>
            </a:solidFill>
            <a:prstDash val="solid"/>
          </a:ln>
        </p:spPr>
      </p:sp>
      <p:sp>
        <p:nvSpPr>
          <p:cNvPr id="5" name="Shape 3"/>
          <p:cNvSpPr/>
          <p:nvPr/>
        </p:nvSpPr>
        <p:spPr>
          <a:xfrm>
            <a:off x="0" y="1280160"/>
            <a:ext cx="1920240" cy="1920240"/>
          </a:xfrm>
          <a:prstGeom prst="line">
            <a:avLst/>
          </a:prstGeom>
          <a:noFill/>
          <a:ln w="5080">
            <a:solidFill>
              <a:srgbClr val="C9A961"/>
            </a:solidFill>
            <a:prstDash val="solid"/>
          </a:ln>
        </p:spPr>
      </p:sp>
      <p:sp>
        <p:nvSpPr>
          <p:cNvPr id="6" name="Shape 4"/>
          <p:cNvSpPr/>
          <p:nvPr/>
        </p:nvSpPr>
        <p:spPr>
          <a:xfrm>
            <a:off x="0" y="1554480"/>
            <a:ext cx="1645920" cy="1645920"/>
          </a:xfrm>
          <a:prstGeom prst="line">
            <a:avLst/>
          </a:prstGeom>
          <a:noFill/>
          <a:ln w="5080">
            <a:solidFill>
              <a:srgbClr val="C9A961"/>
            </a:solidFill>
            <a:prstDash val="solid"/>
          </a:ln>
        </p:spPr>
      </p:sp>
      <p:sp>
        <p:nvSpPr>
          <p:cNvPr id="7" name="Shape 5"/>
          <p:cNvSpPr/>
          <p:nvPr/>
        </p:nvSpPr>
        <p:spPr>
          <a:xfrm>
            <a:off x="0" y="1828800"/>
            <a:ext cx="1371600" cy="1371600"/>
          </a:xfrm>
          <a:prstGeom prst="line">
            <a:avLst/>
          </a:prstGeom>
          <a:noFill/>
          <a:ln w="5080">
            <a:solidFill>
              <a:srgbClr val="C9A961"/>
            </a:solidFill>
            <a:prstDash val="solid"/>
          </a:ln>
        </p:spPr>
      </p:sp>
      <p:sp>
        <p:nvSpPr>
          <p:cNvPr id="8" name="Shape 6"/>
          <p:cNvSpPr/>
          <p:nvPr/>
        </p:nvSpPr>
        <p:spPr>
          <a:xfrm>
            <a:off x="0" y="2103120"/>
            <a:ext cx="1097280" cy="1097280"/>
          </a:xfrm>
          <a:prstGeom prst="line">
            <a:avLst/>
          </a:prstGeom>
          <a:noFill/>
          <a:ln w="5080">
            <a:solidFill>
              <a:srgbClr val="C9A961"/>
            </a:solidFill>
            <a:prstDash val="solid"/>
          </a:ln>
        </p:spPr>
      </p:sp>
      <p:sp>
        <p:nvSpPr>
          <p:cNvPr id="9" name="Shape 7"/>
          <p:cNvSpPr/>
          <p:nvPr/>
        </p:nvSpPr>
        <p:spPr>
          <a:xfrm>
            <a:off x="0" y="2377440"/>
            <a:ext cx="822960" cy="822960"/>
          </a:xfrm>
          <a:prstGeom prst="line">
            <a:avLst/>
          </a:prstGeom>
          <a:noFill/>
          <a:ln w="5080">
            <a:solidFill>
              <a:srgbClr val="C9A961"/>
            </a:solidFill>
            <a:prstDash val="solid"/>
          </a:ln>
        </p:spPr>
      </p:sp>
      <p:sp>
        <p:nvSpPr>
          <p:cNvPr id="10" name="Shape 8"/>
          <p:cNvSpPr/>
          <p:nvPr/>
        </p:nvSpPr>
        <p:spPr>
          <a:xfrm>
            <a:off x="9418320" y="5486400"/>
            <a:ext cx="2743200" cy="2743200"/>
          </a:xfrm>
          <a:prstGeom prst="line">
            <a:avLst/>
          </a:prstGeom>
          <a:noFill/>
          <a:ln w="5080">
            <a:solidFill>
              <a:srgbClr val="C9A961"/>
            </a:solidFill>
            <a:prstDash val="solid"/>
          </a:ln>
        </p:spPr>
      </p:sp>
      <p:sp>
        <p:nvSpPr>
          <p:cNvPr id="11" name="Shape 9"/>
          <p:cNvSpPr/>
          <p:nvPr/>
        </p:nvSpPr>
        <p:spPr>
          <a:xfrm>
            <a:off x="9692640" y="5486400"/>
            <a:ext cx="2468880" cy="2468880"/>
          </a:xfrm>
          <a:prstGeom prst="line">
            <a:avLst/>
          </a:prstGeom>
          <a:noFill/>
          <a:ln w="5080">
            <a:solidFill>
              <a:srgbClr val="C9A961"/>
            </a:solidFill>
            <a:prstDash val="solid"/>
          </a:ln>
        </p:spPr>
      </p:sp>
      <p:sp>
        <p:nvSpPr>
          <p:cNvPr id="12" name="Shape 10"/>
          <p:cNvSpPr/>
          <p:nvPr/>
        </p:nvSpPr>
        <p:spPr>
          <a:xfrm>
            <a:off x="9966960" y="5486400"/>
            <a:ext cx="2194560" cy="2194560"/>
          </a:xfrm>
          <a:prstGeom prst="line">
            <a:avLst/>
          </a:prstGeom>
          <a:noFill/>
          <a:ln w="5080">
            <a:solidFill>
              <a:srgbClr val="C9A961"/>
            </a:solidFill>
            <a:prstDash val="solid"/>
          </a:ln>
        </p:spPr>
      </p:sp>
      <p:sp>
        <p:nvSpPr>
          <p:cNvPr id="13" name="Shape 11"/>
          <p:cNvSpPr/>
          <p:nvPr/>
        </p:nvSpPr>
        <p:spPr>
          <a:xfrm>
            <a:off x="10241280" y="5486400"/>
            <a:ext cx="1920240" cy="1920240"/>
          </a:xfrm>
          <a:prstGeom prst="line">
            <a:avLst/>
          </a:prstGeom>
          <a:noFill/>
          <a:ln w="5080">
            <a:solidFill>
              <a:srgbClr val="C9A961"/>
            </a:solidFill>
            <a:prstDash val="solid"/>
          </a:ln>
        </p:spPr>
      </p:sp>
      <p:sp>
        <p:nvSpPr>
          <p:cNvPr id="14" name="Shape 12"/>
          <p:cNvSpPr/>
          <p:nvPr/>
        </p:nvSpPr>
        <p:spPr>
          <a:xfrm>
            <a:off x="10515600" y="5486400"/>
            <a:ext cx="1645920" cy="1645920"/>
          </a:xfrm>
          <a:prstGeom prst="line">
            <a:avLst/>
          </a:prstGeom>
          <a:noFill/>
          <a:ln w="5080">
            <a:solidFill>
              <a:srgbClr val="C9A961"/>
            </a:solidFill>
            <a:prstDash val="solid"/>
          </a:ln>
        </p:spPr>
      </p:sp>
      <p:sp>
        <p:nvSpPr>
          <p:cNvPr id="15" name="Shape 13"/>
          <p:cNvSpPr/>
          <p:nvPr/>
        </p:nvSpPr>
        <p:spPr>
          <a:xfrm>
            <a:off x="10789920" y="5486400"/>
            <a:ext cx="1371600" cy="1371600"/>
          </a:xfrm>
          <a:prstGeom prst="line">
            <a:avLst/>
          </a:prstGeom>
          <a:noFill/>
          <a:ln w="5080">
            <a:solidFill>
              <a:srgbClr val="C9A961"/>
            </a:solidFill>
            <a:prstDash val="solid"/>
          </a:ln>
        </p:spPr>
      </p:sp>
      <p:sp>
        <p:nvSpPr>
          <p:cNvPr id="16" name="Shape 14"/>
          <p:cNvSpPr/>
          <p:nvPr/>
        </p:nvSpPr>
        <p:spPr>
          <a:xfrm>
            <a:off x="11064240" y="5486400"/>
            <a:ext cx="1097280" cy="1097280"/>
          </a:xfrm>
          <a:prstGeom prst="line">
            <a:avLst/>
          </a:prstGeom>
          <a:noFill/>
          <a:ln w="5080">
            <a:solidFill>
              <a:srgbClr val="C9A961"/>
            </a:solidFill>
            <a:prstDash val="solid"/>
          </a:ln>
        </p:spPr>
      </p:sp>
      <p:sp>
        <p:nvSpPr>
          <p:cNvPr id="17" name="Shape 15"/>
          <p:cNvSpPr/>
          <p:nvPr/>
        </p:nvSpPr>
        <p:spPr>
          <a:xfrm>
            <a:off x="11338560" y="5486400"/>
            <a:ext cx="822960" cy="822960"/>
          </a:xfrm>
          <a:prstGeom prst="line">
            <a:avLst/>
          </a:prstGeom>
          <a:noFill/>
          <a:ln w="5080">
            <a:solidFill>
              <a:srgbClr val="C9A961"/>
            </a:solidFill>
            <a:prstDash val="solid"/>
          </a:ln>
        </p:spPr>
      </p:sp>
      <p:sp>
        <p:nvSpPr>
          <p:cNvPr id="18" name="Shape 16"/>
          <p:cNvSpPr/>
          <p:nvPr/>
        </p:nvSpPr>
        <p:spPr>
          <a:xfrm>
            <a:off x="0" y="365760"/>
            <a:ext cx="12161520" cy="36576"/>
          </a:xfrm>
          <a:prstGeom prst="rect">
            <a:avLst/>
          </a:prstGeom>
          <a:solidFill>
            <a:srgbClr val="C9A961"/>
          </a:solidFill>
          <a:ln w="12700">
            <a:solidFill>
              <a:srgbClr val="C9A961"/>
            </a:solidFill>
            <a:prstDash val="solid"/>
          </a:ln>
        </p:spPr>
      </p:sp>
      <p:sp>
        <p:nvSpPr>
          <p:cNvPr id="19" name="Text 17"/>
          <p:cNvSpPr/>
          <p:nvPr/>
        </p:nvSpPr>
        <p:spPr>
          <a:xfrm>
            <a:off x="0" y="1188720"/>
            <a:ext cx="12161520" cy="274320"/>
          </a:xfrm>
          <a:prstGeom prst="rect">
            <a:avLst/>
          </a:prstGeom>
          <a:noFill/>
          <a:ln/>
        </p:spPr>
        <p:txBody>
          <a:bodyPr wrap="square" lIns="0" tIns="0" rIns="0" bIns="0" rtlCol="0" anchor="ctr"/>
          <a:lstStyle/>
          <a:p>
            <a:pPr marL="0" indent="0" algn="ctr">
              <a:buNone/>
            </a:pPr>
            <a:r>
              <a:rPr lang="en-US" sz="2000" b="1" dirty="0">
                <a:solidFill>
                  <a:srgbClr val="C9A961"/>
                </a:solidFill>
                <a:latin typeface="Calibri" pitchFamily="34" charset="0"/>
                <a:ea typeface="Calibri" pitchFamily="34" charset="-122"/>
                <a:cs typeface="Calibri" pitchFamily="34" charset="-120"/>
              </a:rPr>
              <a:t>08  ·  CONTACT</a:t>
            </a:r>
            <a:endParaRPr lang="en-US" sz="2000" dirty="0"/>
          </a:p>
        </p:txBody>
      </p:sp>
      <p:sp>
        <p:nvSpPr>
          <p:cNvPr id="20" name="Text 18"/>
          <p:cNvSpPr/>
          <p:nvPr/>
        </p:nvSpPr>
        <p:spPr>
          <a:xfrm>
            <a:off x="0" y="1691640"/>
            <a:ext cx="12161520" cy="109728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Let's Work</a:t>
            </a:r>
            <a:endParaRPr lang="en-US" sz="5600" dirty="0"/>
          </a:p>
        </p:txBody>
      </p:sp>
      <p:sp>
        <p:nvSpPr>
          <p:cNvPr id="21" name="Text 19"/>
          <p:cNvSpPr/>
          <p:nvPr/>
        </p:nvSpPr>
        <p:spPr>
          <a:xfrm>
            <a:off x="0" y="2606040"/>
            <a:ext cx="12161520" cy="1097280"/>
          </a:xfrm>
          <a:prstGeom prst="rect">
            <a:avLst/>
          </a:prstGeom>
          <a:noFill/>
          <a:ln/>
        </p:spPr>
        <p:txBody>
          <a:bodyPr wrap="square" lIns="0" tIns="0" rIns="0" bIns="0" rtlCol="0" anchor="ctr"/>
          <a:lstStyle/>
          <a:p>
            <a:pPr marL="0" indent="0" algn="ctr">
              <a:buNone/>
            </a:pPr>
            <a:r>
              <a:rPr lang="en-US" sz="5600" b="1" dirty="0">
                <a:solidFill>
                  <a:srgbClr val="C9A961"/>
                </a:solidFill>
                <a:latin typeface="Calibri" pitchFamily="34" charset="0"/>
                <a:ea typeface="Calibri" pitchFamily="34" charset="-122"/>
                <a:cs typeface="Calibri" pitchFamily="34" charset="-120"/>
              </a:rPr>
              <a:t>Together.</a:t>
            </a:r>
            <a:endParaRPr lang="en-US" sz="5600" dirty="0"/>
          </a:p>
        </p:txBody>
      </p:sp>
      <p:sp>
        <p:nvSpPr>
          <p:cNvPr id="22" name="Text 20"/>
          <p:cNvSpPr/>
          <p:nvPr/>
        </p:nvSpPr>
        <p:spPr>
          <a:xfrm>
            <a:off x="0" y="3749040"/>
            <a:ext cx="12161520" cy="365760"/>
          </a:xfrm>
          <a:prstGeom prst="rect">
            <a:avLst/>
          </a:prstGeom>
          <a:noFill/>
          <a:ln/>
        </p:spPr>
        <p:txBody>
          <a:bodyPr wrap="square" lIns="0" tIns="0" rIns="0" bIns="0"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I'm open to engineering, AI/ML, </a:t>
            </a:r>
            <a:r>
              <a:rPr lang="en-US" sz="2000" i="1" dirty="0">
                <a:solidFill>
                  <a:srgbClr val="FFFFFF"/>
                </a:solidFill>
                <a:latin typeface="Calibri" pitchFamily="34" charset="0"/>
                <a:ea typeface="Calibri" pitchFamily="34" charset="-122"/>
                <a:cs typeface="Calibri" pitchFamily="34" charset="-120"/>
              </a:rPr>
              <a:t>and</a:t>
            </a:r>
            <a:r>
              <a:rPr lang="en-US" sz="1400" i="1" dirty="0">
                <a:solidFill>
                  <a:srgbClr val="FFFFFF"/>
                </a:solidFill>
                <a:latin typeface="Calibri" pitchFamily="34" charset="0"/>
                <a:ea typeface="Calibri" pitchFamily="34" charset="-122"/>
                <a:cs typeface="Calibri" pitchFamily="34" charset="-120"/>
              </a:rPr>
              <a:t> data roles, and ready to contribute.</a:t>
            </a:r>
            <a:endParaRPr lang="en-US" sz="1400" dirty="0"/>
          </a:p>
        </p:txBody>
      </p:sp>
      <p:sp>
        <p:nvSpPr>
          <p:cNvPr id="23" name="Shape 21"/>
          <p:cNvSpPr/>
          <p:nvPr/>
        </p:nvSpPr>
        <p:spPr>
          <a:xfrm>
            <a:off x="4983480" y="4160520"/>
            <a:ext cx="2194560" cy="22860"/>
          </a:xfrm>
          <a:prstGeom prst="rect">
            <a:avLst/>
          </a:prstGeom>
          <a:solidFill>
            <a:srgbClr val="C9A961"/>
          </a:solidFill>
          <a:ln w="12700">
            <a:solidFill>
              <a:srgbClr val="C9A961"/>
            </a:solidFill>
            <a:prstDash val="solid"/>
          </a:ln>
        </p:spPr>
      </p:sp>
      <p:sp>
        <p:nvSpPr>
          <p:cNvPr id="24" name="Text 22"/>
          <p:cNvSpPr/>
          <p:nvPr/>
        </p:nvSpPr>
        <p:spPr>
          <a:xfrm>
            <a:off x="0" y="4434840"/>
            <a:ext cx="12161520" cy="201168"/>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EMAIL</a:t>
            </a:r>
            <a:endParaRPr lang="en-US" sz="1400" dirty="0"/>
          </a:p>
        </p:txBody>
      </p:sp>
      <p:sp>
        <p:nvSpPr>
          <p:cNvPr id="25" name="Text 23"/>
          <p:cNvSpPr/>
          <p:nvPr/>
        </p:nvSpPr>
        <p:spPr>
          <a:xfrm>
            <a:off x="0" y="4617720"/>
            <a:ext cx="12161520" cy="2286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fathonimuhammad2411@gmail.com</a:t>
            </a:r>
            <a:endParaRPr lang="en-US" sz="1200" dirty="0"/>
          </a:p>
        </p:txBody>
      </p:sp>
      <p:sp>
        <p:nvSpPr>
          <p:cNvPr id="26" name="Text 24"/>
          <p:cNvSpPr/>
          <p:nvPr/>
        </p:nvSpPr>
        <p:spPr>
          <a:xfrm>
            <a:off x="0" y="4892040"/>
            <a:ext cx="12161520" cy="201168"/>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PHONE</a:t>
            </a:r>
            <a:endParaRPr lang="en-US" sz="1400" dirty="0"/>
          </a:p>
        </p:txBody>
      </p:sp>
      <p:sp>
        <p:nvSpPr>
          <p:cNvPr id="27" name="Text 25"/>
          <p:cNvSpPr/>
          <p:nvPr/>
        </p:nvSpPr>
        <p:spPr>
          <a:xfrm>
            <a:off x="0" y="5074920"/>
            <a:ext cx="12161520" cy="2286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+62 822-5850-3481</a:t>
            </a:r>
            <a:endParaRPr lang="en-US" sz="1200" dirty="0"/>
          </a:p>
        </p:txBody>
      </p:sp>
      <p:sp>
        <p:nvSpPr>
          <p:cNvPr id="28" name="Text 26"/>
          <p:cNvSpPr/>
          <p:nvPr/>
        </p:nvSpPr>
        <p:spPr>
          <a:xfrm>
            <a:off x="0" y="5349240"/>
            <a:ext cx="12161520" cy="201168"/>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LINKEDIN</a:t>
            </a:r>
            <a:endParaRPr lang="en-US" sz="1400" dirty="0"/>
          </a:p>
        </p:txBody>
      </p:sp>
      <p:sp>
        <p:nvSpPr>
          <p:cNvPr id="29" name="Text 27"/>
          <p:cNvSpPr/>
          <p:nvPr/>
        </p:nvSpPr>
        <p:spPr>
          <a:xfrm>
            <a:off x="0" y="5532120"/>
            <a:ext cx="12161520" cy="2286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linkedin.com/in/muhammad-fathoni-038274266</a:t>
            </a:r>
            <a:endParaRPr lang="en-US" sz="1200" dirty="0"/>
          </a:p>
        </p:txBody>
      </p:sp>
      <p:sp>
        <p:nvSpPr>
          <p:cNvPr id="30" name="Text 28"/>
          <p:cNvSpPr/>
          <p:nvPr/>
        </p:nvSpPr>
        <p:spPr>
          <a:xfrm>
            <a:off x="0" y="5806440"/>
            <a:ext cx="12161520" cy="201168"/>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LOCATION</a:t>
            </a:r>
            <a:endParaRPr lang="en-US" sz="1400" dirty="0"/>
          </a:p>
        </p:txBody>
      </p:sp>
      <p:sp>
        <p:nvSpPr>
          <p:cNvPr id="31" name="Text 29"/>
          <p:cNvSpPr/>
          <p:nvPr/>
        </p:nvSpPr>
        <p:spPr>
          <a:xfrm>
            <a:off x="0" y="5989320"/>
            <a:ext cx="12161520" cy="2286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Ngemplak, Sleman, Yogyakarta, Indonesia</a:t>
            </a:r>
            <a:endParaRPr lang="en-US" sz="1200" dirty="0"/>
          </a:p>
        </p:txBody>
      </p:sp>
      <p:sp>
        <p:nvSpPr>
          <p:cNvPr id="32" name="Text 30"/>
          <p:cNvSpPr/>
          <p:nvPr/>
        </p:nvSpPr>
        <p:spPr>
          <a:xfrm>
            <a:off x="0" y="6400800"/>
            <a:ext cx="12161520" cy="274320"/>
          </a:xfrm>
          <a:prstGeom prst="rect">
            <a:avLst/>
          </a:prstGeom>
          <a:noFill/>
          <a:ln/>
        </p:spPr>
        <p:txBody>
          <a:bodyPr wrap="square" lIns="0" tIns="0" rIns="0" bIns="0" rtlCol="0" anchor="ctr"/>
          <a:lstStyle/>
          <a:p>
            <a:pPr marL="0" indent="0" algn="ctr">
              <a:buNone/>
            </a:pPr>
            <a:r>
              <a:rPr lang="en-US" sz="1400" b="1" dirty="0">
                <a:solidFill>
                  <a:srgbClr val="C9A961"/>
                </a:solidFill>
                <a:latin typeface="Calibri" pitchFamily="34" charset="0"/>
                <a:ea typeface="Calibri" pitchFamily="34" charset="-122"/>
                <a:cs typeface="Calibri" pitchFamily="34" charset="-120"/>
              </a:rPr>
              <a:t>THANK YOU FOR YOUR CONSIDERATION</a:t>
            </a:r>
            <a:endParaRPr lang="en-US" sz="1400" dirty="0"/>
          </a:p>
        </p:txBody>
      </p:sp>
      <p:sp>
        <p:nvSpPr>
          <p:cNvPr id="33" name="Shape 31"/>
          <p:cNvSpPr/>
          <p:nvPr/>
        </p:nvSpPr>
        <p:spPr>
          <a:xfrm>
            <a:off x="5623560" y="6647688"/>
            <a:ext cx="914400" cy="22860"/>
          </a:xfrm>
          <a:prstGeom prst="rect">
            <a:avLst/>
          </a:prstGeom>
          <a:solidFill>
            <a:srgbClr val="C9A961"/>
          </a:solidFill>
          <a:ln w="12700">
            <a:solidFill>
              <a:srgbClr val="C9A961"/>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3154</Words>
  <Application>Microsoft Office PowerPoint</Application>
  <PresentationFormat>Widescreen</PresentationFormat>
  <Paragraphs>498</Paragraphs>
  <Slides>20</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Portfolio - Muhammad Fathoni</dc:title>
  <dc:subject>PptxGenJS Presentation</dc:subject>
  <dc:creator>Muhammad Fathoni</dc:creator>
  <cp:lastModifiedBy>Muhammad Fathoni</cp:lastModifiedBy>
  <cp:revision>6</cp:revision>
  <dcterms:created xsi:type="dcterms:W3CDTF">2026-05-04T06:22:32Z</dcterms:created>
  <dcterms:modified xsi:type="dcterms:W3CDTF">2026-07-11T04:44:53Z</dcterms:modified>
</cp:coreProperties>
</file>