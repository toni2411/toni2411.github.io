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media/image23.jpg" ContentType="image/jpg"/>
  <Override PartName="/ppt/media/image25.jpg" ContentType="image/jpg"/>
  <Override PartName="/ppt/media/image27.jpg" ContentType="image/jpg"/>
  <Override PartName="/ppt/media/image29.jpg" ContentType="image/jpg"/>
  <Override PartName="/ppt/media/image3.jpg" ContentType="image/jpg"/>
  <Override PartName="/ppt/media/image32.jpg" ContentType="image/jpg"/>
  <Override PartName="/ppt/media/image6.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76" r:id="rId27"/>
    <p:sldId id="277" r:id="rId28"/>
    <p:sldId id="261" r:id="rId7"/>
    <p:sldId id="262" r:id="rId8"/>
    <p:sldId id="278" r:id="rId29"/>
    <p:sldId id="279" r:id="rId30"/>
    <p:sldId id="280" r:id="rId31"/>
    <p:sldId id="281" r:id="rId32"/>
    <p:sldId id="282" r:id="rId33"/>
    <p:sldId id="273" r:id="rId9"/>
    <p:sldId id="274" r:id="rId10"/>
    <p:sldId id="275" r:id="rId11"/>
    <p:sldId id="263" r:id="rId12"/>
    <p:sldId id="264" r:id="rId13"/>
    <p:sldId id="265" r:id="rId14"/>
    <p:sldId id="266" r:id="rId15"/>
    <p:sldId id="267" r:id="rId16"/>
    <p:sldId id="283" r:id="rId34"/>
    <p:sldId id="268" r:id="rId17"/>
    <p:sldId id="269" r:id="rId18"/>
    <p:sldId id="270" r:id="rId19"/>
    <p:sldId id="271" r:id="rId20"/>
    <p:sldId id="272"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8225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jpg"/><Relationship Id="rId6"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 Id="rId4" Type="http://schemas.openxmlformats.org/officeDocument/2006/relationships/image" Target="../media/image2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2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33.png"/><Relationship Id="rId5" Type="http://schemas.openxmlformats.org/officeDocument/2006/relationships/image" Target="../media/image3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6.jpg"/><Relationship Id="rId5" Type="http://schemas.openxmlformats.org/officeDocument/2006/relationships/image" Target="../media/image5.png"/><Relationship Id="rId6" Type="http://schemas.openxmlformats.org/officeDocument/2006/relationships/image" Target="../media/image35.jpg"/><Relationship Id="rId7" Type="http://schemas.openxmlformats.org/officeDocument/2006/relationships/image" Target="../media/image36.jpg"/><Relationship Id="rId8" Type="http://schemas.openxmlformats.org/officeDocument/2006/relationships/image" Target="../media/image37.jpg"/><Relationship Id="rId9" Type="http://schemas.openxmlformats.org/officeDocument/2006/relationships/image" Target="../media/image3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39.png"/><Relationship Id="rId5" Type="http://schemas.openxmlformats.org/officeDocument/2006/relationships/image" Target="../media/image40.jpg"/><Relationship Id="rId6" Type="http://schemas.openxmlformats.org/officeDocument/2006/relationships/image" Target="../media/image4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2.png"/><Relationship Id="rId5" Type="http://schemas.openxmlformats.org/officeDocument/2006/relationships/image" Target="../media/image43.jpg"/><Relationship Id="rId6" Type="http://schemas.openxmlformats.org/officeDocument/2006/relationships/image" Target="../media/image4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5.png"/><Relationship Id="rId5" Type="http://schemas.openxmlformats.org/officeDocument/2006/relationships/image" Target="../media/image4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image" Target="../media/image49.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50.png"/><Relationship Id="rId5" Type="http://schemas.openxmlformats.org/officeDocument/2006/relationships/image" Target="../media/image51.jpg"/><Relationship Id="rId6" Type="http://schemas.openxmlformats.org/officeDocument/2006/relationships/image" Target="../media/image5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5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9418320" y="0"/>
            <a:ext cx="2743200" cy="2743200"/>
          </a:xfrm>
          <a:prstGeom prst="line">
            <a:avLst/>
          </a:prstGeom>
          <a:noFill/>
          <a:ln w="6350">
            <a:solidFill>
              <a:srgbClr val="C9A961"/>
            </a:solidFill>
            <a:prstDash val="solid"/>
          </a:ln>
        </p:spPr>
        <p:txBody>
          <a:bodyPr/>
          <a:p/>
        </p:txBody>
      </p:sp>
      <p:sp>
        <p:nvSpPr>
          <p:cNvPr id="3" name="Shape 1"/>
          <p:cNvSpPr/>
          <p:nvPr/>
        </p:nvSpPr>
        <p:spPr>
          <a:xfrm>
            <a:off x="9784080" y="0"/>
            <a:ext cx="2468880" cy="2468880"/>
          </a:xfrm>
          <a:prstGeom prst="line">
            <a:avLst/>
          </a:prstGeom>
          <a:noFill/>
          <a:ln w="6350">
            <a:solidFill>
              <a:srgbClr val="C9A961"/>
            </a:solidFill>
            <a:prstDash val="solid"/>
          </a:ln>
        </p:spPr>
        <p:txBody>
          <a:bodyPr/>
          <a:p/>
        </p:txBody>
      </p:sp>
      <p:sp>
        <p:nvSpPr>
          <p:cNvPr id="4" name="Shape 2"/>
          <p:cNvSpPr/>
          <p:nvPr/>
        </p:nvSpPr>
        <p:spPr>
          <a:xfrm>
            <a:off x="10149840" y="0"/>
            <a:ext cx="2194560" cy="2194560"/>
          </a:xfrm>
          <a:prstGeom prst="line">
            <a:avLst/>
          </a:prstGeom>
          <a:noFill/>
          <a:ln w="6350">
            <a:solidFill>
              <a:srgbClr val="C9A961"/>
            </a:solidFill>
            <a:prstDash val="solid"/>
          </a:ln>
        </p:spPr>
        <p:txBody>
          <a:bodyPr/>
          <a:p/>
        </p:txBody>
      </p:sp>
      <p:sp>
        <p:nvSpPr>
          <p:cNvPr id="5" name="Shape 3"/>
          <p:cNvSpPr/>
          <p:nvPr/>
        </p:nvSpPr>
        <p:spPr>
          <a:xfrm>
            <a:off x="10515600" y="0"/>
            <a:ext cx="1920240" cy="1920240"/>
          </a:xfrm>
          <a:prstGeom prst="line">
            <a:avLst/>
          </a:prstGeom>
          <a:noFill/>
          <a:ln w="6350">
            <a:solidFill>
              <a:srgbClr val="C9A961"/>
            </a:solidFill>
            <a:prstDash val="solid"/>
          </a:ln>
        </p:spPr>
        <p:txBody>
          <a:bodyPr/>
          <a:p/>
        </p:txBody>
      </p:sp>
      <p:sp>
        <p:nvSpPr>
          <p:cNvPr id="6" name="Shape 4"/>
          <p:cNvSpPr/>
          <p:nvPr/>
        </p:nvSpPr>
        <p:spPr>
          <a:xfrm>
            <a:off x="10881360" y="0"/>
            <a:ext cx="1645920" cy="1645920"/>
          </a:xfrm>
          <a:prstGeom prst="line">
            <a:avLst/>
          </a:prstGeom>
          <a:noFill/>
          <a:ln w="6350">
            <a:solidFill>
              <a:srgbClr val="C9A961"/>
            </a:solidFill>
            <a:prstDash val="solid"/>
          </a:ln>
        </p:spPr>
        <p:txBody>
          <a:bodyPr/>
          <a:p/>
        </p:txBody>
      </p:sp>
      <p:sp>
        <p:nvSpPr>
          <p:cNvPr id="7" name="Shape 5"/>
          <p:cNvSpPr/>
          <p:nvPr/>
        </p:nvSpPr>
        <p:spPr>
          <a:xfrm>
            <a:off x="11247120" y="0"/>
            <a:ext cx="1371600" cy="1371600"/>
          </a:xfrm>
          <a:prstGeom prst="line">
            <a:avLst/>
          </a:prstGeom>
          <a:noFill/>
          <a:ln w="6350">
            <a:solidFill>
              <a:srgbClr val="C9A961"/>
            </a:solidFill>
            <a:prstDash val="solid"/>
          </a:ln>
        </p:spPr>
        <p:txBody>
          <a:bodyPr/>
          <a:p/>
        </p:txBody>
      </p:sp>
      <p:sp>
        <p:nvSpPr>
          <p:cNvPr id="8" name="Shape 6"/>
          <p:cNvSpPr/>
          <p:nvPr/>
        </p:nvSpPr>
        <p:spPr>
          <a:xfrm>
            <a:off x="11612880" y="0"/>
            <a:ext cx="1097280" cy="1097280"/>
          </a:xfrm>
          <a:prstGeom prst="line">
            <a:avLst/>
          </a:prstGeom>
          <a:noFill/>
          <a:ln w="6350">
            <a:solidFill>
              <a:srgbClr val="C9A961"/>
            </a:solidFill>
            <a:prstDash val="solid"/>
          </a:ln>
        </p:spPr>
        <p:txBody>
          <a:bodyPr/>
          <a:p/>
        </p:txBody>
      </p:sp>
      <p:sp>
        <p:nvSpPr>
          <p:cNvPr id="9" name="Shape 7"/>
          <p:cNvSpPr/>
          <p:nvPr/>
        </p:nvSpPr>
        <p:spPr>
          <a:xfrm>
            <a:off x="11978640" y="0"/>
            <a:ext cx="822960" cy="822960"/>
          </a:xfrm>
          <a:prstGeom prst="line">
            <a:avLst/>
          </a:prstGeom>
          <a:noFill/>
          <a:ln w="6350">
            <a:solidFill>
              <a:srgbClr val="C9A961"/>
            </a:solidFill>
            <a:prstDash val="solid"/>
          </a:ln>
        </p:spPr>
        <p:txBody>
          <a:bodyPr/>
          <a:p/>
        </p:txBody>
      </p:sp>
      <p:sp>
        <p:nvSpPr>
          <p:cNvPr id="10" name="Shape 8"/>
          <p:cNvSpPr/>
          <p:nvPr/>
        </p:nvSpPr>
        <p:spPr>
          <a:xfrm>
            <a:off x="640080" y="1371600"/>
            <a:ext cx="164592" cy="4114800"/>
          </a:xfrm>
          <a:prstGeom prst="rect">
            <a:avLst/>
          </a:prstGeom>
          <a:solidFill>
            <a:srgbClr val="C9A961"/>
          </a:solidFill>
          <a:ln w="12700">
            <a:solidFill>
              <a:srgbClr val="C9A961"/>
            </a:solidFill>
            <a:prstDash val="solid"/>
          </a:ln>
        </p:spPr>
        <p:txBody>
          <a:bodyPr/>
          <a:p/>
        </p:txBody>
      </p:sp>
      <p:sp>
        <p:nvSpPr>
          <p:cNvPr id="11" name="Shape 9"/>
          <p:cNvSpPr/>
          <p:nvPr/>
        </p:nvSpPr>
        <p:spPr>
          <a:xfrm>
            <a:off x="1097280" y="2194560"/>
            <a:ext cx="1371600" cy="18288"/>
          </a:xfrm>
          <a:prstGeom prst="rect">
            <a:avLst/>
          </a:prstGeom>
          <a:solidFill>
            <a:srgbClr val="C9A961"/>
          </a:solidFill>
          <a:ln w="12700">
            <a:solidFill>
              <a:srgbClr val="C9A961"/>
            </a:solidFill>
            <a:prstDash val="solid"/>
          </a:ln>
        </p:spPr>
        <p:txBody>
          <a:bodyPr/>
          <a:p/>
        </p:txBody>
      </p:sp>
      <p:sp>
        <p:nvSpPr>
          <p:cNvPr id="12" name="Text 10"/>
          <p:cNvSpPr/>
          <p:nvPr/>
        </p:nvSpPr>
        <p:spPr>
          <a:xfrm>
            <a:off x="1097280" y="2286000"/>
            <a:ext cx="5486400" cy="274320"/>
          </a:xfrm>
          <a:prstGeom prst="rect">
            <a:avLst/>
          </a:prstGeom>
          <a:noFill/>
          <a:ln/>
        </p:spPr>
        <p:txBody>
          <a:bodyPr wrap="square" lIns="0" tIns="0" rIns="0" bIns="0" rtlCol="0" anchor="ctr"/>
          <a:lstStyle/>
          <a:p>
            <a:pPr marL="0" indent="0">
              <a:buNone/>
            </a:pPr>
            <a:r>
              <a:rPr lang="en-US" sz="1600" b="1" dirty="0">
                <a:solidFill>
                  <a:srgbClr val="C9A961"/>
                </a:solidFill>
                <a:latin typeface="Calibri" pitchFamily="34" charset="0"/>
                <a:ea typeface="Calibri" pitchFamily="34" charset="-122"/>
                <a:cs typeface="Calibri" pitchFamily="34" charset="-120"/>
              </a:rPr>
              <a:t>PROFESSIONAL PORTFOLIO  ·  2026</a:t>
            </a:r>
            <a:endParaRPr lang="en-US" sz="1600" dirty="0"/>
          </a:p>
        </p:txBody>
      </p:sp>
      <p:pic>
        <p:nvPicPr>
          <p:cNvPr id="13" name="Image 0" descr="/home/claude/profile_circle.png"/>
          <p:cNvPicPr>
            <a:picLocks noChangeAspect="1"/>
          </p:cNvPicPr>
          <p:nvPr/>
        </p:nvPicPr>
        <p:blipFill>
          <a:blip r:embed="rId3"/>
          <a:stretch>
            <a:fillRect/>
          </a:stretch>
        </p:blipFill>
        <p:spPr>
          <a:xfrm>
            <a:off x="8046720" y="2468880"/>
            <a:ext cx="2011680" cy="2011680"/>
          </a:xfrm>
          <a:prstGeom prst="rect">
            <a:avLst/>
          </a:prstGeom>
        </p:spPr>
      </p:pic>
      <p:sp>
        <p:nvSpPr>
          <p:cNvPr id="14" name="Shape 11"/>
          <p:cNvSpPr/>
          <p:nvPr/>
        </p:nvSpPr>
        <p:spPr>
          <a:xfrm>
            <a:off x="8046720" y="2468880"/>
            <a:ext cx="2011680" cy="2011680"/>
          </a:xfrm>
          <a:prstGeom prst="ellipse">
            <a:avLst/>
          </a:prstGeom>
          <a:solidFill>
            <a:srgbClr val="FFFFFF">
              <a:alpha val="0"/>
            </a:srgbClr>
          </a:solidFill>
          <a:ln w="31750">
            <a:solidFill>
              <a:srgbClr val="C9A961"/>
            </a:solidFill>
            <a:prstDash val="solid"/>
          </a:ln>
        </p:spPr>
        <p:txBody>
          <a:bodyPr/>
          <a:p/>
        </p:txBody>
      </p:sp>
      <p:sp>
        <p:nvSpPr>
          <p:cNvPr id="15" name="Text 12"/>
          <p:cNvSpPr/>
          <p:nvPr/>
        </p:nvSpPr>
        <p:spPr>
          <a:xfrm>
            <a:off x="1097280" y="2743200"/>
            <a:ext cx="5486400" cy="91440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MUHAMMAD</a:t>
            </a:r>
            <a:endParaRPr lang="en-US" sz="4800" dirty="0"/>
          </a:p>
        </p:txBody>
      </p:sp>
      <p:sp>
        <p:nvSpPr>
          <p:cNvPr id="16" name="Text 13"/>
          <p:cNvSpPr/>
          <p:nvPr/>
        </p:nvSpPr>
        <p:spPr>
          <a:xfrm>
            <a:off x="1097280" y="3520440"/>
            <a:ext cx="5486400" cy="914400"/>
          </a:xfrm>
          <a:prstGeom prst="rect">
            <a:avLst/>
          </a:prstGeom>
          <a:noFill/>
          <a:ln/>
        </p:spPr>
        <p:txBody>
          <a:bodyPr wrap="square" lIns="0" tIns="0" rIns="0" bIns="0" rtlCol="0" anchor="ctr"/>
          <a:lstStyle/>
          <a:p>
            <a:pPr marL="0" indent="0">
              <a:buNone/>
            </a:pPr>
            <a:r>
              <a:rPr lang="en-US" sz="4800" b="1" dirty="0">
                <a:solidFill>
                  <a:srgbClr val="C9A961"/>
                </a:solidFill>
                <a:latin typeface="Calibri" pitchFamily="34" charset="0"/>
                <a:ea typeface="Calibri" pitchFamily="34" charset="-122"/>
                <a:cs typeface="Calibri" pitchFamily="34" charset="-120"/>
              </a:rPr>
              <a:t>FATHONI</a:t>
            </a:r>
            <a:endParaRPr lang="en-US" sz="4800" dirty="0"/>
          </a:p>
        </p:txBody>
      </p:sp>
      <p:sp>
        <p:nvSpPr>
          <p:cNvPr id="17" name="Text 14"/>
          <p:cNvSpPr/>
          <p:nvPr/>
        </p:nvSpPr>
        <p:spPr>
          <a:xfrm>
            <a:off x="1097280" y="4434840"/>
            <a:ext cx="7315200" cy="320040"/>
          </a:xfrm>
          <a:prstGeom prst="rect">
            <a:avLst/>
          </a:prstGeom>
          <a:noFill/>
          <a:ln/>
        </p:spPr>
        <p:txBody>
          <a:bodyPr wrap="square" lIns="0" tIns="0" rIns="0" bIns="0" rtlCol="0" anchor="ctr"/>
          <a:lstStyle/>
          <a:p>
            <a:pPr marL="0" indent="0">
              <a:buNone/>
            </a:pPr>
            <a:r>
              <a:rPr lang="en-US" sz="2000" dirty="0">
                <a:solidFill>
                  <a:srgbClr val="FFFFFF"/>
                </a:solidFill>
                <a:latin typeface="Calibri" pitchFamily="34" charset="0"/>
                <a:ea typeface="Calibri" pitchFamily="34" charset="-122"/>
                <a:cs typeface="Calibri" pitchFamily="34" charset="-120"/>
              </a:rPr>
              <a:t>Electrical Engineer  ·  Master's Student</a:t>
            </a:r>
            <a:endParaRPr lang="en-US" sz="2000" dirty="0"/>
          </a:p>
        </p:txBody>
      </p:sp>
      <p:sp>
        <p:nvSpPr>
          <p:cNvPr id="18" name="Text 15"/>
          <p:cNvSpPr/>
          <p:nvPr/>
        </p:nvSpPr>
        <p:spPr>
          <a:xfrm>
            <a:off x="1097280" y="4736592"/>
            <a:ext cx="7315200" cy="274320"/>
          </a:xfrm>
          <a:prstGeom prst="rect">
            <a:avLst/>
          </a:prstGeom>
          <a:noFill/>
          <a:ln/>
        </p:spPr>
        <p:txBody>
          <a:bodyPr wrap="square" lIns="0" tIns="0" rIns="0" bIns="0" rtlCol="0" anchor="ctr"/>
          <a:lstStyle/>
          <a:p>
            <a:r>
              <a:rPr lang="en-US" sz="1600" i="1" dirty="0">
                <a:solidFill>
                  <a:srgbClr val="E8D7A8"/>
                </a:solidFill>
                <a:latin typeface="Calibri" pitchFamily="34" charset="0"/>
                <a:ea typeface="Calibri" pitchFamily="34" charset="-122"/>
                <a:cs typeface="Calibri" pitchFamily="34" charset="-120"/>
              </a:rPr>
              <a:t>AI &amp; IoT for Industry  ·  Predictive Maintenance  ·  Embedded Systems</a:t>
            </a:r>
            <a:endParaRPr lang="en-US" sz="1600" dirty="0"/>
          </a:p>
        </p:txBody>
      </p:sp>
      <p:sp>
        <p:nvSpPr>
          <p:cNvPr id="19" name="Text 16"/>
          <p:cNvSpPr/>
          <p:nvPr/>
        </p:nvSpPr>
        <p:spPr>
          <a:xfrm>
            <a:off x="1097280" y="5120640"/>
            <a:ext cx="7315200" cy="27432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Universitas Islam Indonesia  ·  B.Eng. GPA 3.78 / 4.00  ·  M.Eng. in progress</a:t>
            </a:r>
            <a:endParaRPr lang="en-US" sz="1400" dirty="0"/>
          </a:p>
        </p:txBody>
      </p:sp>
      <p:sp>
        <p:nvSpPr>
          <p:cNvPr id="20" name="Shape 17"/>
          <p:cNvSpPr/>
          <p:nvPr/>
        </p:nvSpPr>
        <p:spPr>
          <a:xfrm>
            <a:off x="0" y="6126480"/>
            <a:ext cx="12161520" cy="36576"/>
          </a:xfrm>
          <a:prstGeom prst="rect">
            <a:avLst/>
          </a:prstGeom>
          <a:solidFill>
            <a:srgbClr val="C9A961"/>
          </a:solidFill>
          <a:ln w="12700">
            <a:solidFill>
              <a:srgbClr val="C9A961"/>
            </a:solidFill>
            <a:prstDash val="solid"/>
          </a:ln>
        </p:spPr>
        <p:txBody>
          <a:bodyPr/>
          <a:p/>
        </p:txBody>
      </p:sp>
      <p:sp>
        <p:nvSpPr>
          <p:cNvPr id="21" name="Text 18"/>
          <p:cNvSpPr/>
          <p:nvPr/>
        </p:nvSpPr>
        <p:spPr>
          <a:xfrm>
            <a:off x="1097280" y="6263640"/>
            <a:ext cx="36576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fathonimuhammad2411@gmail.com</a:t>
            </a:r>
            <a:endParaRPr lang="en-US" sz="1100" dirty="0"/>
          </a:p>
        </p:txBody>
      </p:sp>
      <p:sp>
        <p:nvSpPr>
          <p:cNvPr id="22" name="Text 19"/>
          <p:cNvSpPr/>
          <p:nvPr/>
        </p:nvSpPr>
        <p:spPr>
          <a:xfrm>
            <a:off x="1097280" y="6492240"/>
            <a:ext cx="36576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+62 822-5850-3481</a:t>
            </a:r>
            <a:endParaRPr lang="en-US" sz="1100" dirty="0"/>
          </a:p>
        </p:txBody>
      </p:sp>
      <p:sp>
        <p:nvSpPr>
          <p:cNvPr id="23" name="Text 20"/>
          <p:cNvSpPr/>
          <p:nvPr/>
        </p:nvSpPr>
        <p:spPr>
          <a:xfrm>
            <a:off x="7132320" y="6263640"/>
            <a:ext cx="3657600" cy="22860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Yogyakarta, Indonesia</a:t>
            </a:r>
            <a:endParaRPr lang="en-US" sz="1100" dirty="0"/>
          </a:p>
        </p:txBody>
      </p:sp>
      <p:sp>
        <p:nvSpPr>
          <p:cNvPr id="24" name="Text 21"/>
          <p:cNvSpPr/>
          <p:nvPr/>
        </p:nvSpPr>
        <p:spPr>
          <a:xfrm>
            <a:off x="7132320" y="6492240"/>
            <a:ext cx="3657600" cy="22860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linkedin.com/in/muhammad-fathoni-038274266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MUHAMMAD FATHONI</a:t>
            </a:r>
            <a:endParaRPr lang="en-US" sz="14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1400" i="1" dirty="0">
                <a:solidFill>
                  <a:srgbClr val="E8D7A8"/>
                </a:solidFill>
                <a:latin typeface="Calibri" pitchFamily="34" charset="0"/>
                <a:ea typeface="Calibri" pitchFamily="34" charset="-122"/>
                <a:cs typeface="Calibri" pitchFamily="34" charset="-120"/>
              </a:rPr>
              <a:t>Electrical Engineer  ·  AI &amp; IoT for Industry</a:t>
            </a:r>
            <a:endParaRPr lang="en-US" sz="14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1400" b="1" dirty="0">
                <a:solidFill>
                  <a:srgbClr val="E8D7A8"/>
                </a:solidFill>
                <a:latin typeface="Calibri" pitchFamily="34" charset="0"/>
                <a:ea typeface="Calibri" pitchFamily="34" charset="-122"/>
                <a:cs typeface="Calibri" pitchFamily="34" charset="-120"/>
              </a:rPr>
              <a:t>PAGE 2 / 28</a:t>
            </a:r>
            <a:endParaRPr lang="en-US" sz="14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fathonimuhammad2411@gmail.com</a:t>
            </a:r>
            <a:endParaRPr lang="en-US" sz="11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+62 822-5850-3481</a:t>
            </a:r>
            <a:endParaRPr lang="en-US" sz="11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linkedin.com/in/muhammad-fathoni-038274266</a:t>
            </a:r>
            <a:endParaRPr lang="en-US" sz="11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INDEX</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Table of Contents</a:t>
            </a:r>
            <a:endParaRPr lang="en-US" sz="1400" dirty="0"/>
          </a:p>
        </p:txBody>
      </p:sp>
      <p:sp>
        <p:nvSpPr>
          <p:cNvPr id="15" name="Shape 13"/>
          <p:cNvSpPr/>
          <p:nvPr/>
        </p:nvSpPr>
        <p:spPr>
          <a:xfrm>
            <a:off x="640080" y="1691640"/>
            <a:ext cx="2286000" cy="22860"/>
          </a:xfrm>
          <a:prstGeom prst="rect">
            <a:avLst/>
          </a:prstGeom>
          <a:solidFill>
            <a:srgbClr val="C9A961"/>
          </a:solidFill>
          <a:ln w="12700">
            <a:solidFill>
              <a:srgbClr val="C9A961"/>
            </a:solidFill>
            <a:prstDash val="solid"/>
          </a:ln>
        </p:spPr>
        <p:txBody>
          <a:bodyPr/>
          <a:p/>
        </p:txBody>
      </p:sp>
      <p:sp>
        <p:nvSpPr>
          <p:cNvPr id="16" name="Shape 14"/>
          <p:cNvSpPr/>
          <p:nvPr/>
        </p:nvSpPr>
        <p:spPr>
          <a:xfrm>
            <a:off x="640080" y="2103120"/>
            <a:ext cx="502920" cy="384048"/>
          </a:xfrm>
          <a:prstGeom prst="rect">
            <a:avLst/>
          </a:prstGeom>
          <a:solidFill>
            <a:srgbClr val="0A1628"/>
          </a:solidFill>
          <a:ln w="12700">
            <a:solidFill>
              <a:srgbClr val="0A1628"/>
            </a:solidFill>
            <a:prstDash val="solid"/>
          </a:ln>
        </p:spPr>
        <p:txBody>
          <a:bodyPr/>
          <a:p/>
        </p:txBody>
      </p:sp>
      <p:sp>
        <p:nvSpPr>
          <p:cNvPr id="17" name="Text 15"/>
          <p:cNvSpPr/>
          <p:nvPr/>
        </p:nvSpPr>
        <p:spPr>
          <a:xfrm>
            <a:off x="640080" y="2103120"/>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01</a:t>
            </a:r>
            <a:endParaRPr lang="en-US" sz="1400" dirty="0"/>
          </a:p>
        </p:txBody>
      </p:sp>
      <p:sp>
        <p:nvSpPr>
          <p:cNvPr id="18" name="Text 16"/>
          <p:cNvSpPr/>
          <p:nvPr/>
        </p:nvSpPr>
        <p:spPr>
          <a:xfrm>
            <a:off x="1280160" y="2103120"/>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About Me</a:t>
            </a:r>
            <a:endParaRPr lang="en-US" sz="1400" dirty="0"/>
          </a:p>
        </p:txBody>
      </p:sp>
      <p:sp>
        <p:nvSpPr>
          <p:cNvPr id="19" name="Text 17"/>
          <p:cNvSpPr/>
          <p:nvPr/>
        </p:nvSpPr>
        <p:spPr>
          <a:xfrm>
            <a:off x="1280160" y="2304288"/>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Personal profile and career objective</a:t>
            </a:r>
            <a:endParaRPr lang="en-US" sz="1400" dirty="0"/>
          </a:p>
        </p:txBody>
      </p:sp>
      <p:sp>
        <p:nvSpPr>
          <p:cNvPr id="20" name="Text 18"/>
          <p:cNvSpPr/>
          <p:nvPr/>
        </p:nvSpPr>
        <p:spPr>
          <a:xfrm>
            <a:off x="10972800" y="2167128"/>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3</a:t>
            </a:r>
            <a:endParaRPr lang="en-US" sz="1400" dirty="0"/>
          </a:p>
        </p:txBody>
      </p:sp>
      <p:sp>
        <p:nvSpPr>
          <p:cNvPr id="21" name="Shape 19"/>
          <p:cNvSpPr/>
          <p:nvPr/>
        </p:nvSpPr>
        <p:spPr>
          <a:xfrm>
            <a:off x="640080" y="2578608"/>
            <a:ext cx="502920" cy="384048"/>
          </a:xfrm>
          <a:prstGeom prst="rect">
            <a:avLst/>
          </a:prstGeom>
          <a:solidFill>
            <a:srgbClr val="0A1628"/>
          </a:solidFill>
          <a:ln w="12700">
            <a:solidFill>
              <a:srgbClr val="0A1628"/>
            </a:solidFill>
            <a:prstDash val="solid"/>
          </a:ln>
        </p:spPr>
        <p:txBody>
          <a:bodyPr/>
          <a:p/>
        </p:txBody>
      </p:sp>
      <p:sp>
        <p:nvSpPr>
          <p:cNvPr id="22" name="Text 20"/>
          <p:cNvSpPr/>
          <p:nvPr/>
        </p:nvSpPr>
        <p:spPr>
          <a:xfrm>
            <a:off x="640080" y="2578608"/>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1280160" y="2578608"/>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Education &amp; Academic Records</a:t>
            </a:r>
            <a:endParaRPr lang="en-US" sz="1400" dirty="0"/>
          </a:p>
        </p:txBody>
      </p:sp>
      <p:sp>
        <p:nvSpPr>
          <p:cNvPr id="24" name="Text 22"/>
          <p:cNvSpPr/>
          <p:nvPr/>
        </p:nvSpPr>
        <p:spPr>
          <a:xfrm>
            <a:off x="1280160" y="2779776"/>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University, GPA, and key coursework</a:t>
            </a:r>
            <a:endParaRPr lang="en-US" sz="1400" dirty="0"/>
          </a:p>
        </p:txBody>
      </p:sp>
      <p:sp>
        <p:nvSpPr>
          <p:cNvPr id="25" name="Text 23"/>
          <p:cNvSpPr/>
          <p:nvPr/>
        </p:nvSpPr>
        <p:spPr>
          <a:xfrm>
            <a:off x="10972800" y="2642616"/>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4</a:t>
            </a:r>
            <a:endParaRPr lang="en-US" sz="1400" dirty="0"/>
          </a:p>
        </p:txBody>
      </p:sp>
      <p:sp>
        <p:nvSpPr>
          <p:cNvPr id="26" name="Shape 24"/>
          <p:cNvSpPr/>
          <p:nvPr/>
        </p:nvSpPr>
        <p:spPr>
          <a:xfrm>
            <a:off x="640080" y="3054096"/>
            <a:ext cx="502920" cy="384048"/>
          </a:xfrm>
          <a:prstGeom prst="rect">
            <a:avLst/>
          </a:prstGeom>
          <a:solidFill>
            <a:srgbClr val="0A1628"/>
          </a:solidFill>
          <a:ln w="12700">
            <a:solidFill>
              <a:srgbClr val="0A1628"/>
            </a:solidFill>
            <a:prstDash val="solid"/>
          </a:ln>
        </p:spPr>
        <p:txBody>
          <a:bodyPr/>
          <a:p/>
        </p:txBody>
      </p:sp>
      <p:sp>
        <p:nvSpPr>
          <p:cNvPr id="27" name="Text 25"/>
          <p:cNvSpPr/>
          <p:nvPr/>
        </p:nvSpPr>
        <p:spPr>
          <a:xfrm>
            <a:off x="640080" y="3054096"/>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03</a:t>
            </a:r>
            <a:endParaRPr lang="en-US" sz="1400" dirty="0"/>
          </a:p>
        </p:txBody>
      </p:sp>
      <p:sp>
        <p:nvSpPr>
          <p:cNvPr id="28" name="Text 26"/>
          <p:cNvSpPr/>
          <p:nvPr/>
        </p:nvSpPr>
        <p:spPr>
          <a:xfrm>
            <a:off x="1280160" y="3054096"/>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Technical Skills</a:t>
            </a:r>
            <a:endParaRPr lang="en-US" sz="1400" dirty="0"/>
          </a:p>
        </p:txBody>
      </p:sp>
      <p:sp>
        <p:nvSpPr>
          <p:cNvPr id="29" name="Text 27"/>
          <p:cNvSpPr/>
          <p:nvPr/>
        </p:nvSpPr>
        <p:spPr>
          <a:xfrm>
            <a:off x="1280160" y="3255264"/>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Hard skills, tools, and soft skills</a:t>
            </a:r>
            <a:endParaRPr lang="en-US" sz="1400" dirty="0"/>
          </a:p>
        </p:txBody>
      </p:sp>
      <p:sp>
        <p:nvSpPr>
          <p:cNvPr id="30" name="Text 28"/>
          <p:cNvSpPr/>
          <p:nvPr/>
        </p:nvSpPr>
        <p:spPr>
          <a:xfrm>
            <a:off x="10972800" y="3118104"/>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5</a:t>
            </a:r>
            <a:endParaRPr lang="en-US" sz="1400" dirty="0"/>
          </a:p>
        </p:txBody>
      </p:sp>
      <p:sp>
        <p:nvSpPr>
          <p:cNvPr id="31" name="Shape 29"/>
          <p:cNvSpPr/>
          <p:nvPr/>
        </p:nvSpPr>
        <p:spPr>
          <a:xfrm>
            <a:off x="640080" y="3529584"/>
            <a:ext cx="502920" cy="384048"/>
          </a:xfrm>
          <a:prstGeom prst="rect">
            <a:avLst/>
          </a:prstGeom>
          <a:solidFill>
            <a:srgbClr val="0A1628"/>
          </a:solidFill>
          <a:ln w="12700">
            <a:solidFill>
              <a:srgbClr val="0A1628"/>
            </a:solidFill>
            <a:prstDash val="solid"/>
          </a:ln>
        </p:spPr>
        <p:txBody>
          <a:bodyPr/>
          <a:p/>
        </p:txBody>
      </p:sp>
      <p:sp>
        <p:nvSpPr>
          <p:cNvPr id="32" name="Text 30"/>
          <p:cNvSpPr/>
          <p:nvPr/>
        </p:nvSpPr>
        <p:spPr>
          <a:xfrm>
            <a:off x="640080" y="3529584"/>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04</a:t>
            </a:r>
            <a:endParaRPr lang="en-US" sz="1400" dirty="0"/>
          </a:p>
        </p:txBody>
      </p:sp>
      <p:sp>
        <p:nvSpPr>
          <p:cNvPr id="33" name="Text 31"/>
          <p:cNvSpPr/>
          <p:nvPr/>
        </p:nvSpPr>
        <p:spPr>
          <a:xfrm>
            <a:off x="1280160" y="3529584"/>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Featured Projects</a:t>
            </a:r>
            <a:endParaRPr lang="en-US" sz="1400" dirty="0"/>
          </a:p>
        </p:txBody>
      </p:sp>
      <p:sp>
        <p:nvSpPr>
          <p:cNvPr id="34" name="Text 32"/>
          <p:cNvSpPr/>
          <p:nvPr/>
        </p:nvSpPr>
        <p:spPr>
          <a:xfrm>
            <a:off x="1280160" y="3730752"/>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Fifteen projects across AI, IoT and software</a:t>
            </a:r>
            <a:endParaRPr lang="en-US" sz="1400" dirty="0"/>
          </a:p>
        </p:txBody>
      </p:sp>
      <p:sp>
        <p:nvSpPr>
          <p:cNvPr id="35" name="Text 33"/>
          <p:cNvSpPr/>
          <p:nvPr/>
        </p:nvSpPr>
        <p:spPr>
          <a:xfrm>
            <a:off x="10972800" y="3593592"/>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6</a:t>
            </a:r>
            <a:endParaRPr lang="en-US" sz="1400" dirty="0"/>
          </a:p>
        </p:txBody>
      </p:sp>
      <p:sp>
        <p:nvSpPr>
          <p:cNvPr id="36" name="Shape 34"/>
          <p:cNvSpPr/>
          <p:nvPr/>
        </p:nvSpPr>
        <p:spPr>
          <a:xfrm>
            <a:off x="640080" y="4005072"/>
            <a:ext cx="502920" cy="384048"/>
          </a:xfrm>
          <a:prstGeom prst="rect">
            <a:avLst/>
          </a:prstGeom>
          <a:solidFill>
            <a:srgbClr val="0A1628"/>
          </a:solidFill>
          <a:ln w="12700">
            <a:solidFill>
              <a:srgbClr val="0A1628"/>
            </a:solidFill>
            <a:prstDash val="solid"/>
          </a:ln>
        </p:spPr>
        <p:txBody>
          <a:bodyPr/>
          <a:p/>
        </p:txBody>
      </p:sp>
      <p:sp>
        <p:nvSpPr>
          <p:cNvPr id="37" name="Text 35"/>
          <p:cNvSpPr/>
          <p:nvPr/>
        </p:nvSpPr>
        <p:spPr>
          <a:xfrm>
            <a:off x="640080" y="4005072"/>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05</a:t>
            </a:r>
            <a:endParaRPr lang="en-US" sz="1400" dirty="0"/>
          </a:p>
        </p:txBody>
      </p:sp>
      <p:sp>
        <p:nvSpPr>
          <p:cNvPr id="38" name="Text 36"/>
          <p:cNvSpPr/>
          <p:nvPr/>
        </p:nvSpPr>
        <p:spPr>
          <a:xfrm>
            <a:off x="1280160" y="4005072"/>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Professional Experience</a:t>
            </a:r>
            <a:endParaRPr lang="en-US" sz="1400" dirty="0"/>
          </a:p>
        </p:txBody>
      </p:sp>
      <p:sp>
        <p:nvSpPr>
          <p:cNvPr id="39" name="Text 37"/>
          <p:cNvSpPr/>
          <p:nvPr/>
        </p:nvSpPr>
        <p:spPr>
          <a:xfrm>
            <a:off x="1280160" y="4206240"/>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Startup, internship and laboratory teaching</a:t>
            </a:r>
            <a:endParaRPr lang="en-US" sz="1400" dirty="0"/>
          </a:p>
        </p:txBody>
      </p:sp>
      <p:sp>
        <p:nvSpPr>
          <p:cNvPr id="40" name="Text 38"/>
          <p:cNvSpPr/>
          <p:nvPr/>
        </p:nvSpPr>
        <p:spPr>
          <a:xfrm>
            <a:off x="10972800" y="4069080"/>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23</a:t>
            </a:r>
            <a:endParaRPr lang="en-US" sz="1400" dirty="0"/>
          </a:p>
        </p:txBody>
      </p:sp>
      <p:sp>
        <p:nvSpPr>
          <p:cNvPr id="41" name="Shape 39"/>
          <p:cNvSpPr/>
          <p:nvPr/>
        </p:nvSpPr>
        <p:spPr>
          <a:xfrm>
            <a:off x="640080" y="4480560"/>
            <a:ext cx="502920" cy="384048"/>
          </a:xfrm>
          <a:prstGeom prst="rect">
            <a:avLst/>
          </a:prstGeom>
          <a:solidFill>
            <a:srgbClr val="0A1628"/>
          </a:solidFill>
          <a:ln w="12700">
            <a:solidFill>
              <a:srgbClr val="0A1628"/>
            </a:solidFill>
            <a:prstDash val="solid"/>
          </a:ln>
        </p:spPr>
        <p:txBody>
          <a:bodyPr/>
          <a:p/>
        </p:txBody>
      </p:sp>
      <p:sp>
        <p:nvSpPr>
          <p:cNvPr id="42" name="Text 40"/>
          <p:cNvSpPr/>
          <p:nvPr/>
        </p:nvSpPr>
        <p:spPr>
          <a:xfrm>
            <a:off x="640080" y="4480560"/>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06</a:t>
            </a:r>
            <a:endParaRPr lang="en-US" sz="1400" dirty="0"/>
          </a:p>
        </p:txBody>
      </p:sp>
      <p:sp>
        <p:nvSpPr>
          <p:cNvPr id="43" name="Text 41"/>
          <p:cNvSpPr/>
          <p:nvPr/>
        </p:nvSpPr>
        <p:spPr>
          <a:xfrm>
            <a:off x="1280160" y="4480560"/>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Leadership &amp; Organizations</a:t>
            </a:r>
            <a:endParaRPr lang="en-US" sz="1400" dirty="0"/>
          </a:p>
        </p:txBody>
      </p:sp>
      <p:sp>
        <p:nvSpPr>
          <p:cNvPr id="44" name="Text 42"/>
          <p:cNvSpPr/>
          <p:nvPr/>
        </p:nvSpPr>
        <p:spPr>
          <a:xfrm>
            <a:off x="1280160" y="4681728"/>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Roles, committees, and student bodies</a:t>
            </a:r>
            <a:endParaRPr lang="en-US" sz="1400" dirty="0"/>
          </a:p>
        </p:txBody>
      </p:sp>
      <p:sp>
        <p:nvSpPr>
          <p:cNvPr id="45" name="Text 43"/>
          <p:cNvSpPr/>
          <p:nvPr/>
        </p:nvSpPr>
        <p:spPr>
          <a:xfrm>
            <a:off x="10972800" y="4544568"/>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26</a:t>
            </a:r>
            <a:endParaRPr lang="en-US" sz="1400" dirty="0"/>
          </a:p>
        </p:txBody>
      </p:sp>
      <p:sp>
        <p:nvSpPr>
          <p:cNvPr id="46" name="Shape 44"/>
          <p:cNvSpPr/>
          <p:nvPr/>
        </p:nvSpPr>
        <p:spPr>
          <a:xfrm>
            <a:off x="640080" y="4956048"/>
            <a:ext cx="502920" cy="384048"/>
          </a:xfrm>
          <a:prstGeom prst="rect">
            <a:avLst/>
          </a:prstGeom>
          <a:solidFill>
            <a:srgbClr val="0A1628"/>
          </a:solidFill>
          <a:ln w="12700">
            <a:solidFill>
              <a:srgbClr val="0A1628"/>
            </a:solidFill>
            <a:prstDash val="solid"/>
          </a:ln>
        </p:spPr>
        <p:txBody>
          <a:bodyPr/>
          <a:p/>
        </p:txBody>
      </p:sp>
      <p:sp>
        <p:nvSpPr>
          <p:cNvPr id="47" name="Text 45"/>
          <p:cNvSpPr/>
          <p:nvPr/>
        </p:nvSpPr>
        <p:spPr>
          <a:xfrm>
            <a:off x="640080" y="4956048"/>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07</a:t>
            </a:r>
            <a:endParaRPr lang="en-US" sz="1400" dirty="0"/>
          </a:p>
        </p:txBody>
      </p:sp>
      <p:sp>
        <p:nvSpPr>
          <p:cNvPr id="48" name="Text 46"/>
          <p:cNvSpPr/>
          <p:nvPr/>
        </p:nvSpPr>
        <p:spPr>
          <a:xfrm>
            <a:off x="1280160" y="4956048"/>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Achievements &amp; Certifications</a:t>
            </a:r>
            <a:endParaRPr lang="en-US" sz="1400" dirty="0"/>
          </a:p>
        </p:txBody>
      </p:sp>
      <p:sp>
        <p:nvSpPr>
          <p:cNvPr id="49" name="Text 47"/>
          <p:cNvSpPr/>
          <p:nvPr/>
        </p:nvSpPr>
        <p:spPr>
          <a:xfrm>
            <a:off x="1280160" y="5157216"/>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Competition wins and certifications</a:t>
            </a:r>
            <a:endParaRPr lang="en-US" sz="1400" dirty="0"/>
          </a:p>
        </p:txBody>
      </p:sp>
      <p:sp>
        <p:nvSpPr>
          <p:cNvPr id="50" name="Text 48"/>
          <p:cNvSpPr/>
          <p:nvPr/>
        </p:nvSpPr>
        <p:spPr>
          <a:xfrm>
            <a:off x="10972800" y="5020056"/>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27</a:t>
            </a:r>
            <a:endParaRPr lang="en-US" sz="1400" dirty="0"/>
          </a:p>
        </p:txBody>
      </p:sp>
      <p:sp>
        <p:nvSpPr>
          <p:cNvPr id="51" name="Shape 49"/>
          <p:cNvSpPr/>
          <p:nvPr/>
        </p:nvSpPr>
        <p:spPr>
          <a:xfrm>
            <a:off x="640080" y="5431536"/>
            <a:ext cx="502920" cy="384048"/>
          </a:xfrm>
          <a:prstGeom prst="rect">
            <a:avLst/>
          </a:prstGeom>
          <a:solidFill>
            <a:srgbClr val="0A1628"/>
          </a:solidFill>
          <a:ln w="12700">
            <a:solidFill>
              <a:srgbClr val="0A1628"/>
            </a:solidFill>
            <a:prstDash val="solid"/>
          </a:ln>
        </p:spPr>
        <p:txBody>
          <a:bodyPr/>
          <a:p/>
        </p:txBody>
      </p:sp>
      <p:sp>
        <p:nvSpPr>
          <p:cNvPr id="52" name="Text 50"/>
          <p:cNvSpPr/>
          <p:nvPr/>
        </p:nvSpPr>
        <p:spPr>
          <a:xfrm>
            <a:off x="640080" y="5431536"/>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08</a:t>
            </a:r>
            <a:endParaRPr lang="en-US" sz="1400" dirty="0"/>
          </a:p>
        </p:txBody>
      </p:sp>
      <p:sp>
        <p:nvSpPr>
          <p:cNvPr id="53" name="Text 51"/>
          <p:cNvSpPr/>
          <p:nvPr/>
        </p:nvSpPr>
        <p:spPr>
          <a:xfrm>
            <a:off x="1280160" y="5431536"/>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Contact</a:t>
            </a:r>
            <a:endParaRPr lang="en-US" sz="1400" dirty="0"/>
          </a:p>
        </p:txBody>
      </p:sp>
      <p:sp>
        <p:nvSpPr>
          <p:cNvPr id="54" name="Text 52"/>
          <p:cNvSpPr/>
          <p:nvPr/>
        </p:nvSpPr>
        <p:spPr>
          <a:xfrm>
            <a:off x="1280160" y="5632704"/>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How to reach me</a:t>
            </a:r>
            <a:endParaRPr lang="en-US" sz="1400" dirty="0"/>
          </a:p>
        </p:txBody>
      </p:sp>
      <p:sp>
        <p:nvSpPr>
          <p:cNvPr id="55" name="Text 53"/>
          <p:cNvSpPr/>
          <p:nvPr/>
        </p:nvSpPr>
        <p:spPr>
          <a:xfrm>
            <a:off x="10972800" y="5495544"/>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01  ·  ABOUT ME</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About Me</a:t>
            </a:r>
            <a:endParaRPr lang="en-US" sz="2800" dirty="0"/>
          </a:p>
        </p:txBody>
      </p:sp>
      <p:pic>
        <p:nvPicPr>
          <p:cNvPr id="15" name="Image 0" descr="/home/claude/profile_circle.png"/>
          <p:cNvPicPr>
            <a:picLocks noChangeAspect="1"/>
          </p:cNvPicPr>
          <p:nvPr/>
        </p:nvPicPr>
        <p:blipFill>
          <a:blip r:embed="rId3"/>
          <a:stretch>
            <a:fillRect/>
          </a:stretch>
        </p:blipFill>
        <p:spPr>
          <a:xfrm>
            <a:off x="8961120" y="1828800"/>
            <a:ext cx="2286000" cy="2286000"/>
          </a:xfrm>
          <a:prstGeom prst="rect">
            <a:avLst/>
          </a:prstGeom>
        </p:spPr>
      </p:pic>
      <p:sp>
        <p:nvSpPr>
          <p:cNvPr id="16" name="Shape 13"/>
          <p:cNvSpPr/>
          <p:nvPr/>
        </p:nvSpPr>
        <p:spPr>
          <a:xfrm>
            <a:off x="8961120" y="1828800"/>
            <a:ext cx="2286000" cy="2286000"/>
          </a:xfrm>
          <a:prstGeom prst="ellipse">
            <a:avLst/>
          </a:prstGeom>
          <a:solidFill>
            <a:srgbClr val="FFFFFF">
              <a:alpha val="0"/>
            </a:srgbClr>
          </a:solidFill>
          <a:ln w="31750">
            <a:solidFill>
              <a:srgbClr val="C9A961"/>
            </a:solidFill>
            <a:prstDash val="solid"/>
          </a:ln>
        </p:spPr>
        <p:txBody>
          <a:bodyPr/>
          <a:p/>
        </p:txBody>
      </p:sp>
      <p:sp>
        <p:nvSpPr>
          <p:cNvPr id="17" name="Text 14"/>
          <p:cNvSpPr/>
          <p:nvPr/>
        </p:nvSpPr>
        <p:spPr>
          <a:xfrm>
            <a:off x="640080" y="1691640"/>
            <a:ext cx="8229600" cy="3657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I am an Electrical Engineer from Universitas Islam Indonesia (GPA 3.78, full scholarship), now continuing with a Master of Electrical Engineering at the same university. I work where hardware meets software: sensors, control panels and firmware on one side, machine learning, language models and web platforms on the other.</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My focus today is AI and IoT for heavy industry, especially mining and energy. My latest project, SIAGA, reads vibration data from equipment, predicts failures and raises work orders and purchase requests on its own. On a real bearing failure dataset it warned about 25 hours before the machine stopped. I have also built multi agent AI systems, RAG chatbots with measurable guardrails, and shipped a mobile app to Android and iOS as a co-founder.</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I learn fast, I like owning things end to end, and I care most about systems that people on site can actually trust.</a:t>
            </a:r>
            <a:endParaRPr lang="en-US" sz="1400" dirty="0"/>
          </a:p>
        </p:txBody>
      </p:sp>
      <p:sp>
        <p:nvSpPr>
          <p:cNvPr id="18" name="Shape 15"/>
          <p:cNvSpPr/>
          <p:nvPr/>
        </p:nvSpPr>
        <p:spPr>
          <a:xfrm>
            <a:off x="640080" y="5486400"/>
            <a:ext cx="10881360" cy="91440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19" name="Shape 16"/>
          <p:cNvSpPr/>
          <p:nvPr/>
        </p:nvSpPr>
        <p:spPr>
          <a:xfrm>
            <a:off x="640080" y="5486400"/>
            <a:ext cx="73152" cy="914400"/>
          </a:xfrm>
          <a:prstGeom prst="rect">
            <a:avLst/>
          </a:prstGeom>
          <a:solidFill>
            <a:srgbClr val="C9A961"/>
          </a:solidFill>
          <a:ln w="12700">
            <a:solidFill>
              <a:srgbClr val="C9A961"/>
            </a:solidFill>
            <a:prstDash val="solid"/>
          </a:ln>
        </p:spPr>
        <p:txBody>
          <a:bodyPr/>
          <a:p/>
        </p:txBody>
      </p:sp>
      <p:sp>
        <p:nvSpPr>
          <p:cNvPr id="20" name="Text 17"/>
          <p:cNvSpPr/>
          <p:nvPr/>
        </p:nvSpPr>
        <p:spPr>
          <a:xfrm>
            <a:off x="868680" y="5577840"/>
            <a:ext cx="4572000" cy="22860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CAREER OBJECTIVE</a:t>
            </a:r>
            <a:endParaRPr lang="en-US" sz="1100" dirty="0"/>
          </a:p>
        </p:txBody>
      </p:sp>
      <p:sp>
        <p:nvSpPr>
          <p:cNvPr id="21" name="Text 18"/>
          <p:cNvSpPr/>
          <p:nvPr/>
        </p:nvSpPr>
        <p:spPr>
          <a:xfrm>
            <a:off x="868680" y="5852160"/>
            <a:ext cx="10607040" cy="502920"/>
          </a:xfrm>
          <a:prstGeom prst="rect">
            <a:avLst/>
          </a:prstGeom>
          <a:noFill/>
          <a:ln/>
        </p:spPr>
        <p:txBody>
          <a:bodyPr wrap="square" lIns="0" tIns="0" rIns="0" bIns="0" rtlCol="0" anchor="t"/>
          <a:lstStyle/>
          <a:p>
            <a:pPr marL="0" indent="0">
              <a:buNone/>
            </a:pPr>
            <a:r>
              <a:rPr lang="en-US" sz="1200" i="1" dirty="0">
                <a:solidFill>
                  <a:srgbClr val="FFFFFF"/>
                </a:solidFill>
                <a:latin typeface="Calibri" pitchFamily="34" charset="0"/>
                <a:ea typeface="Calibri" pitchFamily="34" charset="-122"/>
                <a:cs typeface="Calibri" pitchFamily="34" charset="-120"/>
              </a:rPr>
              <a:t>To join an industrial or technology team as an Engineer or AI specialist, applying my electrical engineering foundation, IoT experience and applied AI skills to make operations in mining, energy and manufacturing safer, more reliable and more efficient.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02  ·  EDUCATION</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Education &amp; Academic Records</a:t>
            </a:r>
            <a:endParaRPr lang="en-US" sz="2800" dirty="0"/>
          </a:p>
        </p:txBody>
      </p:sp>
      <p:sp>
        <p:nvSpPr>
          <p:cNvPr id="15" name="Shape 13"/>
          <p:cNvSpPr/>
          <p:nvPr/>
        </p:nvSpPr>
        <p:spPr>
          <a:xfrm>
            <a:off x="640080" y="2697480"/>
            <a:ext cx="10881360" cy="17830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2697480"/>
            <a:ext cx="91440" cy="1783080"/>
          </a:xfrm>
          <a:prstGeom prst="rect">
            <a:avLst/>
          </a:prstGeom>
          <a:solidFill>
            <a:srgbClr val="C9A961"/>
          </a:solidFill>
          <a:ln w="12700">
            <a:solidFill>
              <a:srgbClr val="C9A961"/>
            </a:solidFill>
            <a:prstDash val="solid"/>
          </a:ln>
        </p:spPr>
        <p:txBody>
          <a:bodyPr/>
          <a:p/>
        </p:txBody>
      </p:sp>
      <p:sp>
        <p:nvSpPr>
          <p:cNvPr id="17" name="Text 15"/>
          <p:cNvSpPr/>
          <p:nvPr/>
        </p:nvSpPr>
        <p:spPr>
          <a:xfrm>
            <a:off x="914400" y="2834639"/>
            <a:ext cx="7315200" cy="365760"/>
          </a:xfrm>
          <a:prstGeom prst="rect">
            <a:avLst/>
          </a:prstGeom>
          <a:noFill/>
          <a:ln/>
        </p:spPr>
        <p:txBody>
          <a:bodyPr wrap="square" lIns="0" tIns="0" rIns="0" bIns="0"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Universitas Islam Indonesia (UII)</a:t>
            </a:r>
            <a:endParaRPr lang="en-US" sz="1800" dirty="0"/>
          </a:p>
        </p:txBody>
      </p:sp>
      <p:sp>
        <p:nvSpPr>
          <p:cNvPr id="18" name="Text 16"/>
          <p:cNvSpPr/>
          <p:nvPr/>
        </p:nvSpPr>
        <p:spPr>
          <a:xfrm>
            <a:off x="8046720" y="2834639"/>
            <a:ext cx="2743200" cy="274320"/>
          </a:xfrm>
          <a:prstGeom prst="rect">
            <a:avLst/>
          </a:prstGeom>
          <a:noFill/>
          <a:ln/>
        </p:spPr>
        <p:txBody>
          <a:bodyPr wrap="square" lIns="0" tIns="0" rIns="0" bIns="0" rtlCol="0" anchor="ctr"/>
          <a:lstStyle/>
          <a:p>
            <a:pPr marL="0" indent="0" algn="r">
              <a:buNone/>
            </a:pPr>
            <a:r>
              <a:rPr lang="en-US" sz="1200" b="1" dirty="0">
                <a:solidFill>
                  <a:srgbClr val="C9A961"/>
                </a:solidFill>
                <a:latin typeface="Calibri" pitchFamily="34" charset="0"/>
                <a:ea typeface="Calibri" pitchFamily="34" charset="-122"/>
                <a:cs typeface="Calibri" pitchFamily="34" charset="-120"/>
              </a:rPr>
              <a:t>Aug 2022 – May 2026</a:t>
            </a:r>
            <a:endParaRPr lang="en-US" sz="1200" dirty="0"/>
          </a:p>
        </p:txBody>
      </p:sp>
      <p:sp>
        <p:nvSpPr>
          <p:cNvPr id="19" name="Text 17"/>
          <p:cNvSpPr/>
          <p:nvPr/>
        </p:nvSpPr>
        <p:spPr>
          <a:xfrm>
            <a:off x="914400" y="3200400"/>
            <a:ext cx="1033272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Bachelor of Electrical Engineering · Faculty of Industrial Technology</a:t>
            </a:r>
            <a:endParaRPr lang="en-US" sz="1300" dirty="0"/>
          </a:p>
        </p:txBody>
      </p:sp>
      <p:sp>
        <p:nvSpPr>
          <p:cNvPr id="20" name="Text 18"/>
          <p:cNvSpPr/>
          <p:nvPr/>
        </p:nvSpPr>
        <p:spPr>
          <a:xfrm>
            <a:off x="914400" y="3520440"/>
            <a:ext cx="4572000" cy="548640"/>
          </a:xfrm>
          <a:prstGeom prst="rect">
            <a:avLst/>
          </a:prstGeom>
          <a:noFill/>
          <a:ln/>
        </p:spPr>
        <p:txBody>
          <a:bodyPr wrap="square" lIns="0" tIns="0" rIns="0" bIns="0" rtlCol="0" anchor="ctr"/>
          <a:lstStyle/>
          <a:p>
            <a:pPr marL="0" indent="0">
              <a:buNone/>
            </a:pPr>
            <a:r>
              <a:rPr lang="en-US" sz="1600" b="1" dirty="0">
                <a:solidFill>
                  <a:srgbClr val="0A1628"/>
                </a:solidFill>
                <a:latin typeface="Calibri" pitchFamily="34" charset="0"/>
                <a:ea typeface="Calibri" pitchFamily="34" charset="-122"/>
                <a:cs typeface="Calibri" pitchFamily="34" charset="-120"/>
              </a:rPr>
              <a:t>GPA  </a:t>
            </a:r>
            <a:r>
              <a:rPr lang="en-US" sz="2800" b="1" dirty="0">
                <a:solidFill>
                  <a:srgbClr val="C9A961"/>
                </a:solidFill>
                <a:latin typeface="Calibri" pitchFamily="34" charset="0"/>
                <a:ea typeface="Calibri" pitchFamily="34" charset="-122"/>
                <a:cs typeface="Calibri" pitchFamily="34" charset="-120"/>
              </a:rPr>
              <a:t>3.78 / 4.00</a:t>
            </a:r>
            <a:endParaRPr lang="en-US" sz="1600" dirty="0"/>
          </a:p>
        </p:txBody>
      </p:sp>
      <p:sp>
        <p:nvSpPr>
          <p:cNvPr id="21" name="Text 19"/>
          <p:cNvSpPr/>
          <p:nvPr/>
        </p:nvSpPr>
        <p:spPr>
          <a:xfrm>
            <a:off x="914400" y="4069080"/>
            <a:ext cx="73152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140 SKS Completed  ·  UII Excellent Community Scholarship</a:t>
            </a:r>
            <a:endParaRPr lang="en-US" sz="1100" dirty="0"/>
          </a:p>
        </p:txBody>
      </p:sp>
      <p:sp>
        <p:nvSpPr>
          <p:cNvPr id="22" name="Shape 20"/>
          <p:cNvSpPr/>
          <p:nvPr/>
        </p:nvSpPr>
        <p:spPr>
          <a:xfrm>
            <a:off x="640080" y="4617720"/>
            <a:ext cx="10881360" cy="182880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23" name="Shape 21"/>
          <p:cNvSpPr/>
          <p:nvPr/>
        </p:nvSpPr>
        <p:spPr>
          <a:xfrm>
            <a:off x="640080" y="4617720"/>
            <a:ext cx="73152" cy="1828800"/>
          </a:xfrm>
          <a:prstGeom prst="rect">
            <a:avLst/>
          </a:prstGeom>
          <a:solidFill>
            <a:srgbClr val="C9A961"/>
          </a:solidFill>
          <a:ln w="12700">
            <a:solidFill>
              <a:srgbClr val="C9A961"/>
            </a:solidFill>
            <a:prstDash val="solid"/>
          </a:ln>
        </p:spPr>
        <p:txBody>
          <a:bodyPr/>
          <a:p/>
        </p:txBody>
      </p:sp>
      <p:sp>
        <p:nvSpPr>
          <p:cNvPr id="24" name="Text 22"/>
          <p:cNvSpPr/>
          <p:nvPr/>
        </p:nvSpPr>
        <p:spPr>
          <a:xfrm>
            <a:off x="868680" y="4754880"/>
            <a:ext cx="4572000" cy="27432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KEY COURSEWORK</a:t>
            </a:r>
            <a:endParaRPr lang="en-US" sz="1200" dirty="0"/>
          </a:p>
        </p:txBody>
      </p:sp>
      <p:sp>
        <p:nvSpPr>
          <p:cNvPr id="25" name="Shape 23"/>
          <p:cNvSpPr/>
          <p:nvPr/>
        </p:nvSpPr>
        <p:spPr>
          <a:xfrm>
            <a:off x="914400" y="5090157"/>
            <a:ext cx="73152" cy="73152"/>
          </a:xfrm>
          <a:prstGeom prst="rect">
            <a:avLst/>
          </a:prstGeom>
          <a:solidFill>
            <a:srgbClr val="C9A961"/>
          </a:solidFill>
          <a:ln w="12700">
            <a:solidFill>
              <a:srgbClr val="C9A961"/>
            </a:solidFill>
            <a:prstDash val="solid"/>
          </a:ln>
        </p:spPr>
        <p:txBody>
          <a:bodyPr/>
          <a:p/>
        </p:txBody>
      </p:sp>
      <p:sp>
        <p:nvSpPr>
          <p:cNvPr id="26" name="Text 24"/>
          <p:cNvSpPr/>
          <p:nvPr/>
        </p:nvSpPr>
        <p:spPr>
          <a:xfrm>
            <a:off x="1097280" y="502920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Power Systems</a:t>
            </a:r>
            <a:endParaRPr lang="en-US" sz="1100" dirty="0"/>
          </a:p>
        </p:txBody>
      </p:sp>
      <p:sp>
        <p:nvSpPr>
          <p:cNvPr id="27" name="Shape 25"/>
          <p:cNvSpPr/>
          <p:nvPr/>
        </p:nvSpPr>
        <p:spPr>
          <a:xfrm>
            <a:off x="914400" y="5318748"/>
            <a:ext cx="73152" cy="73152"/>
          </a:xfrm>
          <a:prstGeom prst="rect">
            <a:avLst/>
          </a:prstGeom>
          <a:solidFill>
            <a:srgbClr val="C9A961"/>
          </a:solidFill>
          <a:ln w="12700">
            <a:solidFill>
              <a:srgbClr val="C9A961"/>
            </a:solidFill>
            <a:prstDash val="solid"/>
          </a:ln>
        </p:spPr>
        <p:txBody>
          <a:bodyPr/>
          <a:p/>
        </p:txBody>
      </p:sp>
      <p:sp>
        <p:nvSpPr>
          <p:cNvPr id="28" name="Text 26"/>
          <p:cNvSpPr/>
          <p:nvPr/>
        </p:nvSpPr>
        <p:spPr>
          <a:xfrm>
            <a:off x="1097280" y="525779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Control Systems</a:t>
            </a:r>
            <a:endParaRPr lang="en-US" sz="1100" dirty="0"/>
          </a:p>
        </p:txBody>
      </p:sp>
      <p:sp>
        <p:nvSpPr>
          <p:cNvPr id="29" name="Shape 27"/>
          <p:cNvSpPr/>
          <p:nvPr/>
        </p:nvSpPr>
        <p:spPr>
          <a:xfrm>
            <a:off x="914400" y="5547339"/>
            <a:ext cx="73152" cy="73152"/>
          </a:xfrm>
          <a:prstGeom prst="rect">
            <a:avLst/>
          </a:prstGeom>
          <a:solidFill>
            <a:srgbClr val="C9A961"/>
          </a:solidFill>
          <a:ln w="12700">
            <a:solidFill>
              <a:srgbClr val="C9A961"/>
            </a:solidFill>
            <a:prstDash val="solid"/>
          </a:ln>
        </p:spPr>
        <p:txBody>
          <a:bodyPr/>
          <a:p/>
        </p:txBody>
      </p:sp>
      <p:sp>
        <p:nvSpPr>
          <p:cNvPr id="30" name="Text 28"/>
          <p:cNvSpPr/>
          <p:nvPr/>
        </p:nvSpPr>
        <p:spPr>
          <a:xfrm>
            <a:off x="1097280" y="5486381"/>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PLC &amp; SCADA</a:t>
            </a:r>
            <a:endParaRPr lang="en-US" sz="1100" dirty="0"/>
          </a:p>
        </p:txBody>
      </p:sp>
      <p:sp>
        <p:nvSpPr>
          <p:cNvPr id="31" name="Shape 29"/>
          <p:cNvSpPr/>
          <p:nvPr/>
        </p:nvSpPr>
        <p:spPr>
          <a:xfrm>
            <a:off x="914400" y="5775930"/>
            <a:ext cx="73152" cy="73152"/>
          </a:xfrm>
          <a:prstGeom prst="rect">
            <a:avLst/>
          </a:prstGeom>
          <a:solidFill>
            <a:srgbClr val="C9A961"/>
          </a:solidFill>
          <a:ln w="12700">
            <a:solidFill>
              <a:srgbClr val="C9A961"/>
            </a:solidFill>
            <a:prstDash val="solid"/>
          </a:ln>
        </p:spPr>
        <p:txBody>
          <a:bodyPr/>
          <a:p/>
        </p:txBody>
      </p:sp>
      <p:sp>
        <p:nvSpPr>
          <p:cNvPr id="32" name="Text 30"/>
          <p:cNvSpPr/>
          <p:nvPr/>
        </p:nvSpPr>
        <p:spPr>
          <a:xfrm>
            <a:off x="1097280" y="5714972"/>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Renewable Energy</a:t>
            </a:r>
            <a:endParaRPr lang="en-US" sz="1100" dirty="0"/>
          </a:p>
        </p:txBody>
      </p:sp>
      <p:sp>
        <p:nvSpPr>
          <p:cNvPr id="33" name="Shape 31"/>
          <p:cNvSpPr/>
          <p:nvPr/>
        </p:nvSpPr>
        <p:spPr>
          <a:xfrm>
            <a:off x="914400" y="6004520"/>
            <a:ext cx="73152" cy="73152"/>
          </a:xfrm>
          <a:prstGeom prst="rect">
            <a:avLst/>
          </a:prstGeom>
          <a:solidFill>
            <a:srgbClr val="C9A961"/>
          </a:solidFill>
          <a:ln w="12700">
            <a:solidFill>
              <a:srgbClr val="C9A961"/>
            </a:solidFill>
            <a:prstDash val="solid"/>
          </a:ln>
        </p:spPr>
        <p:txBody>
          <a:bodyPr/>
          <a:p/>
        </p:txBody>
      </p:sp>
      <p:sp>
        <p:nvSpPr>
          <p:cNvPr id="34" name="Text 32"/>
          <p:cNvSpPr/>
          <p:nvPr/>
        </p:nvSpPr>
        <p:spPr>
          <a:xfrm>
            <a:off x="1097280" y="5943563"/>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Power Electronics</a:t>
            </a:r>
            <a:endParaRPr lang="en-US" sz="1100" dirty="0"/>
          </a:p>
        </p:txBody>
      </p:sp>
      <p:sp>
        <p:nvSpPr>
          <p:cNvPr id="35" name="Shape 33"/>
          <p:cNvSpPr/>
          <p:nvPr/>
        </p:nvSpPr>
        <p:spPr>
          <a:xfrm>
            <a:off x="914400" y="6233111"/>
            <a:ext cx="73152" cy="73152"/>
          </a:xfrm>
          <a:prstGeom prst="rect">
            <a:avLst/>
          </a:prstGeom>
          <a:solidFill>
            <a:srgbClr val="C9A961"/>
          </a:solidFill>
          <a:ln w="12700">
            <a:solidFill>
              <a:srgbClr val="C9A961"/>
            </a:solidFill>
            <a:prstDash val="solid"/>
          </a:ln>
        </p:spPr>
        <p:txBody>
          <a:bodyPr/>
          <a:p/>
        </p:txBody>
      </p:sp>
      <p:sp>
        <p:nvSpPr>
          <p:cNvPr id="36" name="Text 34"/>
          <p:cNvSpPr/>
          <p:nvPr/>
        </p:nvSpPr>
        <p:spPr>
          <a:xfrm>
            <a:off x="1097280" y="6172154"/>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Embedded Systems</a:t>
            </a:r>
            <a:endParaRPr lang="en-US" sz="1100" dirty="0"/>
          </a:p>
        </p:txBody>
      </p:sp>
      <p:sp>
        <p:nvSpPr>
          <p:cNvPr id="37" name="Shape 35"/>
          <p:cNvSpPr/>
          <p:nvPr/>
        </p:nvSpPr>
        <p:spPr>
          <a:xfrm>
            <a:off x="6400800" y="5090157"/>
            <a:ext cx="73152" cy="73152"/>
          </a:xfrm>
          <a:prstGeom prst="rect">
            <a:avLst/>
          </a:prstGeom>
          <a:solidFill>
            <a:srgbClr val="C9A961"/>
          </a:solidFill>
          <a:ln w="12700">
            <a:solidFill>
              <a:srgbClr val="C9A961"/>
            </a:solidFill>
            <a:prstDash val="solid"/>
          </a:ln>
        </p:spPr>
        <p:txBody>
          <a:bodyPr/>
          <a:p/>
        </p:txBody>
      </p:sp>
      <p:sp>
        <p:nvSpPr>
          <p:cNvPr id="38" name="Text 36"/>
          <p:cNvSpPr/>
          <p:nvPr/>
        </p:nvSpPr>
        <p:spPr>
          <a:xfrm>
            <a:off x="6583680" y="502920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Machine Learning</a:t>
            </a:r>
            <a:endParaRPr lang="en-US" sz="1100" dirty="0"/>
          </a:p>
        </p:txBody>
      </p:sp>
      <p:sp>
        <p:nvSpPr>
          <p:cNvPr id="39" name="Shape 37"/>
          <p:cNvSpPr/>
          <p:nvPr/>
        </p:nvSpPr>
        <p:spPr>
          <a:xfrm>
            <a:off x="6400800" y="5318748"/>
            <a:ext cx="73152" cy="73152"/>
          </a:xfrm>
          <a:prstGeom prst="rect">
            <a:avLst/>
          </a:prstGeom>
          <a:solidFill>
            <a:srgbClr val="C9A961"/>
          </a:solidFill>
          <a:ln w="12700">
            <a:solidFill>
              <a:srgbClr val="C9A961"/>
            </a:solidFill>
            <a:prstDash val="solid"/>
          </a:ln>
        </p:spPr>
        <p:txBody>
          <a:bodyPr/>
          <a:p/>
        </p:txBody>
      </p:sp>
      <p:sp>
        <p:nvSpPr>
          <p:cNvPr id="40" name="Text 38"/>
          <p:cNvSpPr/>
          <p:nvPr/>
        </p:nvSpPr>
        <p:spPr>
          <a:xfrm>
            <a:off x="6583680" y="525779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Digital Systems (VHDL/FPGA)</a:t>
            </a:r>
            <a:endParaRPr lang="en-US" sz="1100" dirty="0"/>
          </a:p>
        </p:txBody>
      </p:sp>
      <p:sp>
        <p:nvSpPr>
          <p:cNvPr id="41" name="Shape 39"/>
          <p:cNvSpPr/>
          <p:nvPr/>
        </p:nvSpPr>
        <p:spPr>
          <a:xfrm>
            <a:off x="6400800" y="5547339"/>
            <a:ext cx="73152" cy="73152"/>
          </a:xfrm>
          <a:prstGeom prst="rect">
            <a:avLst/>
          </a:prstGeom>
          <a:solidFill>
            <a:srgbClr val="C9A961"/>
          </a:solidFill>
          <a:ln w="12700">
            <a:solidFill>
              <a:srgbClr val="C9A961"/>
            </a:solidFill>
            <a:prstDash val="solid"/>
          </a:ln>
        </p:spPr>
        <p:txBody>
          <a:bodyPr/>
          <a:p/>
        </p:txBody>
      </p:sp>
      <p:sp>
        <p:nvSpPr>
          <p:cNvPr id="42" name="Text 40"/>
          <p:cNvSpPr/>
          <p:nvPr/>
        </p:nvSpPr>
        <p:spPr>
          <a:xfrm>
            <a:off x="6583680" y="5486381"/>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Microprocessor Systems</a:t>
            </a:r>
            <a:endParaRPr lang="en-US" sz="1100" dirty="0"/>
          </a:p>
        </p:txBody>
      </p:sp>
      <p:sp>
        <p:nvSpPr>
          <p:cNvPr id="43" name="Shape 41"/>
          <p:cNvSpPr/>
          <p:nvPr/>
        </p:nvSpPr>
        <p:spPr>
          <a:xfrm>
            <a:off x="6400800" y="5775930"/>
            <a:ext cx="73152" cy="73152"/>
          </a:xfrm>
          <a:prstGeom prst="rect">
            <a:avLst/>
          </a:prstGeom>
          <a:solidFill>
            <a:srgbClr val="C9A961"/>
          </a:solidFill>
          <a:ln w="12700">
            <a:solidFill>
              <a:srgbClr val="C9A961"/>
            </a:solidFill>
            <a:prstDash val="solid"/>
          </a:ln>
        </p:spPr>
        <p:txBody>
          <a:bodyPr/>
          <a:p/>
        </p:txBody>
      </p:sp>
      <p:sp>
        <p:nvSpPr>
          <p:cNvPr id="44" name="Text 42"/>
          <p:cNvSpPr/>
          <p:nvPr/>
        </p:nvSpPr>
        <p:spPr>
          <a:xfrm>
            <a:off x="6583680" y="5714972"/>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Telecommunications</a:t>
            </a:r>
            <a:endParaRPr lang="en-US" sz="1100" dirty="0"/>
          </a:p>
        </p:txBody>
      </p:sp>
      <p:sp>
        <p:nvSpPr>
          <p:cNvPr id="45" name="Shape 43"/>
          <p:cNvSpPr/>
          <p:nvPr/>
        </p:nvSpPr>
        <p:spPr>
          <a:xfrm>
            <a:off x="6400800" y="6004520"/>
            <a:ext cx="73152" cy="73152"/>
          </a:xfrm>
          <a:prstGeom prst="rect">
            <a:avLst/>
          </a:prstGeom>
          <a:solidFill>
            <a:srgbClr val="C9A961"/>
          </a:solidFill>
          <a:ln w="12700">
            <a:solidFill>
              <a:srgbClr val="C9A961"/>
            </a:solidFill>
            <a:prstDash val="solid"/>
          </a:ln>
        </p:spPr>
        <p:txBody>
          <a:bodyPr/>
          <a:p/>
        </p:txBody>
      </p:sp>
      <p:sp>
        <p:nvSpPr>
          <p:cNvPr id="46" name="Text 44"/>
          <p:cNvSpPr/>
          <p:nvPr/>
        </p:nvSpPr>
        <p:spPr>
          <a:xfrm>
            <a:off x="6583680" y="5943563"/>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Computer Networks</a:t>
            </a:r>
            <a:endParaRPr lang="en-US" sz="1100" dirty="0"/>
          </a:p>
        </p:txBody>
      </p:sp>
      <p:sp>
        <p:nvSpPr>
          <p:cNvPr id="47" name="Shape 45"/>
          <p:cNvSpPr/>
          <p:nvPr/>
        </p:nvSpPr>
        <p:spPr>
          <a:xfrm>
            <a:off x="6400800" y="6233111"/>
            <a:ext cx="73152" cy="73152"/>
          </a:xfrm>
          <a:prstGeom prst="rect">
            <a:avLst/>
          </a:prstGeom>
          <a:solidFill>
            <a:srgbClr val="C9A961"/>
          </a:solidFill>
          <a:ln w="12700">
            <a:solidFill>
              <a:srgbClr val="C9A961"/>
            </a:solidFill>
            <a:prstDash val="solid"/>
          </a:ln>
        </p:spPr>
        <p:txBody>
          <a:bodyPr/>
          <a:p/>
        </p:txBody>
      </p:sp>
      <p:sp>
        <p:nvSpPr>
          <p:cNvPr id="48" name="Text 46"/>
          <p:cNvSpPr/>
          <p:nvPr/>
        </p:nvSpPr>
        <p:spPr>
          <a:xfrm>
            <a:off x="6583680" y="6172154"/>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Engineering Mathematics</a:t>
            </a:r>
            <a:endParaRPr lang="en-US" sz="1100" dirty="0"/>
          </a:p>
        </p:txBody>
      </p:sp>
      <p:sp>
        <p:nvSpPr>
          <p:cNvPr id="15" name="Shape 13"/>
          <p:cNvSpPr/>
          <p:nvPr/>
        </p:nvSpPr>
        <p:spPr>
          <a:xfrm>
            <a:off x="640080" y="1783080"/>
            <a:ext cx="10881360" cy="77724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1783080"/>
            <a:ext cx="91440" cy="777240"/>
          </a:xfrm>
          <a:prstGeom prst="rect">
            <a:avLst/>
          </a:prstGeom>
          <a:solidFill>
            <a:srgbClr val="C9A961"/>
          </a:solidFill>
          <a:ln w="12700">
            <a:solidFill>
              <a:srgbClr val="C9A961"/>
            </a:solidFill>
            <a:prstDash val="solid"/>
          </a:ln>
        </p:spPr>
        <p:txBody>
          <a:bodyPr/>
          <a:p/>
        </p:txBody>
      </p:sp>
      <p:sp>
        <p:nvSpPr>
          <p:cNvPr id="17" name="Text 15"/>
          <p:cNvSpPr/>
          <p:nvPr/>
        </p:nvSpPr>
        <p:spPr>
          <a:xfrm>
            <a:off x="914400" y="1847088"/>
            <a:ext cx="7315200" cy="365760"/>
          </a:xfrm>
          <a:prstGeom prst="rect">
            <a:avLst/>
          </a:prstGeom>
          <a:noFill/>
          <a:ln/>
        </p:spPr>
        <p:txBody>
          <a:bodyPr wrap="square" lIns="0" tIns="0" rIns="0" bIns="0"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Universitas Islam Indonesia (UII)</a:t>
            </a:r>
            <a:endParaRPr lang="en-US" sz="1800" dirty="0"/>
          </a:p>
        </p:txBody>
      </p:sp>
      <p:sp>
        <p:nvSpPr>
          <p:cNvPr id="18" name="Text 16"/>
          <p:cNvSpPr/>
          <p:nvPr/>
        </p:nvSpPr>
        <p:spPr>
          <a:xfrm>
            <a:off x="8046720" y="1874519"/>
            <a:ext cx="2743200" cy="274320"/>
          </a:xfrm>
          <a:prstGeom prst="rect">
            <a:avLst/>
          </a:prstGeom>
          <a:noFill/>
          <a:ln/>
        </p:spPr>
        <p:txBody>
          <a:bodyPr wrap="square" lIns="0" tIns="0" rIns="0" bIns="0" rtlCol="0" anchor="ctr"/>
          <a:lstStyle/>
          <a:p>
            <a:pPr marL="0" indent="0" algn="r">
              <a:buNone/>
            </a:pPr>
            <a:r>
              <a:rPr lang="en-US" sz="1200" b="1" dirty="0">
                <a:solidFill>
                  <a:srgbClr val="C9A961"/>
                </a:solidFill>
                <a:latin typeface="Calibri" pitchFamily="34" charset="0"/>
                <a:ea typeface="Calibri" pitchFamily="34" charset="-122"/>
                <a:cs typeface="Calibri" pitchFamily="34" charset="-120"/>
              </a:rPr>
              <a:t>Sep 2026 – Present</a:t>
            </a:r>
            <a:endParaRPr lang="en-US" sz="1200" dirty="0"/>
          </a:p>
        </p:txBody>
      </p:sp>
      <p:sp>
        <p:nvSpPr>
          <p:cNvPr id="19" name="Text 17"/>
          <p:cNvSpPr/>
          <p:nvPr/>
        </p:nvSpPr>
        <p:spPr>
          <a:xfrm>
            <a:off x="914400" y="2212848"/>
            <a:ext cx="1033272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Master of Electrical Engineering · Faculty of Industrial Technology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5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03  ·  SKILLS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Technical Skills</a:t>
            </a:r>
            <a:endParaRPr lang="en-US" sz="2800" dirty="0"/>
          </a:p>
        </p:txBody>
      </p:sp>
      <p:sp>
        <p:nvSpPr>
          <p:cNvPr id="15" name="Shape 13"/>
          <p:cNvSpPr/>
          <p:nvPr/>
        </p:nvSpPr>
        <p:spPr>
          <a:xfrm>
            <a:off x="640080" y="1691640"/>
            <a:ext cx="5486400" cy="320040"/>
          </a:xfrm>
          <a:prstGeom prst="rect">
            <a:avLst/>
          </a:prstGeom>
          <a:solidFill>
            <a:srgbClr val="0A1628"/>
          </a:solidFill>
          <a:ln w="12700">
            <a:solidFill>
              <a:srgbClr val="0A1628"/>
            </a:solidFill>
            <a:prstDash val="solid"/>
          </a:ln>
        </p:spPr>
        <p:txBody>
          <a:bodyPr/>
          <a:p/>
        </p:txBody>
      </p:sp>
      <p:sp>
        <p:nvSpPr>
          <p:cNvPr id="16" name="Text 14"/>
          <p:cNvSpPr/>
          <p:nvPr/>
        </p:nvSpPr>
        <p:spPr>
          <a:xfrm>
            <a:off x="777240" y="169164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HARD SKILLS</a:t>
            </a:r>
            <a:endParaRPr lang="en-US" sz="1200" dirty="0"/>
          </a:p>
        </p:txBody>
      </p:sp>
      <p:sp>
        <p:nvSpPr>
          <p:cNvPr id="17" name="Text 15"/>
          <p:cNvSpPr/>
          <p:nvPr/>
        </p:nvSpPr>
        <p:spPr>
          <a:xfrm>
            <a:off x="640080" y="2103120"/>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POWER &amp; ELECTRICAL SYSTEMS</a:t>
            </a:r>
            <a:endParaRPr lang="en-US" sz="1000" dirty="0"/>
          </a:p>
        </p:txBody>
      </p:sp>
      <p:sp>
        <p:nvSpPr>
          <p:cNvPr id="18" name="Shape 16"/>
          <p:cNvSpPr/>
          <p:nvPr/>
        </p:nvSpPr>
        <p:spPr>
          <a:xfrm>
            <a:off x="685800" y="2377440"/>
            <a:ext cx="64008" cy="64008"/>
          </a:xfrm>
          <a:prstGeom prst="rect">
            <a:avLst/>
          </a:prstGeom>
          <a:solidFill>
            <a:srgbClr val="C9A961"/>
          </a:solidFill>
          <a:ln w="12700">
            <a:solidFill>
              <a:srgbClr val="C9A961"/>
            </a:solidFill>
            <a:prstDash val="solid"/>
          </a:ln>
        </p:spPr>
        <p:txBody>
          <a:bodyPr/>
          <a:p/>
        </p:txBody>
      </p:sp>
      <p:sp>
        <p:nvSpPr>
          <p:cNvPr id="19" name="Text 17"/>
          <p:cNvSpPr/>
          <p:nvPr/>
        </p:nvSpPr>
        <p:spPr>
          <a:xfrm>
            <a:off x="868680" y="232257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Electrical Troubleshooting &amp; Wiring</a:t>
            </a:r>
            <a:endParaRPr lang="en-US" sz="950" dirty="0"/>
          </a:p>
        </p:txBody>
      </p:sp>
      <p:sp>
        <p:nvSpPr>
          <p:cNvPr id="20" name="Shape 18"/>
          <p:cNvSpPr/>
          <p:nvPr/>
        </p:nvSpPr>
        <p:spPr>
          <a:xfrm>
            <a:off x="685800" y="2569464"/>
            <a:ext cx="64008" cy="64008"/>
          </a:xfrm>
          <a:prstGeom prst="rect">
            <a:avLst/>
          </a:prstGeom>
          <a:solidFill>
            <a:srgbClr val="C9A961"/>
          </a:solidFill>
          <a:ln w="12700">
            <a:solidFill>
              <a:srgbClr val="C9A961"/>
            </a:solidFill>
            <a:prstDash val="solid"/>
          </a:ln>
        </p:spPr>
        <p:txBody>
          <a:bodyPr/>
          <a:p/>
        </p:txBody>
      </p:sp>
      <p:sp>
        <p:nvSpPr>
          <p:cNvPr id="21" name="Text 19"/>
          <p:cNvSpPr/>
          <p:nvPr/>
        </p:nvSpPr>
        <p:spPr>
          <a:xfrm>
            <a:off x="868680" y="2514600"/>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Circuit Analysis (Analog &amp; Digital)</a:t>
            </a:r>
            <a:endParaRPr lang="en-US" sz="950" dirty="0"/>
          </a:p>
        </p:txBody>
      </p:sp>
      <p:sp>
        <p:nvSpPr>
          <p:cNvPr id="22" name="Shape 20"/>
          <p:cNvSpPr/>
          <p:nvPr/>
        </p:nvSpPr>
        <p:spPr>
          <a:xfrm>
            <a:off x="685800" y="2761488"/>
            <a:ext cx="64008" cy="64008"/>
          </a:xfrm>
          <a:prstGeom prst="rect">
            <a:avLst/>
          </a:prstGeom>
          <a:solidFill>
            <a:srgbClr val="C9A961"/>
          </a:solidFill>
          <a:ln w="12700">
            <a:solidFill>
              <a:srgbClr val="C9A961"/>
            </a:solidFill>
            <a:prstDash val="solid"/>
          </a:ln>
        </p:spPr>
        <p:txBody>
          <a:bodyPr/>
          <a:p/>
        </p:txBody>
      </p:sp>
      <p:sp>
        <p:nvSpPr>
          <p:cNvPr id="23" name="Text 21"/>
          <p:cNvSpPr/>
          <p:nvPr/>
        </p:nvSpPr>
        <p:spPr>
          <a:xfrm>
            <a:off x="868680" y="270662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Power System Reliability (SAIDI/SAIFI)</a:t>
            </a:r>
            <a:endParaRPr lang="en-US" sz="950" dirty="0"/>
          </a:p>
        </p:txBody>
      </p:sp>
      <p:sp>
        <p:nvSpPr>
          <p:cNvPr id="24" name="Shape 22"/>
          <p:cNvSpPr/>
          <p:nvPr/>
        </p:nvSpPr>
        <p:spPr>
          <a:xfrm>
            <a:off x="685800" y="2953512"/>
            <a:ext cx="64008" cy="64008"/>
          </a:xfrm>
          <a:prstGeom prst="rect">
            <a:avLst/>
          </a:prstGeom>
          <a:solidFill>
            <a:srgbClr val="C9A961"/>
          </a:solidFill>
          <a:ln w="12700">
            <a:solidFill>
              <a:srgbClr val="C9A961"/>
            </a:solidFill>
            <a:prstDash val="solid"/>
          </a:ln>
        </p:spPr>
        <p:txBody>
          <a:bodyPr/>
          <a:p/>
        </p:txBody>
      </p:sp>
      <p:sp>
        <p:nvSpPr>
          <p:cNvPr id="25" name="Text 23"/>
          <p:cNvSpPr/>
          <p:nvPr/>
        </p:nvSpPr>
        <p:spPr>
          <a:xfrm>
            <a:off x="868680" y="289864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PLC Programming · PID Control · LabVIEW</a:t>
            </a:r>
            <a:endParaRPr lang="en-US" sz="950" dirty="0"/>
          </a:p>
        </p:txBody>
      </p:sp>
      <p:sp>
        <p:nvSpPr>
          <p:cNvPr id="26" name="Text 24"/>
          <p:cNvSpPr/>
          <p:nvPr/>
        </p:nvSpPr>
        <p:spPr>
          <a:xfrm>
            <a:off x="640080" y="3163824"/>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EMBEDDED &amp; IOT</a:t>
            </a:r>
            <a:endParaRPr lang="en-US" sz="1000" dirty="0"/>
          </a:p>
        </p:txBody>
      </p:sp>
      <p:sp>
        <p:nvSpPr>
          <p:cNvPr id="27" name="Shape 25"/>
          <p:cNvSpPr/>
          <p:nvPr/>
        </p:nvSpPr>
        <p:spPr>
          <a:xfrm>
            <a:off x="685800" y="3438144"/>
            <a:ext cx="64008" cy="64008"/>
          </a:xfrm>
          <a:prstGeom prst="rect">
            <a:avLst/>
          </a:prstGeom>
          <a:solidFill>
            <a:srgbClr val="C9A961"/>
          </a:solidFill>
          <a:ln w="12700">
            <a:solidFill>
              <a:srgbClr val="C9A961"/>
            </a:solidFill>
            <a:prstDash val="solid"/>
          </a:ln>
        </p:spPr>
        <p:txBody>
          <a:bodyPr/>
          <a:p/>
        </p:txBody>
      </p:sp>
      <p:sp>
        <p:nvSpPr>
          <p:cNvPr id="28" name="Text 26"/>
          <p:cNvSpPr/>
          <p:nvPr/>
        </p:nvSpPr>
        <p:spPr>
          <a:xfrm>
            <a:off x="868680" y="3383280"/>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Microcontrollers (ESP32, Arduino, ATmega)</a:t>
            </a:r>
            <a:endParaRPr lang="en-US" sz="950" dirty="0"/>
          </a:p>
        </p:txBody>
      </p:sp>
      <p:sp>
        <p:nvSpPr>
          <p:cNvPr id="29" name="Shape 27"/>
          <p:cNvSpPr/>
          <p:nvPr/>
        </p:nvSpPr>
        <p:spPr>
          <a:xfrm>
            <a:off x="685800" y="3630168"/>
            <a:ext cx="64008" cy="64008"/>
          </a:xfrm>
          <a:prstGeom prst="rect">
            <a:avLst/>
          </a:prstGeom>
          <a:solidFill>
            <a:srgbClr val="C9A961"/>
          </a:solidFill>
          <a:ln w="12700">
            <a:solidFill>
              <a:srgbClr val="C9A961"/>
            </a:solidFill>
            <a:prstDash val="solid"/>
          </a:ln>
        </p:spPr>
        <p:txBody>
          <a:bodyPr/>
          <a:p/>
        </p:txBody>
      </p:sp>
      <p:sp>
        <p:nvSpPr>
          <p:cNvPr id="30" name="Text 28"/>
          <p:cNvSpPr/>
          <p:nvPr/>
        </p:nvSpPr>
        <p:spPr>
          <a:xfrm>
            <a:off x="868680" y="357530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Sensors (PZEM-004T, DHT, MQ Series)</a:t>
            </a:r>
            <a:endParaRPr lang="en-US" sz="950" dirty="0"/>
          </a:p>
        </p:txBody>
      </p:sp>
      <p:sp>
        <p:nvSpPr>
          <p:cNvPr id="31" name="Shape 29"/>
          <p:cNvSpPr/>
          <p:nvPr/>
        </p:nvSpPr>
        <p:spPr>
          <a:xfrm>
            <a:off x="685800" y="3822192"/>
            <a:ext cx="64008" cy="64008"/>
          </a:xfrm>
          <a:prstGeom prst="rect">
            <a:avLst/>
          </a:prstGeom>
          <a:solidFill>
            <a:srgbClr val="C9A961"/>
          </a:solidFill>
          <a:ln w="12700">
            <a:solidFill>
              <a:srgbClr val="C9A961"/>
            </a:solidFill>
            <a:prstDash val="solid"/>
          </a:ln>
        </p:spPr>
        <p:txBody>
          <a:bodyPr/>
          <a:p/>
        </p:txBody>
      </p:sp>
      <p:sp>
        <p:nvSpPr>
          <p:cNvPr id="32" name="Text 30"/>
          <p:cNvSpPr/>
          <p:nvPr/>
        </p:nvSpPr>
        <p:spPr>
          <a:xfrm>
            <a:off x="868680" y="376732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MQTT &amp; Real Time Telemetry · Industrial Control Panels</a:t>
            </a:r>
            <a:endParaRPr lang="en-US" sz="950" dirty="0"/>
          </a:p>
        </p:txBody>
      </p:sp>
      <p:sp>
        <p:nvSpPr>
          <p:cNvPr id="33" name="Shape 31"/>
          <p:cNvSpPr/>
          <p:nvPr/>
        </p:nvSpPr>
        <p:spPr>
          <a:xfrm>
            <a:off x="685800" y="4014216"/>
            <a:ext cx="64008" cy="64008"/>
          </a:xfrm>
          <a:prstGeom prst="rect">
            <a:avLst/>
          </a:prstGeom>
          <a:solidFill>
            <a:srgbClr val="C9A961"/>
          </a:solidFill>
          <a:ln w="12700">
            <a:solidFill>
              <a:srgbClr val="C9A961"/>
            </a:solidFill>
            <a:prstDash val="solid"/>
          </a:ln>
        </p:spPr>
        <p:txBody>
          <a:bodyPr/>
          <a:p/>
        </p:txBody>
      </p:sp>
      <p:sp>
        <p:nvSpPr>
          <p:cNvPr id="34" name="Text 32"/>
          <p:cNvSpPr/>
          <p:nvPr/>
        </p:nvSpPr>
        <p:spPr>
          <a:xfrm>
            <a:off x="868680" y="395935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Proteus, CodeVision AVR, VHDL/FPGA</a:t>
            </a:r>
            <a:endParaRPr lang="en-US" sz="950" dirty="0"/>
          </a:p>
        </p:txBody>
      </p:sp>
      <p:sp>
        <p:nvSpPr>
          <p:cNvPr id="35" name="Text 33"/>
          <p:cNvSpPr/>
          <p:nvPr/>
        </p:nvSpPr>
        <p:spPr>
          <a:xfrm>
            <a:off x="640080" y="4224528"/>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PROGRAMMING &amp; DATA</a:t>
            </a:r>
            <a:endParaRPr lang="en-US" sz="1000" dirty="0"/>
          </a:p>
        </p:txBody>
      </p:sp>
      <p:sp>
        <p:nvSpPr>
          <p:cNvPr id="36" name="Shape 34"/>
          <p:cNvSpPr/>
          <p:nvPr/>
        </p:nvSpPr>
        <p:spPr>
          <a:xfrm>
            <a:off x="685800" y="4498848"/>
            <a:ext cx="64008" cy="64008"/>
          </a:xfrm>
          <a:prstGeom prst="rect">
            <a:avLst/>
          </a:prstGeom>
          <a:solidFill>
            <a:srgbClr val="C9A961"/>
          </a:solidFill>
          <a:ln w="12700">
            <a:solidFill>
              <a:srgbClr val="C9A961"/>
            </a:solidFill>
            <a:prstDash val="solid"/>
          </a:ln>
        </p:spPr>
        <p:txBody>
          <a:bodyPr/>
          <a:p/>
        </p:txBody>
      </p:sp>
      <p:sp>
        <p:nvSpPr>
          <p:cNvPr id="37" name="Text 35"/>
          <p:cNvSpPr/>
          <p:nvPr/>
        </p:nvSpPr>
        <p:spPr>
          <a:xfrm>
            <a:off x="868680" y="444398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Python, C, C++, HTML, CSS, JS</a:t>
            </a:r>
            <a:endParaRPr lang="en-US" sz="950" dirty="0"/>
          </a:p>
        </p:txBody>
      </p:sp>
      <p:sp>
        <p:nvSpPr>
          <p:cNvPr id="38" name="Shape 36"/>
          <p:cNvSpPr/>
          <p:nvPr/>
        </p:nvSpPr>
        <p:spPr>
          <a:xfrm>
            <a:off x="685800" y="4690872"/>
            <a:ext cx="64008" cy="64008"/>
          </a:xfrm>
          <a:prstGeom prst="rect">
            <a:avLst/>
          </a:prstGeom>
          <a:solidFill>
            <a:srgbClr val="C9A961"/>
          </a:solidFill>
          <a:ln w="12700">
            <a:solidFill>
              <a:srgbClr val="C9A961"/>
            </a:solidFill>
            <a:prstDash val="solid"/>
          </a:ln>
        </p:spPr>
        <p:txBody>
          <a:bodyPr/>
          <a:p/>
        </p:txBody>
      </p:sp>
      <p:sp>
        <p:nvSpPr>
          <p:cNvPr id="39" name="Text 37"/>
          <p:cNvSpPr/>
          <p:nvPr/>
        </p:nvSpPr>
        <p:spPr>
          <a:xfrm>
            <a:off x="868680" y="463600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Machine Learning (scikit-learn, Isolation Forest, Random Forest)</a:t>
            </a:r>
            <a:endParaRPr lang="en-US" sz="950" dirty="0"/>
          </a:p>
        </p:txBody>
      </p:sp>
      <p:sp>
        <p:nvSpPr>
          <p:cNvPr id="40" name="Shape 38"/>
          <p:cNvSpPr/>
          <p:nvPr/>
        </p:nvSpPr>
        <p:spPr>
          <a:xfrm>
            <a:off x="685800" y="4882896"/>
            <a:ext cx="64008" cy="64008"/>
          </a:xfrm>
          <a:prstGeom prst="rect">
            <a:avLst/>
          </a:prstGeom>
          <a:solidFill>
            <a:srgbClr val="C9A961"/>
          </a:solidFill>
          <a:ln w="12700">
            <a:solidFill>
              <a:srgbClr val="C9A961"/>
            </a:solidFill>
            <a:prstDash val="solid"/>
          </a:ln>
        </p:spPr>
        <p:txBody>
          <a:bodyPr/>
          <a:p/>
        </p:txBody>
      </p:sp>
      <p:sp>
        <p:nvSpPr>
          <p:cNvPr id="41" name="Text 39"/>
          <p:cNvSpPr/>
          <p:nvPr/>
        </p:nvSpPr>
        <p:spPr>
          <a:xfrm>
            <a:off x="868680" y="482803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Generative AI: RAG, AI Agents, LLM Evaluation</a:t>
            </a:r>
            <a:endParaRPr lang="en-US" sz="950" dirty="0"/>
          </a:p>
        </p:txBody>
      </p:sp>
      <p:sp>
        <p:nvSpPr>
          <p:cNvPr id="42" name="Shape 40"/>
          <p:cNvSpPr/>
          <p:nvPr/>
        </p:nvSpPr>
        <p:spPr>
          <a:xfrm>
            <a:off x="685800" y="5074920"/>
            <a:ext cx="64008" cy="64008"/>
          </a:xfrm>
          <a:prstGeom prst="rect">
            <a:avLst/>
          </a:prstGeom>
          <a:solidFill>
            <a:srgbClr val="C9A961"/>
          </a:solidFill>
          <a:ln w="12700">
            <a:solidFill>
              <a:srgbClr val="C9A961"/>
            </a:solidFill>
            <a:prstDash val="solid"/>
          </a:ln>
        </p:spPr>
        <p:txBody>
          <a:bodyPr/>
          <a:p/>
        </p:txBody>
      </p:sp>
      <p:sp>
        <p:nvSpPr>
          <p:cNvPr id="43" name="Text 41"/>
          <p:cNvSpPr/>
          <p:nvPr/>
        </p:nvSpPr>
        <p:spPr>
          <a:xfrm>
            <a:off x="868680" y="502005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Claude, Gemini, Ollama · Pandas, Matplotlib</a:t>
            </a:r>
            <a:endParaRPr lang="en-US" sz="950" dirty="0"/>
          </a:p>
        </p:txBody>
      </p:sp>
      <p:sp>
        <p:nvSpPr>
          <p:cNvPr id="44" name="Text 42"/>
          <p:cNvSpPr/>
          <p:nvPr/>
        </p:nvSpPr>
        <p:spPr>
          <a:xfrm>
            <a:off x="640080" y="5285232"/>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TOOLS &amp; NETWORKING</a:t>
            </a:r>
            <a:endParaRPr lang="en-US" sz="1000" dirty="0"/>
          </a:p>
        </p:txBody>
      </p:sp>
      <p:sp>
        <p:nvSpPr>
          <p:cNvPr id="45" name="Shape 43"/>
          <p:cNvSpPr/>
          <p:nvPr/>
        </p:nvSpPr>
        <p:spPr>
          <a:xfrm>
            <a:off x="685800" y="5559552"/>
            <a:ext cx="64008" cy="64008"/>
          </a:xfrm>
          <a:prstGeom prst="rect">
            <a:avLst/>
          </a:prstGeom>
          <a:solidFill>
            <a:srgbClr val="C9A961"/>
          </a:solidFill>
          <a:ln w="12700">
            <a:solidFill>
              <a:srgbClr val="C9A961"/>
            </a:solidFill>
            <a:prstDash val="solid"/>
          </a:ln>
        </p:spPr>
        <p:txBody>
          <a:bodyPr/>
          <a:p/>
        </p:txBody>
      </p:sp>
      <p:sp>
        <p:nvSpPr>
          <p:cNvPr id="46" name="Text 44"/>
          <p:cNvSpPr/>
          <p:nvPr/>
        </p:nvSpPr>
        <p:spPr>
          <a:xfrm>
            <a:off x="868680" y="550468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ERPNext, Docker, FastAPI, TimescaleDB, Firebase</a:t>
            </a:r>
            <a:endParaRPr lang="en-US" sz="950" dirty="0"/>
          </a:p>
        </p:txBody>
      </p:sp>
      <p:sp>
        <p:nvSpPr>
          <p:cNvPr id="47" name="Shape 45"/>
          <p:cNvSpPr/>
          <p:nvPr/>
        </p:nvSpPr>
        <p:spPr>
          <a:xfrm>
            <a:off x="685800" y="5751576"/>
            <a:ext cx="64008" cy="64008"/>
          </a:xfrm>
          <a:prstGeom prst="rect">
            <a:avLst/>
          </a:prstGeom>
          <a:solidFill>
            <a:srgbClr val="C9A961"/>
          </a:solidFill>
          <a:ln w="12700">
            <a:solidFill>
              <a:srgbClr val="C9A961"/>
            </a:solidFill>
            <a:prstDash val="solid"/>
          </a:ln>
        </p:spPr>
        <p:txBody>
          <a:bodyPr/>
          <a:p/>
        </p:txBody>
      </p:sp>
      <p:sp>
        <p:nvSpPr>
          <p:cNvPr id="48" name="Text 46"/>
          <p:cNvSpPr/>
          <p:nvPr/>
        </p:nvSpPr>
        <p:spPr>
          <a:xfrm>
            <a:off x="868680" y="569671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Computer Networking (HCIA-Datacom)</a:t>
            </a:r>
            <a:endParaRPr lang="en-US" sz="950" dirty="0"/>
          </a:p>
        </p:txBody>
      </p:sp>
      <p:sp>
        <p:nvSpPr>
          <p:cNvPr id="49" name="Shape 47"/>
          <p:cNvSpPr/>
          <p:nvPr/>
        </p:nvSpPr>
        <p:spPr>
          <a:xfrm>
            <a:off x="685800" y="5943600"/>
            <a:ext cx="64008" cy="64008"/>
          </a:xfrm>
          <a:prstGeom prst="rect">
            <a:avLst/>
          </a:prstGeom>
          <a:solidFill>
            <a:srgbClr val="C9A961"/>
          </a:solidFill>
          <a:ln w="12700">
            <a:solidFill>
              <a:srgbClr val="C9A961"/>
            </a:solidFill>
            <a:prstDash val="solid"/>
          </a:ln>
        </p:spPr>
        <p:txBody>
          <a:bodyPr/>
          <a:p/>
        </p:txBody>
      </p:sp>
      <p:sp>
        <p:nvSpPr>
          <p:cNvPr id="50" name="Text 48"/>
          <p:cNvSpPr/>
          <p:nvPr/>
        </p:nvSpPr>
        <p:spPr>
          <a:xfrm>
            <a:off x="868680" y="588873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Git · MATLAB · Microsoft Office</a:t>
            </a:r>
            <a:endParaRPr lang="en-US" sz="950" dirty="0"/>
          </a:p>
        </p:txBody>
      </p:sp>
      <p:sp>
        <p:nvSpPr>
          <p:cNvPr id="51" name="Shape 49"/>
          <p:cNvSpPr/>
          <p:nvPr/>
        </p:nvSpPr>
        <p:spPr>
          <a:xfrm>
            <a:off x="6400800" y="1691640"/>
            <a:ext cx="5120640" cy="320040"/>
          </a:xfrm>
          <a:prstGeom prst="rect">
            <a:avLst/>
          </a:prstGeom>
          <a:solidFill>
            <a:srgbClr val="0A1628"/>
          </a:solidFill>
          <a:ln w="12700">
            <a:solidFill>
              <a:srgbClr val="0A1628"/>
            </a:solidFill>
            <a:prstDash val="solid"/>
          </a:ln>
        </p:spPr>
        <p:txBody>
          <a:bodyPr/>
          <a:p/>
        </p:txBody>
      </p:sp>
      <p:sp>
        <p:nvSpPr>
          <p:cNvPr id="52" name="Text 50"/>
          <p:cNvSpPr/>
          <p:nvPr/>
        </p:nvSpPr>
        <p:spPr>
          <a:xfrm>
            <a:off x="6537960" y="169164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SOFT SKILLS</a:t>
            </a:r>
            <a:endParaRPr lang="en-US" sz="1200" dirty="0"/>
          </a:p>
        </p:txBody>
      </p:sp>
      <p:sp>
        <p:nvSpPr>
          <p:cNvPr id="53" name="Text 51"/>
          <p:cNvSpPr/>
          <p:nvPr/>
        </p:nvSpPr>
        <p:spPr>
          <a:xfrm>
            <a:off x="6400800" y="210312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Critical &amp; Analytical Thinking</a:t>
            </a:r>
            <a:endParaRPr lang="en-US" sz="1000" dirty="0"/>
          </a:p>
        </p:txBody>
      </p:sp>
      <p:sp>
        <p:nvSpPr>
          <p:cNvPr id="54" name="Shape 52"/>
          <p:cNvSpPr/>
          <p:nvPr/>
        </p:nvSpPr>
        <p:spPr>
          <a:xfrm>
            <a:off x="6400800" y="2304288"/>
            <a:ext cx="4937760" cy="64008"/>
          </a:xfrm>
          <a:prstGeom prst="rect">
            <a:avLst/>
          </a:prstGeom>
          <a:solidFill>
            <a:srgbClr val="E8E0CC"/>
          </a:solidFill>
          <a:ln w="12700">
            <a:solidFill>
              <a:srgbClr val="E8E0CC"/>
            </a:solidFill>
            <a:prstDash val="solid"/>
          </a:ln>
        </p:spPr>
        <p:txBody>
          <a:bodyPr/>
          <a:p/>
        </p:txBody>
      </p:sp>
      <p:sp>
        <p:nvSpPr>
          <p:cNvPr id="55" name="Shape 53"/>
          <p:cNvSpPr/>
          <p:nvPr/>
        </p:nvSpPr>
        <p:spPr>
          <a:xfrm>
            <a:off x="6400800" y="2304288"/>
            <a:ext cx="4443984" cy="64008"/>
          </a:xfrm>
          <a:prstGeom prst="rect">
            <a:avLst/>
          </a:prstGeom>
          <a:solidFill>
            <a:srgbClr val="C9A961"/>
          </a:solidFill>
          <a:ln w="12700">
            <a:solidFill>
              <a:srgbClr val="C9A961"/>
            </a:solidFill>
            <a:prstDash val="solid"/>
          </a:ln>
        </p:spPr>
        <p:txBody>
          <a:bodyPr/>
          <a:p/>
        </p:txBody>
      </p:sp>
      <p:sp>
        <p:nvSpPr>
          <p:cNvPr id="56" name="Text 54"/>
          <p:cNvSpPr/>
          <p:nvPr/>
        </p:nvSpPr>
        <p:spPr>
          <a:xfrm>
            <a:off x="6400800" y="246888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Problem Solving</a:t>
            </a:r>
            <a:endParaRPr lang="en-US" sz="1000" dirty="0"/>
          </a:p>
        </p:txBody>
      </p:sp>
      <p:sp>
        <p:nvSpPr>
          <p:cNvPr id="57" name="Shape 55"/>
          <p:cNvSpPr/>
          <p:nvPr/>
        </p:nvSpPr>
        <p:spPr>
          <a:xfrm>
            <a:off x="6400800" y="2670048"/>
            <a:ext cx="4937760" cy="64008"/>
          </a:xfrm>
          <a:prstGeom prst="rect">
            <a:avLst/>
          </a:prstGeom>
          <a:solidFill>
            <a:srgbClr val="E8E0CC"/>
          </a:solidFill>
          <a:ln w="12700">
            <a:solidFill>
              <a:srgbClr val="E8E0CC"/>
            </a:solidFill>
            <a:prstDash val="solid"/>
          </a:ln>
        </p:spPr>
        <p:txBody>
          <a:bodyPr/>
          <a:p/>
        </p:txBody>
      </p:sp>
      <p:sp>
        <p:nvSpPr>
          <p:cNvPr id="58" name="Shape 56"/>
          <p:cNvSpPr/>
          <p:nvPr/>
        </p:nvSpPr>
        <p:spPr>
          <a:xfrm>
            <a:off x="6400800" y="2670048"/>
            <a:ext cx="4443984" cy="64008"/>
          </a:xfrm>
          <a:prstGeom prst="rect">
            <a:avLst/>
          </a:prstGeom>
          <a:solidFill>
            <a:srgbClr val="C9A961"/>
          </a:solidFill>
          <a:ln w="12700">
            <a:solidFill>
              <a:srgbClr val="C9A961"/>
            </a:solidFill>
            <a:prstDash val="solid"/>
          </a:ln>
        </p:spPr>
        <p:txBody>
          <a:bodyPr/>
          <a:p/>
        </p:txBody>
      </p:sp>
      <p:sp>
        <p:nvSpPr>
          <p:cNvPr id="59" name="Text 57"/>
          <p:cNvSpPr/>
          <p:nvPr/>
        </p:nvSpPr>
        <p:spPr>
          <a:xfrm>
            <a:off x="6400800" y="283464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Teamwork &amp; Collaboration</a:t>
            </a:r>
            <a:endParaRPr lang="en-US" sz="1000" dirty="0"/>
          </a:p>
        </p:txBody>
      </p:sp>
      <p:sp>
        <p:nvSpPr>
          <p:cNvPr id="60" name="Shape 58"/>
          <p:cNvSpPr/>
          <p:nvPr/>
        </p:nvSpPr>
        <p:spPr>
          <a:xfrm>
            <a:off x="6400800" y="3035808"/>
            <a:ext cx="4937760" cy="64008"/>
          </a:xfrm>
          <a:prstGeom prst="rect">
            <a:avLst/>
          </a:prstGeom>
          <a:solidFill>
            <a:srgbClr val="E8E0CC"/>
          </a:solidFill>
          <a:ln w="12700">
            <a:solidFill>
              <a:srgbClr val="E8E0CC"/>
            </a:solidFill>
            <a:prstDash val="solid"/>
          </a:ln>
        </p:spPr>
        <p:txBody>
          <a:bodyPr/>
          <a:p/>
        </p:txBody>
      </p:sp>
      <p:sp>
        <p:nvSpPr>
          <p:cNvPr id="61" name="Shape 59"/>
          <p:cNvSpPr/>
          <p:nvPr/>
        </p:nvSpPr>
        <p:spPr>
          <a:xfrm>
            <a:off x="6400800" y="3035808"/>
            <a:ext cx="4542739" cy="64008"/>
          </a:xfrm>
          <a:prstGeom prst="rect">
            <a:avLst/>
          </a:prstGeom>
          <a:solidFill>
            <a:srgbClr val="C9A961"/>
          </a:solidFill>
          <a:ln w="12700">
            <a:solidFill>
              <a:srgbClr val="C9A961"/>
            </a:solidFill>
            <a:prstDash val="solid"/>
          </a:ln>
        </p:spPr>
        <p:txBody>
          <a:bodyPr/>
          <a:p/>
        </p:txBody>
      </p:sp>
      <p:sp>
        <p:nvSpPr>
          <p:cNvPr id="62" name="Text 60"/>
          <p:cNvSpPr/>
          <p:nvPr/>
        </p:nvSpPr>
        <p:spPr>
          <a:xfrm>
            <a:off x="6400800" y="320040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Communication &amp; Public Speaking</a:t>
            </a:r>
            <a:endParaRPr lang="en-US" sz="1000" dirty="0"/>
          </a:p>
        </p:txBody>
      </p:sp>
      <p:sp>
        <p:nvSpPr>
          <p:cNvPr id="63" name="Shape 61"/>
          <p:cNvSpPr/>
          <p:nvPr/>
        </p:nvSpPr>
        <p:spPr>
          <a:xfrm>
            <a:off x="6400800" y="3401568"/>
            <a:ext cx="4937760" cy="64008"/>
          </a:xfrm>
          <a:prstGeom prst="rect">
            <a:avLst/>
          </a:prstGeom>
          <a:solidFill>
            <a:srgbClr val="E8E0CC"/>
          </a:solidFill>
          <a:ln w="12700">
            <a:solidFill>
              <a:srgbClr val="E8E0CC"/>
            </a:solidFill>
            <a:prstDash val="solid"/>
          </a:ln>
        </p:spPr>
        <p:txBody>
          <a:bodyPr/>
          <a:p/>
        </p:txBody>
      </p:sp>
      <p:sp>
        <p:nvSpPr>
          <p:cNvPr id="64" name="Shape 62"/>
          <p:cNvSpPr/>
          <p:nvPr/>
        </p:nvSpPr>
        <p:spPr>
          <a:xfrm>
            <a:off x="6400800" y="3401568"/>
            <a:ext cx="4197096" cy="64008"/>
          </a:xfrm>
          <a:prstGeom prst="rect">
            <a:avLst/>
          </a:prstGeom>
          <a:solidFill>
            <a:srgbClr val="C9A961"/>
          </a:solidFill>
          <a:ln w="12700">
            <a:solidFill>
              <a:srgbClr val="C9A961"/>
            </a:solidFill>
            <a:prstDash val="solid"/>
          </a:ln>
        </p:spPr>
        <p:txBody>
          <a:bodyPr/>
          <a:p/>
        </p:txBody>
      </p:sp>
      <p:sp>
        <p:nvSpPr>
          <p:cNvPr id="65" name="Text 63"/>
          <p:cNvSpPr/>
          <p:nvPr/>
        </p:nvSpPr>
        <p:spPr>
          <a:xfrm>
            <a:off x="6400800" y="356616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Leadership &amp; Coordination</a:t>
            </a:r>
            <a:endParaRPr lang="en-US" sz="1000" dirty="0"/>
          </a:p>
        </p:txBody>
      </p:sp>
      <p:sp>
        <p:nvSpPr>
          <p:cNvPr id="66" name="Shape 64"/>
          <p:cNvSpPr/>
          <p:nvPr/>
        </p:nvSpPr>
        <p:spPr>
          <a:xfrm>
            <a:off x="6400800" y="3767328"/>
            <a:ext cx="4937760" cy="64008"/>
          </a:xfrm>
          <a:prstGeom prst="rect">
            <a:avLst/>
          </a:prstGeom>
          <a:solidFill>
            <a:srgbClr val="E8E0CC"/>
          </a:solidFill>
          <a:ln w="12700">
            <a:solidFill>
              <a:srgbClr val="E8E0CC"/>
            </a:solidFill>
            <a:prstDash val="solid"/>
          </a:ln>
        </p:spPr>
        <p:txBody>
          <a:bodyPr/>
          <a:p/>
        </p:txBody>
      </p:sp>
      <p:sp>
        <p:nvSpPr>
          <p:cNvPr id="67" name="Shape 65"/>
          <p:cNvSpPr/>
          <p:nvPr/>
        </p:nvSpPr>
        <p:spPr>
          <a:xfrm>
            <a:off x="6400800" y="3767328"/>
            <a:ext cx="4345229" cy="64008"/>
          </a:xfrm>
          <a:prstGeom prst="rect">
            <a:avLst/>
          </a:prstGeom>
          <a:solidFill>
            <a:srgbClr val="C9A961"/>
          </a:solidFill>
          <a:ln w="12700">
            <a:solidFill>
              <a:srgbClr val="C9A961"/>
            </a:solidFill>
            <a:prstDash val="solid"/>
          </a:ln>
        </p:spPr>
        <p:txBody>
          <a:bodyPr/>
          <a:p/>
        </p:txBody>
      </p:sp>
      <p:sp>
        <p:nvSpPr>
          <p:cNvPr id="68" name="Text 66"/>
          <p:cNvSpPr/>
          <p:nvPr/>
        </p:nvSpPr>
        <p:spPr>
          <a:xfrm>
            <a:off x="6400800" y="393192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Time Management</a:t>
            </a:r>
            <a:endParaRPr lang="en-US" sz="1000" dirty="0"/>
          </a:p>
        </p:txBody>
      </p:sp>
      <p:sp>
        <p:nvSpPr>
          <p:cNvPr id="69" name="Shape 67"/>
          <p:cNvSpPr/>
          <p:nvPr/>
        </p:nvSpPr>
        <p:spPr>
          <a:xfrm>
            <a:off x="6400800" y="4133088"/>
            <a:ext cx="4937760" cy="64008"/>
          </a:xfrm>
          <a:prstGeom prst="rect">
            <a:avLst/>
          </a:prstGeom>
          <a:solidFill>
            <a:srgbClr val="E8E0CC"/>
          </a:solidFill>
          <a:ln w="12700">
            <a:solidFill>
              <a:srgbClr val="E8E0CC"/>
            </a:solidFill>
            <a:prstDash val="solid"/>
          </a:ln>
        </p:spPr>
        <p:txBody>
          <a:bodyPr/>
          <a:p/>
        </p:txBody>
      </p:sp>
      <p:sp>
        <p:nvSpPr>
          <p:cNvPr id="70" name="Shape 68"/>
          <p:cNvSpPr/>
          <p:nvPr/>
        </p:nvSpPr>
        <p:spPr>
          <a:xfrm>
            <a:off x="6400800" y="4133088"/>
            <a:ext cx="4197096" cy="64008"/>
          </a:xfrm>
          <a:prstGeom prst="rect">
            <a:avLst/>
          </a:prstGeom>
          <a:solidFill>
            <a:srgbClr val="C9A961"/>
          </a:solidFill>
          <a:ln w="12700">
            <a:solidFill>
              <a:srgbClr val="C9A961"/>
            </a:solidFill>
            <a:prstDash val="solid"/>
          </a:ln>
        </p:spPr>
        <p:txBody>
          <a:bodyPr/>
          <a:p/>
        </p:txBody>
      </p:sp>
      <p:sp>
        <p:nvSpPr>
          <p:cNvPr id="71" name="Text 69"/>
          <p:cNvSpPr/>
          <p:nvPr/>
        </p:nvSpPr>
        <p:spPr>
          <a:xfrm>
            <a:off x="6400800" y="429768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Adaptability &amp; Fast Learning</a:t>
            </a:r>
            <a:endParaRPr lang="en-US" sz="1000" dirty="0"/>
          </a:p>
        </p:txBody>
      </p:sp>
      <p:sp>
        <p:nvSpPr>
          <p:cNvPr id="72" name="Shape 70"/>
          <p:cNvSpPr/>
          <p:nvPr/>
        </p:nvSpPr>
        <p:spPr>
          <a:xfrm>
            <a:off x="6400800" y="4498848"/>
            <a:ext cx="4937760" cy="64008"/>
          </a:xfrm>
          <a:prstGeom prst="rect">
            <a:avLst/>
          </a:prstGeom>
          <a:solidFill>
            <a:srgbClr val="E8E0CC"/>
          </a:solidFill>
          <a:ln w="12700">
            <a:solidFill>
              <a:srgbClr val="E8E0CC"/>
            </a:solidFill>
            <a:prstDash val="solid"/>
          </a:ln>
        </p:spPr>
        <p:txBody>
          <a:bodyPr/>
          <a:p/>
        </p:txBody>
      </p:sp>
      <p:sp>
        <p:nvSpPr>
          <p:cNvPr id="73" name="Shape 71"/>
          <p:cNvSpPr/>
          <p:nvPr/>
        </p:nvSpPr>
        <p:spPr>
          <a:xfrm>
            <a:off x="6400800" y="4498848"/>
            <a:ext cx="4690872" cy="64008"/>
          </a:xfrm>
          <a:prstGeom prst="rect">
            <a:avLst/>
          </a:prstGeom>
          <a:solidFill>
            <a:srgbClr val="C9A961"/>
          </a:solidFill>
          <a:ln w="12700">
            <a:solidFill>
              <a:srgbClr val="C9A961"/>
            </a:solidFill>
            <a:prstDash val="solid"/>
          </a:ln>
        </p:spPr>
        <p:txBody>
          <a:bodyPr/>
          <a:p/>
        </p:txBody>
      </p:sp>
      <p:sp>
        <p:nvSpPr>
          <p:cNvPr id="74" name="Text 72"/>
          <p:cNvSpPr/>
          <p:nvPr/>
        </p:nvSpPr>
        <p:spPr>
          <a:xfrm>
            <a:off x="6400800" y="466344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Detail-Oriented &amp; Initiative</a:t>
            </a:r>
            <a:endParaRPr lang="en-US" sz="1000" dirty="0"/>
          </a:p>
        </p:txBody>
      </p:sp>
      <p:sp>
        <p:nvSpPr>
          <p:cNvPr id="75" name="Shape 73"/>
          <p:cNvSpPr/>
          <p:nvPr/>
        </p:nvSpPr>
        <p:spPr>
          <a:xfrm>
            <a:off x="6400800" y="4864608"/>
            <a:ext cx="4937760" cy="64008"/>
          </a:xfrm>
          <a:prstGeom prst="rect">
            <a:avLst/>
          </a:prstGeom>
          <a:solidFill>
            <a:srgbClr val="E8E0CC"/>
          </a:solidFill>
          <a:ln w="12700">
            <a:solidFill>
              <a:srgbClr val="E8E0CC"/>
            </a:solidFill>
            <a:prstDash val="solid"/>
          </a:ln>
        </p:spPr>
        <p:txBody>
          <a:bodyPr/>
          <a:p/>
        </p:txBody>
      </p:sp>
      <p:sp>
        <p:nvSpPr>
          <p:cNvPr id="76" name="Shape 74"/>
          <p:cNvSpPr/>
          <p:nvPr/>
        </p:nvSpPr>
        <p:spPr>
          <a:xfrm>
            <a:off x="6400800" y="4864608"/>
            <a:ext cx="4443984" cy="64008"/>
          </a:xfrm>
          <a:prstGeom prst="rect">
            <a:avLst/>
          </a:prstGeom>
          <a:solidFill>
            <a:srgbClr val="C9A961"/>
          </a:solidFill>
          <a:ln w="12700">
            <a:solidFill>
              <a:srgbClr val="C9A961"/>
            </a:solidFill>
            <a:prstDash val="solid"/>
          </a:ln>
        </p:spPr>
        <p:txBody>
          <a:bodyPr/>
          <a:p/>
        </p:txBody>
      </p:sp>
      <p:sp>
        <p:nvSpPr>
          <p:cNvPr id="77" name="Shape 75"/>
          <p:cNvSpPr/>
          <p:nvPr/>
        </p:nvSpPr>
        <p:spPr>
          <a:xfrm>
            <a:off x="6400800" y="5074920"/>
            <a:ext cx="5120640" cy="320040"/>
          </a:xfrm>
          <a:prstGeom prst="rect">
            <a:avLst/>
          </a:prstGeom>
          <a:solidFill>
            <a:srgbClr val="0A1628"/>
          </a:solidFill>
          <a:ln w="12700">
            <a:solidFill>
              <a:srgbClr val="0A1628"/>
            </a:solidFill>
            <a:prstDash val="solid"/>
          </a:ln>
        </p:spPr>
        <p:txBody>
          <a:bodyPr/>
          <a:p/>
        </p:txBody>
      </p:sp>
      <p:sp>
        <p:nvSpPr>
          <p:cNvPr id="78" name="Text 76"/>
          <p:cNvSpPr/>
          <p:nvPr/>
        </p:nvSpPr>
        <p:spPr>
          <a:xfrm>
            <a:off x="6537960" y="507492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LANGUAGES</a:t>
            </a:r>
            <a:endParaRPr lang="en-US" sz="1200" dirty="0"/>
          </a:p>
        </p:txBody>
      </p:sp>
      <p:sp>
        <p:nvSpPr>
          <p:cNvPr id="79" name="Text 77"/>
          <p:cNvSpPr/>
          <p:nvPr/>
        </p:nvSpPr>
        <p:spPr>
          <a:xfrm>
            <a:off x="6400800" y="5440680"/>
            <a:ext cx="5120640" cy="548640"/>
          </a:xfrm>
          <a:prstGeom prst="rect">
            <a:avLst/>
          </a:prstGeom>
          <a:noFill/>
          <a:ln/>
        </p:spPr>
        <p:txBody>
          <a:bodyPr wrap="square" lIns="0" tIns="0" rIns="0" bIns="0" rtlCol="0" anchor="ctr"/>
          <a:lstStyle/>
          <a:p>
            <a:pPr marL="0" indent="0">
              <a:buNone/>
            </a:pPr>
            <a:r>
              <a:rPr lang="en-US" sz="1100" b="1" dirty="0">
                <a:solidFill>
                  <a:srgbClr val="1A1A1A"/>
                </a:solidFill>
                <a:latin typeface="Calibri" pitchFamily="34" charset="0"/>
                <a:ea typeface="Calibri" pitchFamily="34" charset="-122"/>
                <a:cs typeface="Calibri" pitchFamily="34" charset="-120"/>
              </a:rPr>
              <a:t>Bahasa Indonesia </a:t>
            </a:r>
            <a:r>
              <a:rPr lang="en-US" sz="1100" i="1" dirty="0">
                <a:solidFill>
                  <a:srgbClr val="C9A961"/>
                </a:solidFill>
                <a:latin typeface="Calibri" pitchFamily="34" charset="0"/>
                <a:ea typeface="Calibri" pitchFamily="34" charset="-122"/>
                <a:cs typeface="Calibri" pitchFamily="34" charset="-120"/>
              </a:rPr>
              <a:t>— Native</a:t>
            </a:r>
            <a:endParaRPr lang="en-US" sz="1100" dirty="0"/>
          </a:p>
          <a:p>
            <a:pPr marL="0" indent="0">
              <a:buNone/>
            </a:pPr>
            <a:r>
              <a:rPr lang="en-US" sz="1100" b="1" dirty="0">
                <a:solidFill>
                  <a:srgbClr val="1A1A1A"/>
                </a:solidFill>
                <a:latin typeface="Calibri" pitchFamily="34" charset="0"/>
                <a:ea typeface="Calibri" pitchFamily="34" charset="-122"/>
                <a:cs typeface="Calibri" pitchFamily="34" charset="-120"/>
              </a:rPr>
              <a:t>English </a:t>
            </a:r>
            <a:r>
              <a:rPr lang="en-US" sz="1100" i="1" dirty="0">
                <a:solidFill>
                  <a:srgbClr val="C9A961"/>
                </a:solidFill>
                <a:latin typeface="Calibri" pitchFamily="34" charset="0"/>
                <a:ea typeface="Calibri" pitchFamily="34" charset="-122"/>
                <a:cs typeface="Calibri" pitchFamily="34" charset="-120"/>
              </a:rPr>
              <a:t>— Professional Working Proficiency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8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FINAL PROJECT · 2025</a:t>
            </a:r>
            <a:endParaRPr lang="en-US" sz="1000" dirty="0"/>
          </a:p>
        </p:txBody>
      </p:sp>
      <p:sp>
        <p:nvSpPr>
          <p:cNvPr id="15" name="Text 13"/>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SEMS: Smart Energy Management System</a:t>
            </a:r>
            <a:endParaRPr lang="en-US" sz="2400" dirty="0"/>
          </a:p>
        </p:txBody>
      </p:sp>
      <p:sp>
        <p:nvSpPr>
          <p:cNvPr id="16" name="Text 14"/>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(Hardware, Firmware, ML, Web, AI Integration)</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sems.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57150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5715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21" name="Shape 18"/>
          <p:cNvSpPr/>
          <p:nvPr/>
        </p:nvSpPr>
        <p:spPr>
          <a:xfrm>
            <a:off x="1303020" y="2606040"/>
            <a:ext cx="45720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03020"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IoT</a:t>
            </a:r>
            <a:endParaRPr lang="en-US" sz="1000" dirty="0"/>
          </a:p>
        </p:txBody>
      </p:sp>
      <p:sp>
        <p:nvSpPr>
          <p:cNvPr id="23" name="Shape 20"/>
          <p:cNvSpPr/>
          <p:nvPr/>
        </p:nvSpPr>
        <p:spPr>
          <a:xfrm>
            <a:off x="1851660" y="2606040"/>
            <a:ext cx="1193292"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851660" y="2606040"/>
            <a:ext cx="119329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Random Forest</a:t>
            </a:r>
            <a:endParaRPr lang="en-US" sz="1000" dirty="0"/>
          </a:p>
        </p:txBody>
      </p:sp>
      <p:sp>
        <p:nvSpPr>
          <p:cNvPr id="25" name="Shape 22"/>
          <p:cNvSpPr/>
          <p:nvPr/>
        </p:nvSpPr>
        <p:spPr>
          <a:xfrm>
            <a:off x="3136392" y="2606040"/>
            <a:ext cx="1193292"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136392" y="2606040"/>
            <a:ext cx="119329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Generative AI</a:t>
            </a:r>
            <a:endParaRPr lang="en-US" sz="1000" dirty="0"/>
          </a:p>
        </p:txBody>
      </p:sp>
      <p:sp>
        <p:nvSpPr>
          <p:cNvPr id="27" name="Shape 24"/>
          <p:cNvSpPr/>
          <p:nvPr/>
        </p:nvSpPr>
        <p:spPr>
          <a:xfrm>
            <a:off x="4421124" y="2606040"/>
            <a:ext cx="804672" cy="292608"/>
          </a:xfrm>
          <a:prstGeom prst="rect">
            <a:avLst/>
          </a:prstGeom>
          <a:solidFill>
            <a:srgbClr val="0A1628"/>
          </a:solidFill>
          <a:ln w="12700">
            <a:solidFill>
              <a:srgbClr val="0A1628"/>
            </a:solidFill>
            <a:prstDash val="solid"/>
          </a:ln>
        </p:spPr>
        <p:txBody>
          <a:bodyPr/>
          <a:p/>
        </p:txBody>
      </p:sp>
      <p:sp>
        <p:nvSpPr>
          <p:cNvPr id="28" name="Text 25"/>
          <p:cNvSpPr/>
          <p:nvPr/>
        </p:nvSpPr>
        <p:spPr>
          <a:xfrm>
            <a:off x="4421124"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29" name="Text 26"/>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end-to-end smart energy monitoring and recommendation platform that combines real-time power telemetry, predictive machine learning, and generative AI to help Indonesian households reduce electricity consumption. The system integrates ESP32-based hardware, a Random Forest forecasting model, Firebase real-time database, and Google Gemini 2.5 Flash to deliver context-aware energy advice.</a:t>
            </a:r>
            <a:endParaRPr lang="en-US" sz="1400" dirty="0"/>
          </a:p>
        </p:txBody>
      </p:sp>
      <p:sp>
        <p:nvSpPr>
          <p:cNvPr id="30" name="Text 27"/>
          <p:cNvSpPr/>
          <p:nvPr/>
        </p:nvSpPr>
        <p:spPr>
          <a:xfrm>
            <a:off x="640080" y="4572000"/>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31" name="Shape 28"/>
          <p:cNvSpPr/>
          <p:nvPr/>
        </p:nvSpPr>
        <p:spPr>
          <a:xfrm>
            <a:off x="640080" y="4864608"/>
            <a:ext cx="457200" cy="22860"/>
          </a:xfrm>
          <a:prstGeom prst="rect">
            <a:avLst/>
          </a:prstGeom>
          <a:solidFill>
            <a:srgbClr val="C9A961"/>
          </a:solidFill>
          <a:ln w="12700">
            <a:solidFill>
              <a:srgbClr val="C9A961"/>
            </a:solidFill>
            <a:prstDash val="solid"/>
          </a:ln>
        </p:spPr>
        <p:txBody>
          <a:bodyPr/>
          <a:p/>
        </p:txBody>
      </p:sp>
      <p:sp>
        <p:nvSpPr>
          <p:cNvPr id="32" name="Text 29"/>
          <p:cNvSpPr/>
          <p:nvPr/>
        </p:nvSpPr>
        <p:spPr>
          <a:xfrm>
            <a:off x="640080" y="502920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power monitoring with ESP32 + PZEM-004T + DHT22 sensors over MQTT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Random Forest model achieved R² 0.9893 (98.93% accuracy) for monthly forecasting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Google Gemini 2.5 Flash integration for personalized energy-saving recommendations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Firebase dashboard with PLN tariff calculator (450VA – 5500VA customer profiles)</a:t>
            </a:r>
            <a:endParaRPr lang="en-US" sz="1400" dirty="0"/>
          </a:p>
        </p:txBody>
      </p:sp>
      <p:sp>
        <p:nvSpPr>
          <p:cNvPr id="33" name="Shape 30"/>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4" name="Shape 31"/>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5" name="Image 1" descr="/home/claude/project_imgs/sems_panel.jpg"/>
          <p:cNvPicPr>
            <a:picLocks noChangeAspect="1"/>
          </p:cNvPicPr>
          <p:nvPr/>
        </p:nvPicPr>
        <p:blipFill>
          <a:blip r:embed="rId4"/>
          <a:srcRect/>
          <a:stretch/>
        </p:blipFill>
        <p:spPr>
          <a:xfrm rot="5400000">
            <a:off x="7364387" y="1573187"/>
            <a:ext cx="4599432" cy="3775634"/>
          </a:xfrm>
          <a:prstGeom prst="rect">
            <a:avLst/>
          </a:prstGeom>
        </p:spPr>
      </p:pic>
      <p:sp>
        <p:nvSpPr>
          <p:cNvPr id="36" name="Text 32"/>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SEMS device — front panel with LCD display</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9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10972800" cy="548640"/>
          </a:xfrm>
          <a:prstGeom prst="rect">
            <a:avLst/>
          </a:prstGeom>
          <a:noFill/>
          <a:ln/>
        </p:spPr>
        <p:txBody>
          <a:bodyPr wrap="square" lIns="0" tIns="0" rIns="0" bIns="0" rtlCol="0" anchor="ctr"/>
          <a:lstStyle/>
          <a:p>
            <a:pPr marL="0" indent="0">
              <a:buNone/>
            </a:pPr>
            <a:r>
              <a:rPr lang="en-US" sz="2200" b="1" dirty="0">
                <a:solidFill>
                  <a:srgbClr val="0A1628"/>
                </a:solidFill>
                <a:latin typeface="Calibri" pitchFamily="34" charset="0"/>
                <a:ea typeface="Calibri" pitchFamily="34" charset="-122"/>
                <a:cs typeface="Calibri" pitchFamily="34" charset="-120"/>
              </a:rPr>
              <a:t>SEMS: System Architecture &amp; Hardware</a:t>
            </a:r>
            <a:endParaRPr lang="en-US" sz="2200" dirty="0"/>
          </a:p>
        </p:txBody>
      </p:sp>
      <p:sp>
        <p:nvSpPr>
          <p:cNvPr id="15" name="Text 13"/>
          <p:cNvSpPr/>
          <p:nvPr/>
        </p:nvSpPr>
        <p:spPr>
          <a:xfrm>
            <a:off x="640080" y="1783080"/>
            <a:ext cx="109728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A complete IoT pipeline: from physical sensors and microcontroller to cloud database, ML inference, and AI-powered dashboard.</a:t>
            </a:r>
            <a:endParaRPr lang="en-US" sz="1100" dirty="0"/>
          </a:p>
        </p:txBody>
      </p:sp>
      <p:sp>
        <p:nvSpPr>
          <p:cNvPr id="16" name="Shape 14"/>
          <p:cNvSpPr/>
          <p:nvPr/>
        </p:nvSpPr>
        <p:spPr>
          <a:xfrm>
            <a:off x="6400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7" name="Shape 15"/>
          <p:cNvSpPr/>
          <p:nvPr/>
        </p:nvSpPr>
        <p:spPr>
          <a:xfrm>
            <a:off x="640080" y="2194560"/>
            <a:ext cx="54864" cy="2103120"/>
          </a:xfrm>
          <a:prstGeom prst="rect">
            <a:avLst/>
          </a:prstGeom>
          <a:solidFill>
            <a:srgbClr val="C9A961"/>
          </a:solidFill>
          <a:ln w="12700">
            <a:solidFill>
              <a:srgbClr val="C9A961"/>
            </a:solidFill>
            <a:prstDash val="solid"/>
          </a:ln>
        </p:spPr>
        <p:txBody>
          <a:bodyPr/>
          <a:p/>
        </p:txBody>
      </p:sp>
      <p:pic>
        <p:nvPicPr>
          <p:cNvPr id="18" name="Image 0" descr="/home/claude/project_imgs/sems_blockdiagram.png"/>
          <p:cNvPicPr>
            <a:picLocks noChangeAspect="1"/>
          </p:cNvPicPr>
          <p:nvPr/>
        </p:nvPicPr>
        <p:blipFill>
          <a:blip r:embed="rId3"/>
          <a:srcRect/>
          <a:stretch/>
        </p:blipFill>
        <p:spPr>
          <a:xfrm>
            <a:off x="777240" y="2331720"/>
            <a:ext cx="5120640" cy="1554480"/>
          </a:xfrm>
          <a:prstGeom prst="rect">
            <a:avLst/>
          </a:prstGeom>
        </p:spPr>
      </p:pic>
      <p:sp>
        <p:nvSpPr>
          <p:cNvPr id="19" name="Text 16"/>
          <p:cNvSpPr/>
          <p:nvPr/>
        </p:nvSpPr>
        <p:spPr>
          <a:xfrm>
            <a:off x="7772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System architecture: Input → Processing → Output Layer</a:t>
            </a:r>
            <a:endParaRPr lang="en-US" sz="1000" dirty="0"/>
          </a:p>
        </p:txBody>
      </p:sp>
      <p:sp>
        <p:nvSpPr>
          <p:cNvPr id="20" name="Shape 17"/>
          <p:cNvSpPr/>
          <p:nvPr/>
        </p:nvSpPr>
        <p:spPr>
          <a:xfrm>
            <a:off x="61264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1" name="Shape 18"/>
          <p:cNvSpPr/>
          <p:nvPr/>
        </p:nvSpPr>
        <p:spPr>
          <a:xfrm>
            <a:off x="6126480" y="2194560"/>
            <a:ext cx="54864" cy="2103120"/>
          </a:xfrm>
          <a:prstGeom prst="rect">
            <a:avLst/>
          </a:prstGeom>
          <a:solidFill>
            <a:srgbClr val="C9A961"/>
          </a:solidFill>
          <a:ln w="12700">
            <a:solidFill>
              <a:srgbClr val="C9A961"/>
            </a:solidFill>
            <a:prstDash val="solid"/>
          </a:ln>
        </p:spPr>
        <p:txBody>
          <a:bodyPr/>
          <a:p/>
        </p:txBody>
      </p:sp>
      <p:pic>
        <p:nvPicPr>
          <p:cNvPr id="22" name="Image 1" descr="/home/claude/project_imgs/sems_circuit.png"/>
          <p:cNvPicPr>
            <a:picLocks noChangeAspect="1"/>
          </p:cNvPicPr>
          <p:nvPr/>
        </p:nvPicPr>
        <p:blipFill>
          <a:blip r:embed="rId4"/>
          <a:srcRect/>
          <a:stretch/>
        </p:blipFill>
        <p:spPr>
          <a:xfrm>
            <a:off x="6263640" y="2331720"/>
            <a:ext cx="5120640" cy="1554480"/>
          </a:xfrm>
          <a:prstGeom prst="rect">
            <a:avLst/>
          </a:prstGeom>
        </p:spPr>
      </p:pic>
      <p:sp>
        <p:nvSpPr>
          <p:cNvPr id="23" name="Text 19"/>
          <p:cNvSpPr/>
          <p:nvPr/>
        </p:nvSpPr>
        <p:spPr>
          <a:xfrm>
            <a:off x="62636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schematic — ESP32, PZEM-004T, MCB, relay, LCD</a:t>
            </a:r>
            <a:endParaRPr lang="en-US" sz="1000" dirty="0"/>
          </a:p>
        </p:txBody>
      </p:sp>
      <p:sp>
        <p:nvSpPr>
          <p:cNvPr id="24" name="Shape 20"/>
          <p:cNvSpPr/>
          <p:nvPr/>
        </p:nvSpPr>
        <p:spPr>
          <a:xfrm>
            <a:off x="6400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5" name="Shape 21"/>
          <p:cNvSpPr/>
          <p:nvPr/>
        </p:nvSpPr>
        <p:spPr>
          <a:xfrm>
            <a:off x="640080" y="4434840"/>
            <a:ext cx="54864" cy="2103120"/>
          </a:xfrm>
          <a:prstGeom prst="rect">
            <a:avLst/>
          </a:prstGeom>
          <a:solidFill>
            <a:srgbClr val="C9A961"/>
          </a:solidFill>
          <a:ln w="12700">
            <a:solidFill>
              <a:srgbClr val="C9A961"/>
            </a:solidFill>
            <a:prstDash val="solid"/>
          </a:ln>
        </p:spPr>
        <p:txBody>
          <a:bodyPr/>
          <a:p/>
        </p:txBody>
      </p:sp>
      <p:pic>
        <p:nvPicPr>
          <p:cNvPr id="26" name="Image 2" descr="/home/claude/project_imgs/sems_inside.jpg"/>
          <p:cNvPicPr>
            <a:picLocks noChangeAspect="1"/>
          </p:cNvPicPr>
          <p:nvPr/>
        </p:nvPicPr>
        <p:blipFill>
          <a:blip r:embed="rId5"/>
          <a:srcRect/>
          <a:stretch/>
        </p:blipFill>
        <p:spPr>
          <a:xfrm>
            <a:off x="777240" y="4572000"/>
            <a:ext cx="5120640" cy="1554480"/>
          </a:xfrm>
          <a:prstGeom prst="rect">
            <a:avLst/>
          </a:prstGeom>
        </p:spPr>
      </p:pic>
      <p:sp>
        <p:nvSpPr>
          <p:cNvPr id="27" name="Text 22"/>
          <p:cNvSpPr/>
          <p:nvPr/>
        </p:nvSpPr>
        <p:spPr>
          <a:xfrm>
            <a:off x="7772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Internal wiring of the SEMS prototype enclosure</a:t>
            </a:r>
            <a:endParaRPr lang="en-US" sz="1000" dirty="0"/>
          </a:p>
        </p:txBody>
      </p:sp>
      <p:sp>
        <p:nvSpPr>
          <p:cNvPr id="28" name="Shape 23"/>
          <p:cNvSpPr/>
          <p:nvPr/>
        </p:nvSpPr>
        <p:spPr>
          <a:xfrm>
            <a:off x="61264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9" name="Shape 24"/>
          <p:cNvSpPr/>
          <p:nvPr/>
        </p:nvSpPr>
        <p:spPr>
          <a:xfrm>
            <a:off x="6126480" y="4434840"/>
            <a:ext cx="54864" cy="2103120"/>
          </a:xfrm>
          <a:prstGeom prst="rect">
            <a:avLst/>
          </a:prstGeom>
          <a:solidFill>
            <a:srgbClr val="C9A961"/>
          </a:solidFill>
          <a:ln w="12700">
            <a:solidFill>
              <a:srgbClr val="C9A961"/>
            </a:solidFill>
            <a:prstDash val="solid"/>
          </a:ln>
        </p:spPr>
        <p:txBody>
          <a:bodyPr/>
          <a:p/>
        </p:txBody>
      </p:sp>
      <p:pic>
        <p:nvPicPr>
          <p:cNvPr id="30" name="Image 3" descr="/home/claude/project_imgs/sems_dashboard.png"/>
          <p:cNvPicPr>
            <a:picLocks noChangeAspect="1"/>
          </p:cNvPicPr>
          <p:nvPr/>
        </p:nvPicPr>
        <p:blipFill>
          <a:blip r:embed="rId6"/>
          <a:srcRect/>
          <a:stretch/>
        </p:blipFill>
        <p:spPr>
          <a:xfrm>
            <a:off x="6263640" y="4572000"/>
            <a:ext cx="5120640" cy="1554480"/>
          </a:xfrm>
          <a:prstGeom prst="rect">
            <a:avLst/>
          </a:prstGeom>
        </p:spPr>
      </p:pic>
      <p:sp>
        <p:nvSpPr>
          <p:cNvPr id="31" name="Text 25"/>
          <p:cNvSpPr/>
          <p:nvPr/>
        </p:nvSpPr>
        <p:spPr>
          <a:xfrm>
            <a:off x="62636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Real-time dashboard with SEMS AI Assistant (Gemini)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D9BFF0F-79B7-2678-D184-54AF15205967}"/>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A1041F28-EB8E-6829-0987-B5ECDE4D76F2}"/>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5B33E8EC-4869-C33B-06C0-2F0B151C49BD}"/>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C7240CD2-83E1-0637-C1CB-4DCBDFD5B176}"/>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2061F42C-6A05-92E0-2EF4-97C4A2D9DF02}"/>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15 / 28</a:t>
            </a:r>
            <a:endParaRPr lang="en-US" sz="900" dirty="0"/>
          </a:p>
        </p:txBody>
      </p:sp>
      <p:sp>
        <p:nvSpPr>
          <p:cNvPr id="13" name="Shape 5">
            <a:extLst>
              <a:ext uri="{FF2B5EF4-FFF2-40B4-BE49-F238E27FC236}">
                <a16:creationId xmlns:a16="http://schemas.microsoft.com/office/drawing/2014/main" id="{12C9C273-C3FB-A636-2ED1-555C17289F77}"/>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118E6E13-AB90-3993-2CB4-DF0935F27237}"/>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11298A24-7441-040F-28C8-D04E45C64C40}"/>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15BC4D73-F12B-7268-7F0F-E981211F879A}"/>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76AEE0AB-8191-4442-9799-DB0CD89B6245}"/>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81754418-FB39-9CA3-E3BF-CCF567D9C2CF}"/>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8F45271D-F42A-6E37-261C-A9F9202C65E7}"/>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85BA5E26-0901-25F1-C401-C1BCACC7EA0E}"/>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PERSONAL PRODUCT · NOORA DEEN TECHNOLOGY · 2026</a:t>
            </a:r>
            <a:endParaRPr lang="en-US" sz="1000" dirty="0"/>
          </a:p>
        </p:txBody>
      </p:sp>
      <p:sp>
        <p:nvSpPr>
          <p:cNvPr id="29" name="Text 13">
            <a:extLst>
              <a:ext uri="{FF2B5EF4-FFF2-40B4-BE49-F238E27FC236}">
                <a16:creationId xmlns:a16="http://schemas.microsoft.com/office/drawing/2014/main" id="{6AC262C2-F5A5-FB26-FD6F-F0C3BA62D1CC}"/>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Noora: Muslim Habit-Building App</a:t>
            </a:r>
            <a:endParaRPr lang="en-US" sz="2400" dirty="0"/>
          </a:p>
        </p:txBody>
      </p:sp>
      <p:sp>
        <p:nvSpPr>
          <p:cNvPr id="31" name="Text 14">
            <a:extLst>
              <a:ext uri="{FF2B5EF4-FFF2-40B4-BE49-F238E27FC236}">
                <a16:creationId xmlns:a16="http://schemas.microsoft.com/office/drawing/2014/main" id="{E060EC75-6C84-707F-B4A5-E50F72BC0F2A}"/>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Co-Founder &amp; Sole Engineer (Mobile, Backend, UI)</a:t>
            </a:r>
            <a:endParaRPr lang="en-US" sz="1200" dirty="0"/>
          </a:p>
        </p:txBody>
      </p:sp>
      <p:sp>
        <p:nvSpPr>
          <p:cNvPr id="33" name="Shape 15">
            <a:extLst>
              <a:ext uri="{FF2B5EF4-FFF2-40B4-BE49-F238E27FC236}">
                <a16:creationId xmlns:a16="http://schemas.microsoft.com/office/drawing/2014/main" id="{078B3341-35E8-03C2-7C7A-7CFA3DF7E3CA}"/>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0F940C21-0D26-8C54-7D31-26F0D366BCAB}"/>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0ABBA1CF-F389-02CA-6843-D00F1ADA1966}"/>
              </a:ext>
            </a:extLst>
          </p:cNvPr>
          <p:cNvSpPr/>
          <p:nvPr/>
        </p:nvSpPr>
        <p:spPr>
          <a:xfrm>
            <a:off x="640080" y="2046202"/>
            <a:ext cx="937259"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F36C41DB-EE29-5C10-ED6F-2F94ED317A46}"/>
              </a:ext>
            </a:extLst>
          </p:cNvPr>
          <p:cNvSpPr/>
          <p:nvPr/>
        </p:nvSpPr>
        <p:spPr>
          <a:xfrm>
            <a:off x="640080" y="2046202"/>
            <a:ext cx="93725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Capacitor 8</a:t>
            </a:r>
            <a:endParaRPr lang="en-US" sz="1000" dirty="0"/>
          </a:p>
        </p:txBody>
      </p:sp>
      <p:sp>
        <p:nvSpPr>
          <p:cNvPr id="41" name="Shape 18">
            <a:extLst>
              <a:ext uri="{FF2B5EF4-FFF2-40B4-BE49-F238E27FC236}">
                <a16:creationId xmlns:a16="http://schemas.microsoft.com/office/drawing/2014/main" id="{5705EBAB-B57E-3D57-5298-631664171593}"/>
              </a:ext>
            </a:extLst>
          </p:cNvPr>
          <p:cNvSpPr/>
          <p:nvPr/>
        </p:nvSpPr>
        <p:spPr>
          <a:xfrm>
            <a:off x="1659636" y="2046202"/>
            <a:ext cx="8686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FFF81921-C602-0BC0-0B89-4CB204DD919C}"/>
              </a:ext>
            </a:extLst>
          </p:cNvPr>
          <p:cNvSpPr/>
          <p:nvPr/>
        </p:nvSpPr>
        <p:spPr>
          <a:xfrm>
            <a:off x="1659636" y="204620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45" name="Shape 20">
            <a:extLst>
              <a:ext uri="{FF2B5EF4-FFF2-40B4-BE49-F238E27FC236}">
                <a16:creationId xmlns:a16="http://schemas.microsoft.com/office/drawing/2014/main" id="{A575D832-E002-D8AE-7B09-854E4E47CA44}"/>
              </a:ext>
            </a:extLst>
          </p:cNvPr>
          <p:cNvSpPr/>
          <p:nvPr/>
        </p:nvSpPr>
        <p:spPr>
          <a:xfrm>
            <a:off x="2610612" y="2046202"/>
            <a:ext cx="73152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D8058A14-BCF6-BF79-C4D8-4FDA5CAFD490}"/>
              </a:ext>
            </a:extLst>
          </p:cNvPr>
          <p:cNvSpPr/>
          <p:nvPr/>
        </p:nvSpPr>
        <p:spPr>
          <a:xfrm>
            <a:off x="2610612" y="2046202"/>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Supabase</a:t>
            </a:r>
            <a:endParaRPr lang="en-US" sz="1000" dirty="0"/>
          </a:p>
        </p:txBody>
      </p:sp>
      <p:sp>
        <p:nvSpPr>
          <p:cNvPr id="49" name="Shape 22">
            <a:extLst>
              <a:ext uri="{FF2B5EF4-FFF2-40B4-BE49-F238E27FC236}">
                <a16:creationId xmlns:a16="http://schemas.microsoft.com/office/drawing/2014/main" id="{FFAA2F89-B101-6E89-0F71-B8E5BA575A2B}"/>
              </a:ext>
            </a:extLst>
          </p:cNvPr>
          <p:cNvSpPr/>
          <p:nvPr/>
        </p:nvSpPr>
        <p:spPr>
          <a:xfrm>
            <a:off x="3424428" y="2046202"/>
            <a:ext cx="73152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125FA078-903F-224C-4AB3-B258A8E8BBBB}"/>
              </a:ext>
            </a:extLst>
          </p:cNvPr>
          <p:cNvSpPr/>
          <p:nvPr/>
        </p:nvSpPr>
        <p:spPr>
          <a:xfrm>
            <a:off x="3424428" y="2046202"/>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REST API</a:t>
            </a:r>
            <a:endParaRPr lang="en-US" sz="1000" dirty="0"/>
          </a:p>
        </p:txBody>
      </p:sp>
      <p:sp>
        <p:nvSpPr>
          <p:cNvPr id="53" name="Shape 24">
            <a:extLst>
              <a:ext uri="{FF2B5EF4-FFF2-40B4-BE49-F238E27FC236}">
                <a16:creationId xmlns:a16="http://schemas.microsoft.com/office/drawing/2014/main" id="{265A866B-0E5A-D55B-7046-90BB5364FCC0}"/>
              </a:ext>
            </a:extLst>
          </p:cNvPr>
          <p:cNvSpPr/>
          <p:nvPr/>
        </p:nvSpPr>
        <p:spPr>
          <a:xfrm>
            <a:off x="4238244" y="2046202"/>
            <a:ext cx="66294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CE8313F6-4FD8-4A98-AD39-CD5C095AE299}"/>
              </a:ext>
            </a:extLst>
          </p:cNvPr>
          <p:cNvSpPr/>
          <p:nvPr/>
        </p:nvSpPr>
        <p:spPr>
          <a:xfrm>
            <a:off x="4238244" y="2046202"/>
            <a:ext cx="6629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Android</a:t>
            </a:r>
            <a:endParaRPr lang="en-US" sz="1000" dirty="0"/>
          </a:p>
        </p:txBody>
      </p:sp>
      <p:sp>
        <p:nvSpPr>
          <p:cNvPr id="57" name="Text 26">
            <a:extLst>
              <a:ext uri="{FF2B5EF4-FFF2-40B4-BE49-F238E27FC236}">
                <a16:creationId xmlns:a16="http://schemas.microsoft.com/office/drawing/2014/main" id="{EC6F590A-2DB9-7796-6D77-895FA2DEE5A0}"/>
              </a:ext>
            </a:extLst>
          </p:cNvPr>
          <p:cNvSpPr/>
          <p:nvPr/>
        </p:nvSpPr>
        <p:spPr>
          <a:xfrm>
            <a:off x="640080" y="2427819"/>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mobile application that helps Muslims build consistent daily worship habits in a positive, engaging way. Noora combines an international prayer-time engine, a complete digital Qur'an with an authentic 604-page Madinah mushaf mode, and a gamified “Garden” that grows with the user's consistency. Built as the flagship product of Noora Deen Technology, it runs fully online and offline, and is currently in closed testing on the Google Play Store.</a:t>
            </a:r>
            <a:endParaRPr lang="en-US" sz="1400" dirty="0"/>
          </a:p>
        </p:txBody>
      </p:sp>
      <p:sp>
        <p:nvSpPr>
          <p:cNvPr id="59" name="Text 27">
            <a:extLst>
              <a:ext uri="{FF2B5EF4-FFF2-40B4-BE49-F238E27FC236}">
                <a16:creationId xmlns:a16="http://schemas.microsoft.com/office/drawing/2014/main" id="{550F044A-7FCF-B7EB-76B5-2481C7F3350D}"/>
              </a:ext>
            </a:extLst>
          </p:cNvPr>
          <p:cNvSpPr/>
          <p:nvPr/>
        </p:nvSpPr>
        <p:spPr>
          <a:xfrm>
            <a:off x="640080" y="3713584"/>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8C6C1E30-504B-272A-E876-FEA834FE07EF}"/>
              </a:ext>
            </a:extLst>
          </p:cNvPr>
          <p:cNvSpPr/>
          <p:nvPr/>
        </p:nvSpPr>
        <p:spPr>
          <a:xfrm>
            <a:off x="640080" y="3959526"/>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601D3136-DD60-6ACB-962C-FFF9FF3650FA}"/>
              </a:ext>
            </a:extLst>
          </p:cNvPr>
          <p:cNvSpPr/>
          <p:nvPr/>
        </p:nvSpPr>
        <p:spPr>
          <a:xfrm>
            <a:off x="640080" y="406813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Region-aware prayer times: Kemenag for Indonesia, auto-switching to JAKIM, MUIS, Umm al-Qura, ISNA or Diyanet abroad</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 Qur'an with verified Saheeh International translation, tafsir, and a 604-page Madinah mushaf with page-turn animation</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Gamified habit engine: per-category and combined streaks, freeze tokens, an evolving garden and claimable achievements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Works fully offline, or syncs progress across devices in real time via Supabase; custom real-time ID/EN i18n engine</a:t>
            </a:r>
            <a:endParaRPr lang="en-US" sz="1400" dirty="0"/>
          </a:p>
        </p:txBody>
      </p:sp>
      <p:sp>
        <p:nvSpPr>
          <p:cNvPr id="65" name="Shape 30">
            <a:extLst>
              <a:ext uri="{FF2B5EF4-FFF2-40B4-BE49-F238E27FC236}">
                <a16:creationId xmlns:a16="http://schemas.microsoft.com/office/drawing/2014/main" id="{62720EB9-EFFE-C65F-9570-A58883754AE4}"/>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31">
            <a:extLst>
              <a:ext uri="{FF2B5EF4-FFF2-40B4-BE49-F238E27FC236}">
                <a16:creationId xmlns:a16="http://schemas.microsoft.com/office/drawing/2014/main" id="{562F721C-C9AD-60FD-824F-790FB98EEFFD}"/>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387B738B-8CD9-ACA7-C5E0-2762D19EE71D}"/>
              </a:ext>
            </a:extLst>
          </p:cNvPr>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Noora : habit-building app (closed testing on Play Store)</a:t>
            </a:r>
            <a:endParaRPr lang="en-US" sz="1000" dirty="0"/>
          </a:p>
        </p:txBody>
      </p:sp>
      <p:pic>
        <p:nvPicPr>
          <p:cNvPr id="71" name="Picture 70">
            <a:extLst>
              <a:ext uri="{FF2B5EF4-FFF2-40B4-BE49-F238E27FC236}">
                <a16:creationId xmlns:a16="http://schemas.microsoft.com/office/drawing/2014/main" id="{03B9DBB0-74BC-F829-2BD4-F44BCF3376C3}"/>
              </a:ext>
            </a:extLst>
          </p:cNvPr>
          <p:cNvPicPr>
            <a:picLocks noChangeAspect="1"/>
          </p:cNvPicPr>
          <p:nvPr/>
        </p:nvPicPr>
        <p:blipFill>
          <a:blip r:embed="rId3"/>
          <a:stretch>
            <a:fillRect/>
          </a:stretch>
        </p:blipFill>
        <p:spPr>
          <a:xfrm>
            <a:off x="9131813" y="1162215"/>
            <a:ext cx="1099647" cy="2302745"/>
          </a:xfrm>
          <a:prstGeom prst="rect">
            <a:avLst/>
          </a:prstGeom>
        </p:spPr>
      </p:pic>
      <p:pic>
        <p:nvPicPr>
          <p:cNvPr id="73" name="Picture 72">
            <a:extLst>
              <a:ext uri="{FF2B5EF4-FFF2-40B4-BE49-F238E27FC236}">
                <a16:creationId xmlns:a16="http://schemas.microsoft.com/office/drawing/2014/main" id="{457F46CA-32B0-316E-A0FB-CFAE2A5113B2}"/>
              </a:ext>
            </a:extLst>
          </p:cNvPr>
          <p:cNvPicPr>
            <a:picLocks noChangeAspect="1"/>
          </p:cNvPicPr>
          <p:nvPr/>
        </p:nvPicPr>
        <p:blipFill>
          <a:blip r:embed="rId4"/>
          <a:stretch>
            <a:fillRect/>
          </a:stretch>
        </p:blipFill>
        <p:spPr>
          <a:xfrm>
            <a:off x="7701306" y="3548183"/>
            <a:ext cx="3972978" cy="2245737"/>
          </a:xfrm>
          <a:prstGeom prst="rect">
            <a:avLst/>
          </a:prstGeom>
        </p:spPr>
      </p:pic>
    </p:spTree>
    <p:extLst>
      <p:ext uri="{BB962C8B-B14F-4D97-AF65-F5344CB8AC3E}">
        <p14:creationId xmlns:p14="http://schemas.microsoft.com/office/powerpoint/2010/main" val="3129154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5CA5C22-A1A0-D35E-C1FD-B16C5017A8D3}"/>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A51ECEE3-3D23-D1EC-D36A-375141E5B5E2}"/>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904ECF52-DBB3-71F8-E5D4-4F0DCCC6D6D0}"/>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8AE83083-28BB-91FE-DA86-F4ACFD7F3293}"/>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B6A4D308-D44F-4CE0-BD31-A16317CB4644}"/>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16 / 28</a:t>
            </a:r>
            <a:endParaRPr lang="en-US" sz="900" dirty="0"/>
          </a:p>
        </p:txBody>
      </p:sp>
      <p:sp>
        <p:nvSpPr>
          <p:cNvPr id="13" name="Shape 5">
            <a:extLst>
              <a:ext uri="{FF2B5EF4-FFF2-40B4-BE49-F238E27FC236}">
                <a16:creationId xmlns:a16="http://schemas.microsoft.com/office/drawing/2014/main" id="{4A7E33E0-A65C-48A4-BF41-C5A32CF8E035}"/>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B5C53153-BB79-B9F2-58CB-74EC63176D1A}"/>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AFBDBE9D-8FDC-671A-4AC2-9C6ECC79F19C}"/>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E12583B8-F9FA-A020-8F62-0CB29164DDD7}"/>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E2E4297A-7A0D-B13A-5725-AAB4FA800DD7}"/>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EF2917DB-A18E-224C-419C-783169101353}"/>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22EB8981-BB73-FD99-2F94-8D21E8CF4DFA}"/>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B899B6B8-D998-4D95-6546-C8B27F332C00}"/>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CORPORATE WEBSITE · NOORA DEEN TECHNOLOGY · 2026</a:t>
            </a:r>
            <a:endParaRPr lang="en-US" sz="1000" dirty="0"/>
          </a:p>
        </p:txBody>
      </p:sp>
      <p:sp>
        <p:nvSpPr>
          <p:cNvPr id="29" name="Text 13">
            <a:extLst>
              <a:ext uri="{FF2B5EF4-FFF2-40B4-BE49-F238E27FC236}">
                <a16:creationId xmlns:a16="http://schemas.microsoft.com/office/drawing/2014/main" id="{0CBD7B89-A472-4E2F-B39B-FE93FA2D343C}"/>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Noora Deen Technology: Company Website</a:t>
            </a:r>
            <a:endParaRPr lang="en-US" sz="2400" dirty="0"/>
          </a:p>
        </p:txBody>
      </p:sp>
      <p:sp>
        <p:nvSpPr>
          <p:cNvPr id="31" name="Text 14">
            <a:extLst>
              <a:ext uri="{FF2B5EF4-FFF2-40B4-BE49-F238E27FC236}">
                <a16:creationId xmlns:a16="http://schemas.microsoft.com/office/drawing/2014/main" id="{303C2B95-2369-3E97-059B-D8E176713273}"/>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Designer &amp; Developer (Front-End, Branding)</a:t>
            </a:r>
            <a:endParaRPr lang="en-US" sz="1200" dirty="0"/>
          </a:p>
        </p:txBody>
      </p:sp>
      <p:sp>
        <p:nvSpPr>
          <p:cNvPr id="33" name="Shape 15">
            <a:extLst>
              <a:ext uri="{FF2B5EF4-FFF2-40B4-BE49-F238E27FC236}">
                <a16:creationId xmlns:a16="http://schemas.microsoft.com/office/drawing/2014/main" id="{526D115A-103D-A91A-212E-08B447EB95FE}"/>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A921736A-1368-5431-FCD2-E7FBE979C767}"/>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590804E4-773B-2940-E714-21D3015E6694}"/>
              </a:ext>
            </a:extLst>
          </p:cNvPr>
          <p:cNvSpPr/>
          <p:nvPr/>
        </p:nvSpPr>
        <p:spPr>
          <a:xfrm>
            <a:off x="640080" y="2064862"/>
            <a:ext cx="457200"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999225FE-551E-2DF4-803F-48039F12D20A}"/>
              </a:ext>
            </a:extLst>
          </p:cNvPr>
          <p:cNvSpPr/>
          <p:nvPr/>
        </p:nvSpPr>
        <p:spPr>
          <a:xfrm>
            <a:off x="640080" y="2064862"/>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HTML</a:t>
            </a:r>
            <a:endParaRPr lang="en-US" sz="1000" dirty="0"/>
          </a:p>
        </p:txBody>
      </p:sp>
      <p:sp>
        <p:nvSpPr>
          <p:cNvPr id="41" name="Shape 18">
            <a:extLst>
              <a:ext uri="{FF2B5EF4-FFF2-40B4-BE49-F238E27FC236}">
                <a16:creationId xmlns:a16="http://schemas.microsoft.com/office/drawing/2014/main" id="{BCA30FE5-C34D-AC22-9AE6-67D1D100AC1B}"/>
              </a:ext>
            </a:extLst>
          </p:cNvPr>
          <p:cNvSpPr/>
          <p:nvPr/>
        </p:nvSpPr>
        <p:spPr>
          <a:xfrm>
            <a:off x="1179576" y="2064862"/>
            <a:ext cx="4114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78FE1229-00A5-65BA-8A83-DD13406ED05D}"/>
              </a:ext>
            </a:extLst>
          </p:cNvPr>
          <p:cNvSpPr/>
          <p:nvPr/>
        </p:nvSpPr>
        <p:spPr>
          <a:xfrm>
            <a:off x="1179576" y="2064862"/>
            <a:ext cx="4114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CSS</a:t>
            </a:r>
            <a:endParaRPr lang="en-US" sz="1000" dirty="0"/>
          </a:p>
        </p:txBody>
      </p:sp>
      <p:sp>
        <p:nvSpPr>
          <p:cNvPr id="45" name="Shape 20">
            <a:extLst>
              <a:ext uri="{FF2B5EF4-FFF2-40B4-BE49-F238E27FC236}">
                <a16:creationId xmlns:a16="http://schemas.microsoft.com/office/drawing/2014/main" id="{2686C3B6-D239-3DFB-3A8E-F036BB51C5B0}"/>
              </a:ext>
            </a:extLst>
          </p:cNvPr>
          <p:cNvSpPr/>
          <p:nvPr/>
        </p:nvSpPr>
        <p:spPr>
          <a:xfrm>
            <a:off x="1673352" y="2064862"/>
            <a:ext cx="86868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6705642A-BC16-227B-073E-29C9A88FFADE}"/>
              </a:ext>
            </a:extLst>
          </p:cNvPr>
          <p:cNvSpPr/>
          <p:nvPr/>
        </p:nvSpPr>
        <p:spPr>
          <a:xfrm>
            <a:off x="1673352" y="206486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49" name="Shape 22">
            <a:extLst>
              <a:ext uri="{FF2B5EF4-FFF2-40B4-BE49-F238E27FC236}">
                <a16:creationId xmlns:a16="http://schemas.microsoft.com/office/drawing/2014/main" id="{BD1DE26D-3E00-03DC-CE08-1E2A2B7EB5A7}"/>
              </a:ext>
            </a:extLst>
          </p:cNvPr>
          <p:cNvSpPr/>
          <p:nvPr/>
        </p:nvSpPr>
        <p:spPr>
          <a:xfrm>
            <a:off x="2624328" y="2064862"/>
            <a:ext cx="86868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4F50F267-37A3-0862-AED4-B354B45DDE21}"/>
              </a:ext>
            </a:extLst>
          </p:cNvPr>
          <p:cNvSpPr/>
          <p:nvPr/>
        </p:nvSpPr>
        <p:spPr>
          <a:xfrm>
            <a:off x="2624328" y="206486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Responsive</a:t>
            </a:r>
            <a:endParaRPr lang="en-US" sz="1000" dirty="0"/>
          </a:p>
        </p:txBody>
      </p:sp>
      <p:sp>
        <p:nvSpPr>
          <p:cNvPr id="53" name="Shape 24">
            <a:extLst>
              <a:ext uri="{FF2B5EF4-FFF2-40B4-BE49-F238E27FC236}">
                <a16:creationId xmlns:a16="http://schemas.microsoft.com/office/drawing/2014/main" id="{64DAD7DF-1992-2667-780B-D73606B7471A}"/>
              </a:ext>
            </a:extLst>
          </p:cNvPr>
          <p:cNvSpPr/>
          <p:nvPr/>
        </p:nvSpPr>
        <p:spPr>
          <a:xfrm>
            <a:off x="3575304" y="2064862"/>
            <a:ext cx="107442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FC214D26-B568-67EE-DD95-F8D057852183}"/>
              </a:ext>
            </a:extLst>
          </p:cNvPr>
          <p:cNvSpPr/>
          <p:nvPr/>
        </p:nvSpPr>
        <p:spPr>
          <a:xfrm>
            <a:off x="3575304" y="2064862"/>
            <a:ext cx="10744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Accessibility</a:t>
            </a:r>
            <a:endParaRPr lang="en-US" sz="1000" dirty="0"/>
          </a:p>
        </p:txBody>
      </p:sp>
      <p:sp>
        <p:nvSpPr>
          <p:cNvPr id="57" name="Text 26">
            <a:extLst>
              <a:ext uri="{FF2B5EF4-FFF2-40B4-BE49-F238E27FC236}">
                <a16:creationId xmlns:a16="http://schemas.microsoft.com/office/drawing/2014/main" id="{6F6BE997-6A1A-E8F8-A8B9-1C2586140742}"/>
              </a:ext>
            </a:extLst>
          </p:cNvPr>
          <p:cNvSpPr/>
          <p:nvPr/>
        </p:nvSpPr>
        <p:spPr>
          <a:xfrm>
            <a:off x="640080" y="2418486"/>
            <a:ext cx="6400800" cy="111725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lightweight, fast single-page company profile for Noora Deen Technology, built entirely with vanilla HTML, CSS and JavaScript, no framework, no build step. The site presents the company's mission (“Making Everyday Life Simpler”), its products, values and contact channels, and is engineered for accessibility and smooth performance on any device.</a:t>
            </a:r>
            <a:endParaRPr lang="en-US" sz="1400" dirty="0"/>
          </a:p>
        </p:txBody>
      </p:sp>
      <p:sp>
        <p:nvSpPr>
          <p:cNvPr id="59" name="Text 27">
            <a:extLst>
              <a:ext uri="{FF2B5EF4-FFF2-40B4-BE49-F238E27FC236}">
                <a16:creationId xmlns:a16="http://schemas.microsoft.com/office/drawing/2014/main" id="{3C4FD8D7-B0AC-6536-5AA4-FD4C1453A885}"/>
              </a:ext>
            </a:extLst>
          </p:cNvPr>
          <p:cNvSpPr/>
          <p:nvPr/>
        </p:nvSpPr>
        <p:spPr>
          <a:xfrm>
            <a:off x="640080" y="3536295"/>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AA76FE2C-1FF0-785B-B56E-73686E2BD303}"/>
              </a:ext>
            </a:extLst>
          </p:cNvPr>
          <p:cNvSpPr/>
          <p:nvPr/>
        </p:nvSpPr>
        <p:spPr>
          <a:xfrm>
            <a:off x="640080" y="3791579"/>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FD7736C0-B5F9-908E-6D72-8B78B623A553}"/>
              </a:ext>
            </a:extLst>
          </p:cNvPr>
          <p:cNvSpPr/>
          <p:nvPr/>
        </p:nvSpPr>
        <p:spPr>
          <a:xfrm>
            <a:off x="640080" y="3844202"/>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Fully responsive with a sticky navbar, hamburger menu and scroll-spy navigation across desktop, tablet and mobile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Scroll-reveal animations and animated statistic counters built without any external animation library</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Accessibility-first: keyboard navigation, ARIA labels, and respect for prefers-reduced-motion</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Custom brand system: navy-and-green palette, north-star logo with an “ND” monogram, zero-backend contact form</a:t>
            </a:r>
            <a:endParaRPr lang="en-US" sz="1400" dirty="0"/>
          </a:p>
        </p:txBody>
      </p:sp>
      <p:sp>
        <p:nvSpPr>
          <p:cNvPr id="65" name="Shape 30">
            <a:extLst>
              <a:ext uri="{FF2B5EF4-FFF2-40B4-BE49-F238E27FC236}">
                <a16:creationId xmlns:a16="http://schemas.microsoft.com/office/drawing/2014/main" id="{792FAAE4-FCB8-390B-3DAE-44170487B63B}"/>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31">
            <a:extLst>
              <a:ext uri="{FF2B5EF4-FFF2-40B4-BE49-F238E27FC236}">
                <a16:creationId xmlns:a16="http://schemas.microsoft.com/office/drawing/2014/main" id="{9285E748-5FB2-AFFA-E28E-E3940AF6ECD8}"/>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140D01A6-98EE-0585-89A2-4EDC26B8AEA1}"/>
              </a:ext>
            </a:extLst>
          </p:cNvPr>
          <p:cNvSpPr/>
          <p:nvPr/>
        </p:nvSpPr>
        <p:spPr>
          <a:xfrm>
            <a:off x="7818120" y="6093826"/>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nooradeen.com single-page company profile</a:t>
            </a:r>
            <a:endParaRPr lang="en-US" sz="1000" dirty="0"/>
          </a:p>
        </p:txBody>
      </p:sp>
      <p:pic>
        <p:nvPicPr>
          <p:cNvPr id="71" name="Picture 70">
            <a:extLst>
              <a:ext uri="{FF2B5EF4-FFF2-40B4-BE49-F238E27FC236}">
                <a16:creationId xmlns:a16="http://schemas.microsoft.com/office/drawing/2014/main" id="{3E88CCA6-89E0-409B-3100-18535A8B2EFF}"/>
              </a:ext>
            </a:extLst>
          </p:cNvPr>
          <p:cNvPicPr>
            <a:picLocks noChangeAspect="1"/>
          </p:cNvPicPr>
          <p:nvPr/>
        </p:nvPicPr>
        <p:blipFill>
          <a:blip r:embed="rId3"/>
          <a:stretch>
            <a:fillRect/>
          </a:stretch>
        </p:blipFill>
        <p:spPr>
          <a:xfrm>
            <a:off x="7681005" y="1059405"/>
            <a:ext cx="4020625" cy="1562870"/>
          </a:xfrm>
          <a:prstGeom prst="rect">
            <a:avLst/>
          </a:prstGeom>
        </p:spPr>
      </p:pic>
      <p:pic>
        <p:nvPicPr>
          <p:cNvPr id="73" name="Picture 72">
            <a:extLst>
              <a:ext uri="{FF2B5EF4-FFF2-40B4-BE49-F238E27FC236}">
                <a16:creationId xmlns:a16="http://schemas.microsoft.com/office/drawing/2014/main" id="{1169800A-58DF-62AC-029F-E620BEFC53C4}"/>
              </a:ext>
            </a:extLst>
          </p:cNvPr>
          <p:cNvPicPr>
            <a:picLocks noChangeAspect="1"/>
          </p:cNvPicPr>
          <p:nvPr/>
        </p:nvPicPr>
        <p:blipFill>
          <a:blip r:embed="rId4"/>
          <a:stretch>
            <a:fillRect/>
          </a:stretch>
        </p:blipFill>
        <p:spPr>
          <a:xfrm>
            <a:off x="7681201" y="2635522"/>
            <a:ext cx="4014659" cy="1837576"/>
          </a:xfrm>
          <a:prstGeom prst="rect">
            <a:avLst/>
          </a:prstGeom>
        </p:spPr>
      </p:pic>
      <p:pic>
        <p:nvPicPr>
          <p:cNvPr id="75" name="Picture 74">
            <a:extLst>
              <a:ext uri="{FF2B5EF4-FFF2-40B4-BE49-F238E27FC236}">
                <a16:creationId xmlns:a16="http://schemas.microsoft.com/office/drawing/2014/main" id="{D6120EC5-5DD5-5348-C24A-73B85DC9B39B}"/>
              </a:ext>
            </a:extLst>
          </p:cNvPr>
          <p:cNvPicPr>
            <a:picLocks noChangeAspect="1"/>
          </p:cNvPicPr>
          <p:nvPr/>
        </p:nvPicPr>
        <p:blipFill>
          <a:blip r:embed="rId5"/>
          <a:stretch>
            <a:fillRect/>
          </a:stretch>
        </p:blipFill>
        <p:spPr>
          <a:xfrm>
            <a:off x="7681201" y="4479997"/>
            <a:ext cx="4023119" cy="1750618"/>
          </a:xfrm>
          <a:prstGeom prst="rect">
            <a:avLst/>
          </a:prstGeom>
        </p:spPr>
      </p:pic>
    </p:spTree>
    <p:extLst>
      <p:ext uri="{BB962C8B-B14F-4D97-AF65-F5344CB8AC3E}">
        <p14:creationId xmlns:p14="http://schemas.microsoft.com/office/powerpoint/2010/main" val="25483233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B90C53D5-0EED-42FB-1FE7-53042F5FD51C}"/>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55824A1F-47D9-47C6-6B23-F19048D79399}"/>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F01CCCA4-521B-7DDF-1AED-94C7FE9129DB}"/>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8EE55C44-59C3-9384-CFF7-A84C1B43A7B1}"/>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1212024B-397C-F976-37E2-F692028BBF52}"/>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17 / 28</a:t>
            </a:r>
            <a:endParaRPr lang="en-US" sz="900" dirty="0"/>
          </a:p>
        </p:txBody>
      </p:sp>
      <p:sp>
        <p:nvSpPr>
          <p:cNvPr id="13" name="Shape 5">
            <a:extLst>
              <a:ext uri="{FF2B5EF4-FFF2-40B4-BE49-F238E27FC236}">
                <a16:creationId xmlns:a16="http://schemas.microsoft.com/office/drawing/2014/main" id="{FA625148-ADEB-DC23-98A3-D0308D46956B}"/>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6CD8B076-7395-5315-F3B8-C53A9B31EB55}"/>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56296B20-CAC0-B6B2-9377-B0A2E390322C}"/>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C6E84F65-72E0-0F27-E671-C6A247BE66C8}"/>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3C2C0180-F5B0-34AE-5E29-E6E6A8E87A84}"/>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E103B3A0-C1C8-1DDA-1387-A787C4636088}"/>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256F30A2-8C94-9142-9F64-A29C696C4474}"/>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7BECAF65-D952-6230-0168-7E876C28D241}"/>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PERSONAL PRODUCT · AI FINANCE · 2026</a:t>
            </a:r>
            <a:endParaRPr lang="en-US" sz="1000" dirty="0"/>
          </a:p>
        </p:txBody>
      </p:sp>
      <p:sp>
        <p:nvSpPr>
          <p:cNvPr id="29" name="Text 13">
            <a:extLst>
              <a:ext uri="{FF2B5EF4-FFF2-40B4-BE49-F238E27FC236}">
                <a16:creationId xmlns:a16="http://schemas.microsoft.com/office/drawing/2014/main" id="{77CB1672-3274-620E-2ABD-63DB4D7611FB}"/>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Saku: AI-Powered Personal Finance Manager</a:t>
            </a:r>
            <a:endParaRPr lang="en-US" sz="2400" dirty="0"/>
          </a:p>
        </p:txBody>
      </p:sp>
      <p:sp>
        <p:nvSpPr>
          <p:cNvPr id="31" name="Text 14">
            <a:extLst>
              <a:ext uri="{FF2B5EF4-FFF2-40B4-BE49-F238E27FC236}">
                <a16:creationId xmlns:a16="http://schemas.microsoft.com/office/drawing/2014/main" id="{35AE7AD9-8893-AA1F-5A26-28B97C5ED512}"/>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(Front-End, Backend, AI, Mobile)</a:t>
            </a:r>
            <a:endParaRPr lang="en-US" sz="1200" dirty="0"/>
          </a:p>
        </p:txBody>
      </p:sp>
      <p:sp>
        <p:nvSpPr>
          <p:cNvPr id="33" name="Shape 15">
            <a:extLst>
              <a:ext uri="{FF2B5EF4-FFF2-40B4-BE49-F238E27FC236}">
                <a16:creationId xmlns:a16="http://schemas.microsoft.com/office/drawing/2014/main" id="{D39FCE83-C110-BB26-3623-74F9A21296DF}"/>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FBC8C52A-060F-D1A4-E7A1-CDB7AB50CB8F}"/>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76AD4C7A-4515-058F-754A-A45290DF509D}"/>
              </a:ext>
            </a:extLst>
          </p:cNvPr>
          <p:cNvSpPr/>
          <p:nvPr/>
        </p:nvSpPr>
        <p:spPr>
          <a:xfrm>
            <a:off x="640080" y="2064864"/>
            <a:ext cx="731520"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C7DC274E-5081-3595-7796-38A0D55ABEDB}"/>
              </a:ext>
            </a:extLst>
          </p:cNvPr>
          <p:cNvSpPr/>
          <p:nvPr/>
        </p:nvSpPr>
        <p:spPr>
          <a:xfrm>
            <a:off x="640080" y="2064864"/>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React 19</a:t>
            </a:r>
            <a:endParaRPr lang="en-US" sz="1000" dirty="0"/>
          </a:p>
        </p:txBody>
      </p:sp>
      <p:sp>
        <p:nvSpPr>
          <p:cNvPr id="41" name="Shape 18">
            <a:extLst>
              <a:ext uri="{FF2B5EF4-FFF2-40B4-BE49-F238E27FC236}">
                <a16:creationId xmlns:a16="http://schemas.microsoft.com/office/drawing/2014/main" id="{B4361673-FFC4-AF4C-417A-A02C4EEB9C36}"/>
              </a:ext>
            </a:extLst>
          </p:cNvPr>
          <p:cNvSpPr/>
          <p:nvPr/>
        </p:nvSpPr>
        <p:spPr>
          <a:xfrm>
            <a:off x="1453895" y="2064864"/>
            <a:ext cx="8686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C6AE1287-208D-EC3D-CBD0-5CE789608E75}"/>
              </a:ext>
            </a:extLst>
          </p:cNvPr>
          <p:cNvSpPr/>
          <p:nvPr/>
        </p:nvSpPr>
        <p:spPr>
          <a:xfrm>
            <a:off x="1453895" y="2064864"/>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TypeScript</a:t>
            </a:r>
            <a:endParaRPr lang="en-US" sz="1000" dirty="0"/>
          </a:p>
        </p:txBody>
      </p:sp>
      <p:sp>
        <p:nvSpPr>
          <p:cNvPr id="45" name="Shape 20">
            <a:extLst>
              <a:ext uri="{FF2B5EF4-FFF2-40B4-BE49-F238E27FC236}">
                <a16:creationId xmlns:a16="http://schemas.microsoft.com/office/drawing/2014/main" id="{F3F1FC18-BDE1-1049-7C42-43739FF1D8A6}"/>
              </a:ext>
            </a:extLst>
          </p:cNvPr>
          <p:cNvSpPr/>
          <p:nvPr/>
        </p:nvSpPr>
        <p:spPr>
          <a:xfrm>
            <a:off x="2404872" y="2064864"/>
            <a:ext cx="86868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4B5DBEEF-BA16-44D0-F4B9-CC6C9E55C749}"/>
              </a:ext>
            </a:extLst>
          </p:cNvPr>
          <p:cNvSpPr/>
          <p:nvPr/>
        </p:nvSpPr>
        <p:spPr>
          <a:xfrm>
            <a:off x="2404872" y="2064864"/>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Gemini 2.5</a:t>
            </a:r>
            <a:endParaRPr lang="en-US" sz="1000" dirty="0"/>
          </a:p>
        </p:txBody>
      </p:sp>
      <p:sp>
        <p:nvSpPr>
          <p:cNvPr id="49" name="Shape 22">
            <a:extLst>
              <a:ext uri="{FF2B5EF4-FFF2-40B4-BE49-F238E27FC236}">
                <a16:creationId xmlns:a16="http://schemas.microsoft.com/office/drawing/2014/main" id="{BC1E56E5-16BB-6983-9A59-55AA4EA512BB}"/>
              </a:ext>
            </a:extLst>
          </p:cNvPr>
          <p:cNvSpPr/>
          <p:nvPr/>
        </p:nvSpPr>
        <p:spPr>
          <a:xfrm>
            <a:off x="3355848" y="2064864"/>
            <a:ext cx="66294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F90808A0-6C6F-75A2-EE46-B109D963C927}"/>
              </a:ext>
            </a:extLst>
          </p:cNvPr>
          <p:cNvSpPr/>
          <p:nvPr/>
        </p:nvSpPr>
        <p:spPr>
          <a:xfrm>
            <a:off x="3355848" y="2064864"/>
            <a:ext cx="6629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Express</a:t>
            </a:r>
            <a:endParaRPr lang="en-US" sz="1000" dirty="0"/>
          </a:p>
        </p:txBody>
      </p:sp>
      <p:sp>
        <p:nvSpPr>
          <p:cNvPr id="53" name="Shape 24">
            <a:extLst>
              <a:ext uri="{FF2B5EF4-FFF2-40B4-BE49-F238E27FC236}">
                <a16:creationId xmlns:a16="http://schemas.microsoft.com/office/drawing/2014/main" id="{881A81E2-59C2-67AD-3174-4E6856265C67}"/>
              </a:ext>
            </a:extLst>
          </p:cNvPr>
          <p:cNvSpPr/>
          <p:nvPr/>
        </p:nvSpPr>
        <p:spPr>
          <a:xfrm>
            <a:off x="4101084" y="2064864"/>
            <a:ext cx="80010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CFDE58AB-BD3D-DCAA-CDF3-D75C76C0F171}"/>
              </a:ext>
            </a:extLst>
          </p:cNvPr>
          <p:cNvSpPr/>
          <p:nvPr/>
        </p:nvSpPr>
        <p:spPr>
          <a:xfrm>
            <a:off x="4101084" y="2064864"/>
            <a:ext cx="8001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Capacitor</a:t>
            </a:r>
            <a:endParaRPr lang="en-US" sz="1000" dirty="0"/>
          </a:p>
        </p:txBody>
      </p:sp>
      <p:sp>
        <p:nvSpPr>
          <p:cNvPr id="57" name="Text 26">
            <a:extLst>
              <a:ext uri="{FF2B5EF4-FFF2-40B4-BE49-F238E27FC236}">
                <a16:creationId xmlns:a16="http://schemas.microsoft.com/office/drawing/2014/main" id="{E068FC3D-6C39-316D-AF4F-58B1BBB7C800}"/>
              </a:ext>
            </a:extLst>
          </p:cNvPr>
          <p:cNvSpPr/>
          <p:nvPr/>
        </p:nvSpPr>
        <p:spPr>
          <a:xfrm>
            <a:off x="640080" y="2399828"/>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mobile-first personal finance manager for Indonesian users. Saku makes logging income and expenses nearly frictionless, then layers on an AI advisor (Google Gemini 2.5 Flash) that is grounded on the user's own transactions and replies in natural Bahasa Indonesia. A Telegram bot lets users record spending simply by chatting, “60rb makan siang” becomes a categorised expense of Rp 60.000.</a:t>
            </a:r>
            <a:endParaRPr lang="en-US" sz="1400" dirty="0"/>
          </a:p>
        </p:txBody>
      </p:sp>
      <p:sp>
        <p:nvSpPr>
          <p:cNvPr id="59" name="Text 27">
            <a:extLst>
              <a:ext uri="{FF2B5EF4-FFF2-40B4-BE49-F238E27FC236}">
                <a16:creationId xmlns:a16="http://schemas.microsoft.com/office/drawing/2014/main" id="{29A2C6C4-C6F4-346E-1333-FA6FD59D3265}"/>
              </a:ext>
            </a:extLst>
          </p:cNvPr>
          <p:cNvSpPr/>
          <p:nvPr/>
        </p:nvSpPr>
        <p:spPr>
          <a:xfrm>
            <a:off x="640080" y="3526964"/>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746A5AE9-05C5-B36A-0C35-6D1CA5B22EC3}"/>
              </a:ext>
            </a:extLst>
          </p:cNvPr>
          <p:cNvSpPr/>
          <p:nvPr/>
        </p:nvSpPr>
        <p:spPr>
          <a:xfrm>
            <a:off x="640080" y="3782251"/>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E81E91A0-A745-7AC3-72F3-AC5C7FE97A8D}"/>
              </a:ext>
            </a:extLst>
          </p:cNvPr>
          <p:cNvSpPr/>
          <p:nvPr/>
        </p:nvSpPr>
        <p:spPr>
          <a:xfrm>
            <a:off x="640080" y="386286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Telegram bot logs spending from natural language:  “60rb makan siang” becomes a categorised Rp 60.000 expense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Grounded AI advisor: WhatsApp-style chat answering questions about the user's real transactions in Bahasa Indonesia</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Analytics suite: category donut, 7-day income-vs-expense trends, budget progress and AI-generated insights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Cross-platform React 19 + Vite client wrapped with Capacitor 8, deployed serverless on Vercel with Excel export</a:t>
            </a:r>
            <a:endParaRPr lang="en-US" sz="1400" dirty="0"/>
          </a:p>
        </p:txBody>
      </p:sp>
      <p:sp>
        <p:nvSpPr>
          <p:cNvPr id="65" name="Shape 30">
            <a:extLst>
              <a:ext uri="{FF2B5EF4-FFF2-40B4-BE49-F238E27FC236}">
                <a16:creationId xmlns:a16="http://schemas.microsoft.com/office/drawing/2014/main" id="{D665FA71-42DD-536C-C951-47099D41A201}"/>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lstStyle/>
          <a:p>
            <a:endParaRPr lang="en-ID" dirty="0"/>
          </a:p>
        </p:txBody>
      </p:sp>
      <p:sp>
        <p:nvSpPr>
          <p:cNvPr id="67" name="Shape 31">
            <a:extLst>
              <a:ext uri="{FF2B5EF4-FFF2-40B4-BE49-F238E27FC236}">
                <a16:creationId xmlns:a16="http://schemas.microsoft.com/office/drawing/2014/main" id="{0EC16814-CBC6-F4B4-FF74-F50299AE3982}"/>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4AF7C5A4-5B93-0B1E-2AC7-35AC2017399B}"/>
              </a:ext>
            </a:extLst>
          </p:cNvPr>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Saku dashboard, analytics and AI advisor</a:t>
            </a:r>
            <a:endParaRPr lang="en-US" sz="1000" dirty="0"/>
          </a:p>
        </p:txBody>
      </p:sp>
      <p:pic>
        <p:nvPicPr>
          <p:cNvPr id="71" name="Picture 70">
            <a:extLst>
              <a:ext uri="{FF2B5EF4-FFF2-40B4-BE49-F238E27FC236}">
                <a16:creationId xmlns:a16="http://schemas.microsoft.com/office/drawing/2014/main" id="{F0148691-08E3-A4ED-7DD6-C9CF3AEC4AF6}"/>
              </a:ext>
            </a:extLst>
          </p:cNvPr>
          <p:cNvPicPr>
            <a:picLocks noChangeAspect="1"/>
          </p:cNvPicPr>
          <p:nvPr/>
        </p:nvPicPr>
        <p:blipFill>
          <a:blip r:embed="rId3"/>
          <a:stretch>
            <a:fillRect/>
          </a:stretch>
        </p:blipFill>
        <p:spPr>
          <a:xfrm>
            <a:off x="8140693" y="1243584"/>
            <a:ext cx="1129284" cy="2526112"/>
          </a:xfrm>
          <a:prstGeom prst="rect">
            <a:avLst/>
          </a:prstGeom>
        </p:spPr>
      </p:pic>
      <p:pic>
        <p:nvPicPr>
          <p:cNvPr id="73" name="Picture 72">
            <a:extLst>
              <a:ext uri="{FF2B5EF4-FFF2-40B4-BE49-F238E27FC236}">
                <a16:creationId xmlns:a16="http://schemas.microsoft.com/office/drawing/2014/main" id="{8F4E2AE5-14EC-502D-470E-B3CB3AB85B1E}"/>
              </a:ext>
            </a:extLst>
          </p:cNvPr>
          <p:cNvPicPr>
            <a:picLocks noChangeAspect="1"/>
          </p:cNvPicPr>
          <p:nvPr/>
        </p:nvPicPr>
        <p:blipFill>
          <a:blip r:embed="rId4"/>
          <a:stretch>
            <a:fillRect/>
          </a:stretch>
        </p:blipFill>
        <p:spPr>
          <a:xfrm>
            <a:off x="9902632" y="1238850"/>
            <a:ext cx="1129284" cy="2529350"/>
          </a:xfrm>
          <a:prstGeom prst="rect">
            <a:avLst/>
          </a:prstGeom>
        </p:spPr>
      </p:pic>
      <p:pic>
        <p:nvPicPr>
          <p:cNvPr id="75" name="Picture 74">
            <a:extLst>
              <a:ext uri="{FF2B5EF4-FFF2-40B4-BE49-F238E27FC236}">
                <a16:creationId xmlns:a16="http://schemas.microsoft.com/office/drawing/2014/main" id="{E32F2C25-9530-39B3-D1C5-27526A7AE1A1}"/>
              </a:ext>
            </a:extLst>
          </p:cNvPr>
          <p:cNvPicPr>
            <a:picLocks noChangeAspect="1"/>
          </p:cNvPicPr>
          <p:nvPr/>
        </p:nvPicPr>
        <p:blipFill>
          <a:blip r:embed="rId5"/>
          <a:stretch>
            <a:fillRect/>
          </a:stretch>
        </p:blipFill>
        <p:spPr>
          <a:xfrm>
            <a:off x="8270021" y="3834037"/>
            <a:ext cx="922132" cy="2059924"/>
          </a:xfrm>
          <a:prstGeom prst="rect">
            <a:avLst/>
          </a:prstGeom>
        </p:spPr>
      </p:pic>
      <p:pic>
        <p:nvPicPr>
          <p:cNvPr id="77" name="Picture 76">
            <a:extLst>
              <a:ext uri="{FF2B5EF4-FFF2-40B4-BE49-F238E27FC236}">
                <a16:creationId xmlns:a16="http://schemas.microsoft.com/office/drawing/2014/main" id="{12814DF5-2C25-1C97-F9A5-E0694C3A53DB}"/>
              </a:ext>
            </a:extLst>
          </p:cNvPr>
          <p:cNvPicPr>
            <a:picLocks noChangeAspect="1"/>
          </p:cNvPicPr>
          <p:nvPr/>
        </p:nvPicPr>
        <p:blipFill>
          <a:blip r:embed="rId6"/>
          <a:stretch>
            <a:fillRect/>
          </a:stretch>
        </p:blipFill>
        <p:spPr>
          <a:xfrm>
            <a:off x="10005583" y="3817247"/>
            <a:ext cx="956860" cy="2126353"/>
          </a:xfrm>
          <a:prstGeom prst="rect">
            <a:avLst/>
          </a:prstGeom>
        </p:spPr>
      </p:pic>
    </p:spTree>
    <p:extLst>
      <p:ext uri="{BB962C8B-B14F-4D97-AF65-F5344CB8AC3E}">
        <p14:creationId xmlns:p14="http://schemas.microsoft.com/office/powerpoint/2010/main" val="3060322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18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MACHINE LEARNING COURSE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Iris Flower Classification with Support Vector Machine</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693781" y="1563251"/>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iris.png"/>
          <p:cNvPicPr>
            <a:picLocks noChangeAspect="1"/>
          </p:cNvPicPr>
          <p:nvPr/>
        </p:nvPicPr>
        <p:blipFill>
          <a:blip r:embed="rId3"/>
          <a:stretch>
            <a:fillRect/>
          </a:stretch>
        </p:blipFill>
        <p:spPr>
          <a:xfrm>
            <a:off x="6835140" y="1720007"/>
            <a:ext cx="320040" cy="274320"/>
          </a:xfrm>
          <a:prstGeom prst="rect">
            <a:avLst/>
          </a:prstGeom>
        </p:spPr>
      </p:pic>
      <p:sp>
        <p:nvSpPr>
          <p:cNvPr id="19" name="Shape 16"/>
          <p:cNvSpPr/>
          <p:nvPr/>
        </p:nvSpPr>
        <p:spPr>
          <a:xfrm>
            <a:off x="640080" y="2606040"/>
            <a:ext cx="649224"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64922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21" name="Shape 18"/>
          <p:cNvSpPr/>
          <p:nvPr/>
        </p:nvSpPr>
        <p:spPr>
          <a:xfrm>
            <a:off x="1380744" y="2606040"/>
            <a:ext cx="45720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80744"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SVM</a:t>
            </a:r>
            <a:endParaRPr lang="en-US" sz="1000" dirty="0"/>
          </a:p>
        </p:txBody>
      </p:sp>
      <p:sp>
        <p:nvSpPr>
          <p:cNvPr id="23" name="Shape 20"/>
          <p:cNvSpPr/>
          <p:nvPr/>
        </p:nvSpPr>
        <p:spPr>
          <a:xfrm>
            <a:off x="1929384" y="2606040"/>
            <a:ext cx="1115568"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929384"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Scikit-learn</a:t>
            </a:r>
            <a:endParaRPr lang="en-US" sz="1000" dirty="0"/>
          </a:p>
        </p:txBody>
      </p:sp>
      <p:sp>
        <p:nvSpPr>
          <p:cNvPr id="25" name="Shape 22"/>
          <p:cNvSpPr/>
          <p:nvPr/>
        </p:nvSpPr>
        <p:spPr>
          <a:xfrm>
            <a:off x="3136392" y="2606040"/>
            <a:ext cx="1115568"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136392"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Google Colab</a:t>
            </a:r>
            <a:endParaRPr lang="en-US" sz="1000" dirty="0"/>
          </a:p>
        </p:txBody>
      </p:sp>
      <p:sp>
        <p:nvSpPr>
          <p:cNvPr id="27" name="Text 24"/>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Built and evaluated a Support Vector Machine model to classify Iris flower species using petal and sepal measurements. The project followed a complete ML pipeline — from exploratory data analysis and preprocessing through model training, evaluation with confusion matrices, and classification reporting — strengthening my foundation in supervised learning workflows.</a:t>
            </a:r>
            <a:endParaRPr lang="en-US" sz="1400" dirty="0"/>
          </a:p>
        </p:txBody>
      </p:sp>
      <p:sp>
        <p:nvSpPr>
          <p:cNvPr id="28" name="Text 25"/>
          <p:cNvSpPr/>
          <p:nvPr/>
        </p:nvSpPr>
        <p:spPr>
          <a:xfrm>
            <a:off x="640080" y="4366260"/>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40580"/>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700389"/>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Achieved over 90% classification accuracy on test set with linear-kernel SVM</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Train-test split of 80:20 with proper cross-validation methodology</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 ML pipeline: preprocessing, training, evaluation, and reporting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Practical foundation for advanced supervised learning workflows</a:t>
            </a:r>
            <a:endParaRPr lang="en-US" sz="1400" dirty="0"/>
          </a:p>
        </p:txBody>
      </p:sp>
      <p:sp>
        <p:nvSpPr>
          <p:cNvPr id="31" name="Shape 28"/>
          <p:cNvSpPr/>
          <p:nvPr/>
        </p:nvSpPr>
        <p:spPr>
          <a:xfrm>
            <a:off x="7429500" y="1097280"/>
            <a:ext cx="427482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318045"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iris_cm.jpg"/>
          <p:cNvPicPr>
            <a:picLocks noChangeAspect="1"/>
          </p:cNvPicPr>
          <p:nvPr/>
        </p:nvPicPr>
        <p:blipFill>
          <a:blip r:embed="rId4"/>
          <a:srcRect/>
          <a:stretch/>
        </p:blipFill>
        <p:spPr>
          <a:xfrm>
            <a:off x="7565306" y="1482263"/>
            <a:ext cx="3910414" cy="4086433"/>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Confusion matrix — training vs testing performance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19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PKM-KC FUNDED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AromatheraWrist: Smart Bracelet for Anxiety Relief</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Lead Developer · PKM-KC Team</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aroma.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804672"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Wearable</a:t>
            </a:r>
            <a:endParaRPr lang="en-US" sz="1000" dirty="0"/>
          </a:p>
        </p:txBody>
      </p:sp>
      <p:sp>
        <p:nvSpPr>
          <p:cNvPr id="21" name="Shape 18"/>
          <p:cNvSpPr/>
          <p:nvPr/>
        </p:nvSpPr>
        <p:spPr>
          <a:xfrm>
            <a:off x="1536192" y="2606040"/>
            <a:ext cx="96012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536192"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Biomedical</a:t>
            </a:r>
            <a:endParaRPr lang="en-US" sz="1000" dirty="0"/>
          </a:p>
        </p:txBody>
      </p:sp>
      <p:sp>
        <p:nvSpPr>
          <p:cNvPr id="23" name="Shape 20"/>
          <p:cNvSpPr/>
          <p:nvPr/>
        </p:nvSpPr>
        <p:spPr>
          <a:xfrm>
            <a:off x="2587752" y="2606040"/>
            <a:ext cx="960120"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2587752"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Mobile App</a:t>
            </a:r>
            <a:endParaRPr lang="en-US" sz="1000" dirty="0"/>
          </a:p>
        </p:txBody>
      </p:sp>
      <p:sp>
        <p:nvSpPr>
          <p:cNvPr id="25" name="Shape 22"/>
          <p:cNvSpPr/>
          <p:nvPr/>
        </p:nvSpPr>
        <p:spPr>
          <a:xfrm>
            <a:off x="3639312" y="2606040"/>
            <a:ext cx="804672"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639312"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Embedded</a:t>
            </a:r>
            <a:endParaRPr lang="en-US" sz="1000" dirty="0"/>
          </a:p>
        </p:txBody>
      </p:sp>
      <p:sp>
        <p:nvSpPr>
          <p:cNvPr id="27" name="Text 24"/>
          <p:cNvSpPr/>
          <p:nvPr/>
        </p:nvSpPr>
        <p:spPr>
          <a:xfrm>
            <a:off x="640080" y="3108960"/>
            <a:ext cx="6400800" cy="841248"/>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innovative wearable bracelet that integrates aromatherapy delivery with a real-time pulse sensor, controlled via a companion mobile application to help reduce anxiety symptoms in users. The project combined biomedical signal processing with user-centered design, and was awarded PKM Karsa Cipta funding by the Indonesian Ministry of Education.</a:t>
            </a:r>
            <a:endParaRPr lang="en-US" sz="1400" dirty="0"/>
          </a:p>
        </p:txBody>
      </p:sp>
      <p:sp>
        <p:nvSpPr>
          <p:cNvPr id="28" name="Text 25"/>
          <p:cNvSpPr/>
          <p:nvPr/>
        </p:nvSpPr>
        <p:spPr>
          <a:xfrm>
            <a:off x="640080" y="435366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23412"/>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701323"/>
            <a:ext cx="6400800" cy="1110996"/>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Awarded PKM Karsa Cipta funding by Indonesian Ministry of Education (2024)</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4th Place — PKM IC Karsa Cipta Scheme</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pulse rate monitoring with embedded sensor system</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Mobile app integration for aromatherapy spray control</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aroma_wrist.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AromatheraWrist prototype — aromatherapy spray and pulse sensor</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20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ELECTRONICS SYSTEMS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IoT Automatic Temperature Control</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iot.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57150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5715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21" name="Shape 18"/>
          <p:cNvSpPr/>
          <p:nvPr/>
        </p:nvSpPr>
        <p:spPr>
          <a:xfrm>
            <a:off x="1303020" y="2606040"/>
            <a:ext cx="493776"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03020" y="2606040"/>
            <a:ext cx="4937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MQTT</a:t>
            </a:r>
            <a:endParaRPr lang="en-US" sz="1000" dirty="0"/>
          </a:p>
        </p:txBody>
      </p:sp>
      <p:sp>
        <p:nvSpPr>
          <p:cNvPr id="23" name="Shape 20"/>
          <p:cNvSpPr/>
          <p:nvPr/>
        </p:nvSpPr>
        <p:spPr>
          <a:xfrm>
            <a:off x="1888236" y="2606040"/>
            <a:ext cx="1037844"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888236" y="2606040"/>
            <a:ext cx="103784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PID Control</a:t>
            </a:r>
            <a:endParaRPr lang="en-US" sz="1000" dirty="0"/>
          </a:p>
        </p:txBody>
      </p:sp>
      <p:sp>
        <p:nvSpPr>
          <p:cNvPr id="25" name="Shape 22"/>
          <p:cNvSpPr/>
          <p:nvPr/>
        </p:nvSpPr>
        <p:spPr>
          <a:xfrm>
            <a:off x="3017520" y="2606040"/>
            <a:ext cx="649224"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017520" y="2606040"/>
            <a:ext cx="64922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27" name="Text 24"/>
          <p:cNvSpPr/>
          <p:nvPr/>
        </p:nvSpPr>
        <p:spPr>
          <a:xfrm>
            <a:off x="640080" y="3108960"/>
            <a:ext cx="6400800" cy="969264"/>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IoT-based automatic temperature control system using ESP32 and DHT11 sensor, with a Python-based PID controller communicating via MQTT to dynamically regulate fan speed based on real-time room temperature. The system demonstrated stable closed-loop control with accurate response to environmental changes.</a:t>
            </a:r>
            <a:endParaRPr lang="en-US" sz="1400" dirty="0"/>
          </a:p>
        </p:txBody>
      </p:sp>
      <p:sp>
        <p:nvSpPr>
          <p:cNvPr id="28" name="Text 25"/>
          <p:cNvSpPr/>
          <p:nvPr/>
        </p:nvSpPr>
        <p:spPr>
          <a:xfrm>
            <a:off x="640080" y="4210812"/>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491990"/>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57200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ESP32 (publisher) + Python application (subscriber) over MQTT broker</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L298N motor driver controlling DC fan with PID-tuned response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monitoring dashboard with temperature, humidity, and fan speed gauges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Demonstrated stability and accuracy in real-time control loop</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iot_temp.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setup + monitoring dashboard with PID output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21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EMBEDDED SYSTEM FINAL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Air Quality Monitoring Tool</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air.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1037844"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103784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Arduino Uno</a:t>
            </a:r>
            <a:endParaRPr lang="en-US" sz="1000" dirty="0"/>
          </a:p>
        </p:txBody>
      </p:sp>
      <p:sp>
        <p:nvSpPr>
          <p:cNvPr id="21" name="Shape 18"/>
          <p:cNvSpPr/>
          <p:nvPr/>
        </p:nvSpPr>
        <p:spPr>
          <a:xfrm>
            <a:off x="1769364" y="2606040"/>
            <a:ext cx="134874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769364" y="2606040"/>
            <a:ext cx="13487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NodeMCU ESP8266</a:t>
            </a:r>
            <a:endParaRPr lang="en-US" sz="1000" dirty="0"/>
          </a:p>
        </p:txBody>
      </p:sp>
      <p:sp>
        <p:nvSpPr>
          <p:cNvPr id="23" name="Shape 20"/>
          <p:cNvSpPr/>
          <p:nvPr/>
        </p:nvSpPr>
        <p:spPr>
          <a:xfrm>
            <a:off x="3209544" y="2606040"/>
            <a:ext cx="882396"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3209544" y="2606040"/>
            <a:ext cx="88239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Blynk IoT</a:t>
            </a:r>
            <a:endParaRPr lang="en-US" sz="1000" dirty="0"/>
          </a:p>
        </p:txBody>
      </p:sp>
      <p:sp>
        <p:nvSpPr>
          <p:cNvPr id="25" name="Shape 22"/>
          <p:cNvSpPr/>
          <p:nvPr/>
        </p:nvSpPr>
        <p:spPr>
          <a:xfrm>
            <a:off x="4183380" y="2606040"/>
            <a:ext cx="1115568"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4183380"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Multi-Sensor</a:t>
            </a:r>
            <a:endParaRPr lang="en-US" sz="1000" dirty="0"/>
          </a:p>
        </p:txBody>
      </p:sp>
      <p:sp>
        <p:nvSpPr>
          <p:cNvPr id="27" name="Text 24"/>
          <p:cNvSpPr/>
          <p:nvPr/>
        </p:nvSpPr>
        <p:spPr>
          <a:xfrm>
            <a:off x="640080" y="3108960"/>
            <a:ext cx="6400800" cy="1106424"/>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real-time air quality monitoring system that measures temperature, humidity, gas concentration (PPM), and light intensity using multiple sensors integrated with Arduino Uno and NodeMCU ESP8266. Data is transmitted to the Blynk IoT platform, enabling real-time monitoring and remote control via smartphone application.</a:t>
            </a:r>
            <a:endParaRPr lang="en-US" sz="1400" dirty="0"/>
          </a:p>
        </p:txBody>
      </p:sp>
      <p:sp>
        <p:nvSpPr>
          <p:cNvPr id="28" name="Text 25"/>
          <p:cNvSpPr/>
          <p:nvPr/>
        </p:nvSpPr>
        <p:spPr>
          <a:xfrm>
            <a:off x="640080" y="4182820"/>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463998"/>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52628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Multi-sensor integration: DHT11 (temp/humidity), MQ-135 (gas), LDR (light)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Cloud-based dashboard with mobile remote control via Blynk IoT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environmental data logging with notification alerts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Day/night mode detection with automatic relay switching</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air_quality.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schematic, breadboard prototype, and Blynk app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22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MICROPROCESSOR SYSTEMS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Three-Lane Adaptive Traffic Light Simulator</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traffic.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96012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ATmega328P</a:t>
            </a:r>
            <a:endParaRPr lang="en-US" sz="1000" dirty="0"/>
          </a:p>
        </p:txBody>
      </p:sp>
      <p:sp>
        <p:nvSpPr>
          <p:cNvPr id="21" name="Shape 18"/>
          <p:cNvSpPr/>
          <p:nvPr/>
        </p:nvSpPr>
        <p:spPr>
          <a:xfrm>
            <a:off x="1691640" y="2606040"/>
            <a:ext cx="1271016"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691640" y="2606040"/>
            <a:ext cx="127101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CodeVision AVR</a:t>
            </a:r>
            <a:endParaRPr lang="en-US" sz="1000" dirty="0"/>
          </a:p>
        </p:txBody>
      </p:sp>
      <p:sp>
        <p:nvSpPr>
          <p:cNvPr id="23" name="Shape 20"/>
          <p:cNvSpPr/>
          <p:nvPr/>
        </p:nvSpPr>
        <p:spPr>
          <a:xfrm>
            <a:off x="3054096" y="2606040"/>
            <a:ext cx="726948"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3054096" y="2606040"/>
            <a:ext cx="72694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Proteus</a:t>
            </a:r>
            <a:endParaRPr lang="en-US" sz="1000" dirty="0"/>
          </a:p>
        </p:txBody>
      </p:sp>
      <p:sp>
        <p:nvSpPr>
          <p:cNvPr id="25" name="Shape 22"/>
          <p:cNvSpPr/>
          <p:nvPr/>
        </p:nvSpPr>
        <p:spPr>
          <a:xfrm>
            <a:off x="3872484" y="2606040"/>
            <a:ext cx="457200"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872484"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t>
            </a:r>
            <a:endParaRPr lang="en-US" sz="1000" dirty="0"/>
          </a:p>
        </p:txBody>
      </p:sp>
      <p:sp>
        <p:nvSpPr>
          <p:cNvPr id="27" name="Text 24"/>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adaptive traffic light controller for a three-way intersection, programmed in C via CodeVision AVR (CVAVR) and simulated using Proteus 8 Professional. Each lane is equipped with a seven-segment countdown timer, and the system dynamically adjusts the green light duration based on traffic density signals from push buttons combined with JK flip-flop logic.</a:t>
            </a:r>
            <a:endParaRPr lang="en-US" sz="1400" dirty="0"/>
          </a:p>
        </p:txBody>
      </p:sp>
      <p:sp>
        <p:nvSpPr>
          <p:cNvPr id="28" name="Text 25"/>
          <p:cNvSpPr/>
          <p:nvPr/>
        </p:nvSpPr>
        <p:spPr>
          <a:xfrm>
            <a:off x="640080" y="439826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61154"/>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68401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ATmega328P microcontroller programmed in C via CVAVR</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7-segment countdown display per lane with dynamic timing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Density-aware green-phase scheduling using JK flip-flop logic</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Simulated and validated in Proteus 8 Professional</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traffic_proteus.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Three-way intersection simulation in Proteus 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Teaching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pic>
        <p:nvPicPr>
          <p:cNvPr id="17" name="Image 0" descr="/home/claude/icons/exp_pln.png"/>
          <p:cNvPicPr>
            <a:picLocks noChangeAspect="1"/>
          </p:cNvPicPr>
          <p:nvPr/>
        </p:nvPicPr>
        <p:blipFill>
          <a:blip r:embed="rId3"/>
          <a:stretch>
            <a:fillRect/>
          </a:stretch>
        </p:blipFill>
        <p:spPr>
          <a:xfrm>
            <a:off x="10698480" y="1783080"/>
            <a:ext cx="320040" cy="320040"/>
          </a:xfrm>
          <a:prstGeom prst="rect">
            <a:avLst/>
          </a:prstGeom>
        </p:spPr>
      </p:pic>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Telecommunication Systems</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Apr 2025 – Jan 2026</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22" name="Text 19"/>
          <p:cNvSpPr/>
          <p:nvPr/>
        </p:nvSpPr>
        <p:spPr>
          <a:xfrm>
            <a:off x="914400" y="2240280"/>
            <a:ext cx="9875520" cy="10058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Guide undergraduate students through hands-on telecommunication systems experiments.</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Prepare lab modules, evaluate student reports, and assist with troubleshooting.</a:t>
            </a:r>
            <a:endParaRPr lang="en-US" sz="1400" dirty="0"/>
          </a:p>
        </p:txBody>
      </p:sp>
      <p:sp>
        <p:nvSpPr>
          <p:cNvPr id="23" name="Shape 20"/>
          <p:cNvSpPr/>
          <p:nvPr/>
        </p:nvSpPr>
        <p:spPr>
          <a:xfrm>
            <a:off x="594360" y="370332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657600"/>
            <a:ext cx="502920" cy="502920"/>
          </a:xfrm>
          <a:prstGeom prst="ellipse">
            <a:avLst/>
          </a:prstGeom>
          <a:solidFill>
            <a:srgbClr val="0A1628"/>
          </a:solidFill>
          <a:ln w="7620">
            <a:solidFill>
              <a:srgbClr val="C9A961"/>
            </a:solidFill>
            <a:prstDash val="solid"/>
          </a:ln>
        </p:spPr>
        <p:txBody>
          <a:bodyPr/>
          <a:p/>
        </p:txBody>
      </p:sp>
      <p:pic>
        <p:nvPicPr>
          <p:cNvPr id="25" name="Image 1" descr="/home/claude/icons/exp_lab.png"/>
          <p:cNvPicPr>
            <a:picLocks noChangeAspect="1"/>
          </p:cNvPicPr>
          <p:nvPr/>
        </p:nvPicPr>
        <p:blipFill>
          <a:blip r:embed="rId4"/>
          <a:stretch>
            <a:fillRect/>
          </a:stretch>
        </p:blipFill>
        <p:spPr>
          <a:xfrm>
            <a:off x="10698480" y="3749040"/>
            <a:ext cx="320040" cy="320040"/>
          </a:xfrm>
          <a:prstGeom prst="rect">
            <a:avLst/>
          </a:prstGeom>
        </p:spPr>
      </p:pic>
      <p:sp>
        <p:nvSpPr>
          <p:cNvPr id="26" name="Text 22"/>
          <p:cNvSpPr/>
          <p:nvPr/>
        </p:nvSpPr>
        <p:spPr>
          <a:xfrm>
            <a:off x="914400" y="365760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Control Systems (PID &amp; LabVIEW)</a:t>
            </a:r>
            <a:endParaRPr lang="en-US" sz="1400" dirty="0"/>
          </a:p>
        </p:txBody>
      </p:sp>
      <p:sp>
        <p:nvSpPr>
          <p:cNvPr id="27" name="Text 23"/>
          <p:cNvSpPr/>
          <p:nvPr/>
        </p:nvSpPr>
        <p:spPr>
          <a:xfrm>
            <a:off x="914400" y="393192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8" name="Text 24"/>
          <p:cNvSpPr/>
          <p:nvPr/>
        </p:nvSpPr>
        <p:spPr>
          <a:xfrm>
            <a:off x="8183880" y="36576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2025</a:t>
            </a:r>
            <a:endParaRPr lang="en-US" sz="1000" dirty="0"/>
          </a:p>
        </p:txBody>
      </p:sp>
      <p:sp>
        <p:nvSpPr>
          <p:cNvPr id="29" name="Text 25"/>
          <p:cNvSpPr/>
          <p:nvPr/>
        </p:nvSpPr>
        <p:spPr>
          <a:xfrm>
            <a:off x="8183880" y="38862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30" name="Text 26"/>
          <p:cNvSpPr/>
          <p:nvPr/>
        </p:nvSpPr>
        <p:spPr>
          <a:xfrm>
            <a:off x="914400" y="4206240"/>
            <a:ext cx="9875520" cy="548640"/>
          </a:xfrm>
          <a:prstGeom prst="rect">
            <a:avLst/>
          </a:prstGeom>
          <a:noFill/>
          <a:ln/>
        </p:spPr>
        <p:txBody>
          <a:bodyPr wrap="square" lIns="0" tIns="0" rIns="0" bIns="0" rtlCol="0" anchor="t"/>
          <a:lstStyle/>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students on PID controller design, tuning, and LabVIEW-based simulation.</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Assisted in conducting practical sessions for closed-loop control experiments.</a:t>
            </a:r>
            <a:endParaRPr lang="en-US" sz="1400" dirty="0"/>
          </a:p>
        </p:txBody>
      </p:sp>
      <p:sp>
        <p:nvSpPr>
          <p:cNvPr id="39" name="Shape 34"/>
          <p:cNvSpPr/>
          <p:nvPr/>
        </p:nvSpPr>
        <p:spPr>
          <a:xfrm>
            <a:off x="676656" y="1874520"/>
            <a:ext cx="0" cy="4572000"/>
          </a:xfrm>
          <a:prstGeom prst="line">
            <a:avLst/>
          </a:prstGeom>
          <a:noFill/>
          <a:ln w="10160">
            <a:solidFill>
              <a:srgbClr val="C9A961"/>
            </a:solidFill>
            <a:prstDash val="solid"/>
          </a:ln>
        </p:spPr>
        <p:txBody>
          <a:body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25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Teaching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pic>
        <p:nvPicPr>
          <p:cNvPr id="17" name="Image 0" descr="/home/claude/icons/exp_lab.png"/>
          <p:cNvPicPr>
            <a:picLocks noChangeAspect="1"/>
          </p:cNvPicPr>
          <p:nvPr/>
        </p:nvPicPr>
        <p:blipFill>
          <a:blip r:embed="rId3"/>
          <a:stretch>
            <a:fillRect/>
          </a:stretch>
        </p:blipFill>
        <p:spPr>
          <a:xfrm>
            <a:off x="10698480" y="1783080"/>
            <a:ext cx="320040" cy="320040"/>
          </a:xfrm>
          <a:prstGeom prst="rect">
            <a:avLst/>
          </a:prstGeom>
        </p:spPr>
      </p:pic>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Digital Systems (VHDL &amp; FPGA)</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2024 – 2025</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22" name="Text 19"/>
          <p:cNvSpPr/>
          <p:nvPr/>
        </p:nvSpPr>
        <p:spPr>
          <a:xfrm>
            <a:off x="914400" y="2240280"/>
            <a:ext cx="9875520" cy="5486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students on digital logic design using VHDL and FPGA implementation.</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Supervised hands-on laboratory work in combinational and sequential logic circuits.</a:t>
            </a:r>
            <a:endParaRPr lang="en-US" sz="1400" dirty="0"/>
          </a:p>
        </p:txBody>
      </p:sp>
      <p:sp>
        <p:nvSpPr>
          <p:cNvPr id="23" name="Shape 20"/>
          <p:cNvSpPr/>
          <p:nvPr/>
        </p:nvSpPr>
        <p:spPr>
          <a:xfrm>
            <a:off x="594360" y="320040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154680"/>
            <a:ext cx="502920" cy="502920"/>
          </a:xfrm>
          <a:prstGeom prst="ellipse">
            <a:avLst/>
          </a:prstGeom>
          <a:solidFill>
            <a:srgbClr val="0A1628"/>
          </a:solidFill>
          <a:ln w="7620">
            <a:solidFill>
              <a:srgbClr val="C9A961"/>
            </a:solidFill>
            <a:prstDash val="solid"/>
          </a:ln>
        </p:spPr>
        <p:txBody>
          <a:bodyPr/>
          <a:p/>
        </p:txBody>
      </p:sp>
      <p:pic>
        <p:nvPicPr>
          <p:cNvPr id="25" name="Image 1" descr="/home/claude/icons/exp_lab.png"/>
          <p:cNvPicPr>
            <a:picLocks noChangeAspect="1"/>
          </p:cNvPicPr>
          <p:nvPr/>
        </p:nvPicPr>
        <p:blipFill>
          <a:blip r:embed="rId3"/>
          <a:stretch>
            <a:fillRect/>
          </a:stretch>
        </p:blipFill>
        <p:spPr>
          <a:xfrm>
            <a:off x="10698480" y="3246120"/>
            <a:ext cx="320040" cy="320040"/>
          </a:xfrm>
          <a:prstGeom prst="rect">
            <a:avLst/>
          </a:prstGeom>
        </p:spPr>
      </p:pic>
      <p:sp>
        <p:nvSpPr>
          <p:cNvPr id="26" name="Text 22"/>
          <p:cNvSpPr/>
          <p:nvPr/>
        </p:nvSpPr>
        <p:spPr>
          <a:xfrm>
            <a:off x="914400" y="315468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Electric Circuit II</a:t>
            </a:r>
            <a:endParaRPr lang="en-US" sz="1400" dirty="0"/>
          </a:p>
        </p:txBody>
      </p:sp>
      <p:sp>
        <p:nvSpPr>
          <p:cNvPr id="27" name="Text 23"/>
          <p:cNvSpPr/>
          <p:nvPr/>
        </p:nvSpPr>
        <p:spPr>
          <a:xfrm>
            <a:off x="914400" y="342900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8" name="Text 24"/>
          <p:cNvSpPr/>
          <p:nvPr/>
        </p:nvSpPr>
        <p:spPr>
          <a:xfrm>
            <a:off x="8183880" y="315468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Feb 2024 – Aug 2024</a:t>
            </a:r>
            <a:endParaRPr lang="en-US" sz="1000" dirty="0"/>
          </a:p>
        </p:txBody>
      </p:sp>
      <p:sp>
        <p:nvSpPr>
          <p:cNvPr id="29" name="Text 25"/>
          <p:cNvSpPr/>
          <p:nvPr/>
        </p:nvSpPr>
        <p:spPr>
          <a:xfrm>
            <a:off x="8183880" y="338328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30" name="Text 26"/>
          <p:cNvSpPr/>
          <p:nvPr/>
        </p:nvSpPr>
        <p:spPr>
          <a:xfrm>
            <a:off x="914400" y="3703320"/>
            <a:ext cx="9875520" cy="5486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second-year students on AC circuit analysis, network theorems, and resonance.</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Conducted lab assessments and supported instructors during practical sessions.</a:t>
            </a:r>
            <a:endParaRPr lang="en-US" sz="1400" dirty="0"/>
          </a:p>
        </p:txBody>
      </p:sp>
      <p:sp>
        <p:nvSpPr>
          <p:cNvPr id="31" name="Shape 27"/>
          <p:cNvSpPr/>
          <p:nvPr/>
        </p:nvSpPr>
        <p:spPr>
          <a:xfrm>
            <a:off x="676656" y="1874520"/>
            <a:ext cx="0" cy="2743200"/>
          </a:xfrm>
          <a:prstGeom prst="line">
            <a:avLst/>
          </a:prstGeom>
          <a:noFill/>
          <a:ln w="10160">
            <a:solidFill>
              <a:srgbClr val="C9A961"/>
            </a:solidFill>
            <a:prstDash val="solid"/>
          </a:ln>
        </p:spPr>
        <p:txBody>
          <a:bodyPr/>
          <a:p/>
        </p:txBody>
      </p:sp>
      <p:sp>
        <p:nvSpPr>
          <p:cNvPr id="32" name="Shape 28"/>
          <p:cNvSpPr/>
          <p:nvPr/>
        </p:nvSpPr>
        <p:spPr>
          <a:xfrm>
            <a:off x="7772400" y="1691640"/>
            <a:ext cx="3931920" cy="3017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3" name="Shape 29"/>
          <p:cNvSpPr/>
          <p:nvPr/>
        </p:nvSpPr>
        <p:spPr>
          <a:xfrm>
            <a:off x="7772400" y="1691640"/>
            <a:ext cx="54864" cy="3017520"/>
          </a:xfrm>
          <a:prstGeom prst="rect">
            <a:avLst/>
          </a:prstGeom>
          <a:solidFill>
            <a:srgbClr val="C9A961"/>
          </a:solidFill>
          <a:ln w="12700">
            <a:solidFill>
              <a:srgbClr val="C9A961"/>
            </a:solidFill>
            <a:prstDash val="solid"/>
          </a:ln>
        </p:spPr>
        <p:txBody>
          <a:bodyPr/>
          <a:p/>
        </p:txBody>
      </p:sp>
      <p:pic>
        <p:nvPicPr>
          <p:cNvPr id="34" name="Image 2" descr="/home/claude/project_imgs/lab_assistant.jpg"/>
          <p:cNvPicPr>
            <a:picLocks noChangeAspect="1"/>
          </p:cNvPicPr>
          <p:nvPr/>
        </p:nvPicPr>
        <p:blipFill>
          <a:blip r:embed="rId4"/>
          <a:srcRect/>
          <a:stretch/>
        </p:blipFill>
        <p:spPr>
          <a:xfrm>
            <a:off x="7909560" y="1828800"/>
            <a:ext cx="3657600" cy="2377440"/>
          </a:xfrm>
          <a:prstGeom prst="rect">
            <a:avLst/>
          </a:prstGeom>
        </p:spPr>
      </p:pic>
      <p:sp>
        <p:nvSpPr>
          <p:cNvPr id="35" name="Text 30"/>
          <p:cNvSpPr/>
          <p:nvPr/>
        </p:nvSpPr>
        <p:spPr>
          <a:xfrm>
            <a:off x="7909560" y="425196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Lab session — undergraduate practical</a:t>
            </a:r>
            <a:endParaRPr lang="en-US" sz="1000" dirty="0"/>
          </a:p>
        </p:txBody>
      </p:sp>
      <p:sp>
        <p:nvSpPr>
          <p:cNvPr id="36" name="Shape 31"/>
          <p:cNvSpPr/>
          <p:nvPr/>
        </p:nvSpPr>
        <p:spPr>
          <a:xfrm>
            <a:off x="640080" y="5029200"/>
            <a:ext cx="10881360" cy="118872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37" name="Shape 32"/>
          <p:cNvSpPr/>
          <p:nvPr/>
        </p:nvSpPr>
        <p:spPr>
          <a:xfrm>
            <a:off x="640080" y="5029200"/>
            <a:ext cx="73152" cy="1188720"/>
          </a:xfrm>
          <a:prstGeom prst="rect">
            <a:avLst/>
          </a:prstGeom>
          <a:solidFill>
            <a:srgbClr val="C9A961"/>
          </a:solidFill>
          <a:ln w="12700">
            <a:solidFill>
              <a:srgbClr val="C9A961"/>
            </a:solidFill>
            <a:prstDash val="solid"/>
          </a:ln>
        </p:spPr>
        <p:txBody>
          <a:bodyPr/>
          <a:p/>
        </p:txBody>
      </p:sp>
      <p:sp>
        <p:nvSpPr>
          <p:cNvPr id="38" name="Text 33"/>
          <p:cNvSpPr/>
          <p:nvPr/>
        </p:nvSpPr>
        <p:spPr>
          <a:xfrm>
            <a:off x="868680" y="5120640"/>
            <a:ext cx="45720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TEACHING PROFICIENCY</a:t>
            </a:r>
            <a:endParaRPr lang="en-US" sz="1400" dirty="0"/>
          </a:p>
        </p:txBody>
      </p:sp>
      <p:sp>
        <p:nvSpPr>
          <p:cNvPr id="39" name="Text 34"/>
          <p:cNvSpPr/>
          <p:nvPr/>
        </p:nvSpPr>
        <p:spPr>
          <a:xfrm>
            <a:off x="868680" y="5440680"/>
            <a:ext cx="10607040" cy="777240"/>
          </a:xfrm>
          <a:prstGeom prst="rect">
            <a:avLst/>
          </a:prstGeom>
          <a:noFill/>
          <a:ln/>
        </p:spPr>
        <p:txBody>
          <a:bodyPr wrap="square" lIns="0" tIns="0" rIns="0" bIns="0" rtlCol="0" anchor="t"/>
          <a:lstStyle/>
          <a:p>
            <a:pPr marL="0" indent="0" algn="just">
              <a:buNone/>
            </a:pPr>
            <a:r>
              <a:rPr lang="en-US" sz="1400" dirty="0">
                <a:solidFill>
                  <a:srgbClr val="FFFFFF"/>
                </a:solidFill>
                <a:latin typeface="Calibri" pitchFamily="34" charset="0"/>
                <a:ea typeface="Calibri" pitchFamily="34" charset="-122"/>
                <a:cs typeface="Calibri" pitchFamily="34" charset="-120"/>
              </a:rPr>
              <a:t>Across four semesters as a laboratory assistant, I have mentored over 200 undergraduate students in core electrical engineering subjects — from fundamental circuit theory to modern control systems and digital design. This experience has sharpened my technical communication skills, patience, and ability to break down complex concepts.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26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06  ·  LEADERSHIP</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Leadership &amp; Organizations</a:t>
            </a:r>
            <a:endParaRPr lang="en-US" sz="1400" dirty="0"/>
          </a:p>
        </p:txBody>
      </p:sp>
      <p:sp>
        <p:nvSpPr>
          <p:cNvPr id="15" name="Shape 13"/>
          <p:cNvSpPr/>
          <p:nvPr/>
        </p:nvSpPr>
        <p:spPr>
          <a:xfrm>
            <a:off x="640080" y="1783080"/>
            <a:ext cx="5486400" cy="20116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1783080"/>
            <a:ext cx="5486400" cy="365760"/>
          </a:xfrm>
          <a:prstGeom prst="rect">
            <a:avLst/>
          </a:prstGeom>
          <a:solidFill>
            <a:srgbClr val="0A1628"/>
          </a:solidFill>
          <a:ln w="12700">
            <a:solidFill>
              <a:srgbClr val="0A1628"/>
            </a:solidFill>
            <a:prstDash val="solid"/>
          </a:ln>
        </p:spPr>
        <p:txBody>
          <a:bodyPr/>
          <a:p/>
        </p:txBody>
      </p:sp>
      <p:sp>
        <p:nvSpPr>
          <p:cNvPr id="17" name="Text 15"/>
          <p:cNvSpPr/>
          <p:nvPr/>
        </p:nvSpPr>
        <p:spPr>
          <a:xfrm>
            <a:off x="777240" y="1783080"/>
            <a:ext cx="521208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IEEE STUDENT BRANCH UII</a:t>
            </a:r>
            <a:endParaRPr lang="en-US" sz="1400" dirty="0"/>
          </a:p>
        </p:txBody>
      </p:sp>
      <p:sp>
        <p:nvSpPr>
          <p:cNvPr id="18" name="Shape 16"/>
          <p:cNvSpPr/>
          <p:nvPr/>
        </p:nvSpPr>
        <p:spPr>
          <a:xfrm>
            <a:off x="777240" y="2359152"/>
            <a:ext cx="73152" cy="73152"/>
          </a:xfrm>
          <a:prstGeom prst="rect">
            <a:avLst/>
          </a:prstGeom>
          <a:solidFill>
            <a:srgbClr val="C9A961"/>
          </a:solidFill>
          <a:ln w="12700">
            <a:solidFill>
              <a:srgbClr val="C9A961"/>
            </a:solidFill>
            <a:prstDash val="solid"/>
          </a:ln>
        </p:spPr>
        <p:txBody>
          <a:bodyPr/>
          <a:p/>
        </p:txBody>
      </p:sp>
      <p:sp>
        <p:nvSpPr>
          <p:cNvPr id="19" name="Text 17"/>
          <p:cNvSpPr/>
          <p:nvPr/>
        </p:nvSpPr>
        <p:spPr>
          <a:xfrm>
            <a:off x="932688" y="228600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Director of Academies</a:t>
            </a:r>
            <a:endParaRPr lang="en-US" sz="1400" dirty="0"/>
          </a:p>
        </p:txBody>
      </p:sp>
      <p:sp>
        <p:nvSpPr>
          <p:cNvPr id="20" name="Text 18"/>
          <p:cNvSpPr/>
          <p:nvPr/>
        </p:nvSpPr>
        <p:spPr>
          <a:xfrm>
            <a:off x="932688" y="248716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Jun 2024 – May 2026</a:t>
            </a:r>
            <a:endParaRPr lang="en-US" sz="1400" dirty="0"/>
          </a:p>
        </p:txBody>
      </p:sp>
      <p:sp>
        <p:nvSpPr>
          <p:cNvPr id="21" name="Shape 19"/>
          <p:cNvSpPr/>
          <p:nvPr/>
        </p:nvSpPr>
        <p:spPr>
          <a:xfrm>
            <a:off x="777240" y="2862072"/>
            <a:ext cx="73152" cy="73152"/>
          </a:xfrm>
          <a:prstGeom prst="rect">
            <a:avLst/>
          </a:prstGeom>
          <a:solidFill>
            <a:srgbClr val="C9A961"/>
          </a:solidFill>
          <a:ln w="12700">
            <a:solidFill>
              <a:srgbClr val="C9A961"/>
            </a:solidFill>
            <a:prstDash val="solid"/>
          </a:ln>
        </p:spPr>
        <p:txBody>
          <a:bodyPr/>
          <a:p/>
        </p:txBody>
      </p:sp>
      <p:sp>
        <p:nvSpPr>
          <p:cNvPr id="22" name="Text 20"/>
          <p:cNvSpPr/>
          <p:nvPr/>
        </p:nvSpPr>
        <p:spPr>
          <a:xfrm>
            <a:off x="932688" y="278892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Academies Staff</a:t>
            </a:r>
            <a:endParaRPr lang="en-US" sz="1400" dirty="0"/>
          </a:p>
        </p:txBody>
      </p:sp>
      <p:sp>
        <p:nvSpPr>
          <p:cNvPr id="23" name="Text 21"/>
          <p:cNvSpPr/>
          <p:nvPr/>
        </p:nvSpPr>
        <p:spPr>
          <a:xfrm>
            <a:off x="932688" y="299008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Mar 2023 – Jun 2024</a:t>
            </a:r>
            <a:endParaRPr lang="en-US" sz="1400" dirty="0"/>
          </a:p>
        </p:txBody>
      </p:sp>
      <p:sp>
        <p:nvSpPr>
          <p:cNvPr id="24" name="Shape 22"/>
          <p:cNvSpPr/>
          <p:nvPr/>
        </p:nvSpPr>
        <p:spPr>
          <a:xfrm>
            <a:off x="777240" y="3364992"/>
            <a:ext cx="73152" cy="73152"/>
          </a:xfrm>
          <a:prstGeom prst="rect">
            <a:avLst/>
          </a:prstGeom>
          <a:solidFill>
            <a:srgbClr val="C9A961"/>
          </a:solidFill>
          <a:ln w="12700">
            <a:solidFill>
              <a:srgbClr val="C9A961"/>
            </a:solidFill>
            <a:prstDash val="solid"/>
          </a:ln>
        </p:spPr>
        <p:txBody>
          <a:bodyPr/>
          <a:p/>
        </p:txBody>
      </p:sp>
      <p:sp>
        <p:nvSpPr>
          <p:cNvPr id="25" name="Text 23"/>
          <p:cNvSpPr/>
          <p:nvPr/>
        </p:nvSpPr>
        <p:spPr>
          <a:xfrm>
            <a:off x="932688" y="329184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Member (IEEE Global)</a:t>
            </a:r>
            <a:endParaRPr lang="en-US" sz="1400" dirty="0"/>
          </a:p>
        </p:txBody>
      </p:sp>
      <p:sp>
        <p:nvSpPr>
          <p:cNvPr id="26" name="Text 24"/>
          <p:cNvSpPr/>
          <p:nvPr/>
        </p:nvSpPr>
        <p:spPr>
          <a:xfrm>
            <a:off x="932688" y="349300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Jan 2024 – Dec 2024</a:t>
            </a:r>
            <a:endParaRPr lang="en-US" sz="1400" dirty="0"/>
          </a:p>
        </p:txBody>
      </p:sp>
      <p:sp>
        <p:nvSpPr>
          <p:cNvPr id="27" name="Shape 25"/>
          <p:cNvSpPr/>
          <p:nvPr/>
        </p:nvSpPr>
        <p:spPr>
          <a:xfrm>
            <a:off x="6400800" y="1783080"/>
            <a:ext cx="5120640" cy="20116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8" name="Shape 26"/>
          <p:cNvSpPr/>
          <p:nvPr/>
        </p:nvSpPr>
        <p:spPr>
          <a:xfrm>
            <a:off x="6400800" y="1783080"/>
            <a:ext cx="5120640" cy="365760"/>
          </a:xfrm>
          <a:prstGeom prst="rect">
            <a:avLst/>
          </a:prstGeom>
          <a:solidFill>
            <a:srgbClr val="0A1628"/>
          </a:solidFill>
          <a:ln w="12700">
            <a:solidFill>
              <a:srgbClr val="0A1628"/>
            </a:solidFill>
            <a:prstDash val="solid"/>
          </a:ln>
        </p:spPr>
        <p:txBody>
          <a:bodyPr/>
          <a:p/>
        </p:txBody>
      </p:sp>
      <p:sp>
        <p:nvSpPr>
          <p:cNvPr id="29" name="Text 27"/>
          <p:cNvSpPr/>
          <p:nvPr/>
        </p:nvSpPr>
        <p:spPr>
          <a:xfrm>
            <a:off x="6537960" y="1783080"/>
            <a:ext cx="484632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UASC ELECTRIC VEHICLE</a:t>
            </a:r>
            <a:endParaRPr lang="en-US" sz="1400" dirty="0"/>
          </a:p>
        </p:txBody>
      </p:sp>
      <p:sp>
        <p:nvSpPr>
          <p:cNvPr id="30" name="Shape 28"/>
          <p:cNvSpPr/>
          <p:nvPr/>
        </p:nvSpPr>
        <p:spPr>
          <a:xfrm>
            <a:off x="6537960" y="2359152"/>
            <a:ext cx="73152" cy="73152"/>
          </a:xfrm>
          <a:prstGeom prst="rect">
            <a:avLst/>
          </a:prstGeom>
          <a:solidFill>
            <a:srgbClr val="C9A961"/>
          </a:solidFill>
          <a:ln w="12700">
            <a:solidFill>
              <a:srgbClr val="C9A961"/>
            </a:solidFill>
            <a:prstDash val="solid"/>
          </a:ln>
        </p:spPr>
        <p:txBody>
          <a:bodyPr/>
          <a:p/>
        </p:txBody>
      </p:sp>
      <p:sp>
        <p:nvSpPr>
          <p:cNvPr id="31" name="Text 29"/>
          <p:cNvSpPr/>
          <p:nvPr/>
        </p:nvSpPr>
        <p:spPr>
          <a:xfrm>
            <a:off x="6693408" y="228600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Head of Programming Division</a:t>
            </a:r>
            <a:endParaRPr lang="en-US" sz="1400" dirty="0"/>
          </a:p>
        </p:txBody>
      </p:sp>
      <p:sp>
        <p:nvSpPr>
          <p:cNvPr id="32" name="Text 30"/>
          <p:cNvSpPr/>
          <p:nvPr/>
        </p:nvSpPr>
        <p:spPr>
          <a:xfrm>
            <a:off x="6693408" y="248716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May 2024 – Mar 2025</a:t>
            </a:r>
            <a:endParaRPr lang="en-US" sz="1400" dirty="0"/>
          </a:p>
        </p:txBody>
      </p:sp>
      <p:sp>
        <p:nvSpPr>
          <p:cNvPr id="33" name="Shape 31"/>
          <p:cNvSpPr/>
          <p:nvPr/>
        </p:nvSpPr>
        <p:spPr>
          <a:xfrm>
            <a:off x="6537960" y="2862072"/>
            <a:ext cx="73152" cy="73152"/>
          </a:xfrm>
          <a:prstGeom prst="rect">
            <a:avLst/>
          </a:prstGeom>
          <a:solidFill>
            <a:srgbClr val="C9A961"/>
          </a:solidFill>
          <a:ln w="12700">
            <a:solidFill>
              <a:srgbClr val="C9A961"/>
            </a:solidFill>
            <a:prstDash val="solid"/>
          </a:ln>
        </p:spPr>
        <p:txBody>
          <a:bodyPr/>
          <a:p/>
        </p:txBody>
      </p:sp>
      <p:sp>
        <p:nvSpPr>
          <p:cNvPr id="34" name="Text 32"/>
          <p:cNvSpPr/>
          <p:nvPr/>
        </p:nvSpPr>
        <p:spPr>
          <a:xfrm>
            <a:off x="6693408" y="278892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Engineer Staff</a:t>
            </a:r>
            <a:endParaRPr lang="en-US" sz="1400" dirty="0"/>
          </a:p>
        </p:txBody>
      </p:sp>
      <p:sp>
        <p:nvSpPr>
          <p:cNvPr id="35" name="Text 33"/>
          <p:cNvSpPr/>
          <p:nvPr/>
        </p:nvSpPr>
        <p:spPr>
          <a:xfrm>
            <a:off x="6693408" y="299008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Dec 2023 – May 2024</a:t>
            </a:r>
            <a:endParaRPr lang="en-US" sz="1400" dirty="0"/>
          </a:p>
        </p:txBody>
      </p:sp>
      <p:sp>
        <p:nvSpPr>
          <p:cNvPr id="36" name="Shape 34"/>
          <p:cNvSpPr/>
          <p:nvPr/>
        </p:nvSpPr>
        <p:spPr>
          <a:xfrm>
            <a:off x="6537960" y="3364992"/>
            <a:ext cx="73152" cy="73152"/>
          </a:xfrm>
          <a:prstGeom prst="rect">
            <a:avLst/>
          </a:prstGeom>
          <a:solidFill>
            <a:srgbClr val="C9A961"/>
          </a:solidFill>
          <a:ln w="12700">
            <a:solidFill>
              <a:srgbClr val="C9A961"/>
            </a:solidFill>
            <a:prstDash val="solid"/>
          </a:ln>
        </p:spPr>
        <p:txBody>
          <a:bodyPr/>
          <a:p/>
        </p:txBody>
      </p:sp>
      <p:sp>
        <p:nvSpPr>
          <p:cNvPr id="37" name="Text 35"/>
          <p:cNvSpPr/>
          <p:nvPr/>
        </p:nvSpPr>
        <p:spPr>
          <a:xfrm>
            <a:off x="6693408" y="329184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Engineer Intern</a:t>
            </a:r>
            <a:endParaRPr lang="en-US" sz="1400" dirty="0"/>
          </a:p>
        </p:txBody>
      </p:sp>
      <p:sp>
        <p:nvSpPr>
          <p:cNvPr id="38" name="Text 36"/>
          <p:cNvSpPr/>
          <p:nvPr/>
        </p:nvSpPr>
        <p:spPr>
          <a:xfrm>
            <a:off x="6693408" y="349300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Jul 2023 – Dec 2023</a:t>
            </a:r>
            <a:endParaRPr lang="en-US" sz="1400" dirty="0"/>
          </a:p>
        </p:txBody>
      </p:sp>
      <p:sp>
        <p:nvSpPr>
          <p:cNvPr id="39" name="Shape 37"/>
          <p:cNvSpPr/>
          <p:nvPr/>
        </p:nvSpPr>
        <p:spPr>
          <a:xfrm>
            <a:off x="640080" y="4023360"/>
            <a:ext cx="5486400" cy="11887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0" name="Shape 38"/>
          <p:cNvSpPr/>
          <p:nvPr/>
        </p:nvSpPr>
        <p:spPr>
          <a:xfrm>
            <a:off x="640080" y="4023360"/>
            <a:ext cx="5486400" cy="365760"/>
          </a:xfrm>
          <a:prstGeom prst="rect">
            <a:avLst/>
          </a:prstGeom>
          <a:solidFill>
            <a:srgbClr val="0A1628"/>
          </a:solidFill>
          <a:ln w="12700">
            <a:solidFill>
              <a:srgbClr val="0A1628"/>
            </a:solidFill>
            <a:prstDash val="solid"/>
          </a:ln>
        </p:spPr>
        <p:txBody>
          <a:bodyPr/>
          <a:p/>
        </p:txBody>
      </p:sp>
      <p:sp>
        <p:nvSpPr>
          <p:cNvPr id="41" name="Text 39"/>
          <p:cNvSpPr/>
          <p:nvPr/>
        </p:nvSpPr>
        <p:spPr>
          <a:xfrm>
            <a:off x="777240" y="4023360"/>
            <a:ext cx="521208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UNISI ROBOTIC UII</a:t>
            </a:r>
            <a:endParaRPr lang="en-US" sz="1400" dirty="0"/>
          </a:p>
        </p:txBody>
      </p:sp>
      <p:sp>
        <p:nvSpPr>
          <p:cNvPr id="42" name="Shape 40"/>
          <p:cNvSpPr/>
          <p:nvPr/>
        </p:nvSpPr>
        <p:spPr>
          <a:xfrm>
            <a:off x="777240" y="4599432"/>
            <a:ext cx="73152" cy="73152"/>
          </a:xfrm>
          <a:prstGeom prst="rect">
            <a:avLst/>
          </a:prstGeom>
          <a:solidFill>
            <a:srgbClr val="C9A961"/>
          </a:solidFill>
          <a:ln w="12700">
            <a:solidFill>
              <a:srgbClr val="C9A961"/>
            </a:solidFill>
            <a:prstDash val="solid"/>
          </a:ln>
        </p:spPr>
        <p:txBody>
          <a:bodyPr/>
          <a:p/>
        </p:txBody>
      </p:sp>
      <p:sp>
        <p:nvSpPr>
          <p:cNvPr id="43" name="Text 41"/>
          <p:cNvSpPr/>
          <p:nvPr/>
        </p:nvSpPr>
        <p:spPr>
          <a:xfrm>
            <a:off x="932688" y="452628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Division Staff</a:t>
            </a:r>
            <a:endParaRPr lang="en-US" sz="1400" dirty="0"/>
          </a:p>
        </p:txBody>
      </p:sp>
      <p:sp>
        <p:nvSpPr>
          <p:cNvPr id="44" name="Text 42"/>
          <p:cNvSpPr/>
          <p:nvPr/>
        </p:nvSpPr>
        <p:spPr>
          <a:xfrm>
            <a:off x="932688" y="472744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May 2024 – May 2026</a:t>
            </a:r>
            <a:endParaRPr lang="en-US" sz="1400" dirty="0"/>
          </a:p>
        </p:txBody>
      </p:sp>
      <p:sp>
        <p:nvSpPr>
          <p:cNvPr id="45" name="Shape 43"/>
          <p:cNvSpPr/>
          <p:nvPr/>
        </p:nvSpPr>
        <p:spPr>
          <a:xfrm>
            <a:off x="6400800" y="4023360"/>
            <a:ext cx="5120640" cy="11887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6" name="Shape 44"/>
          <p:cNvSpPr/>
          <p:nvPr/>
        </p:nvSpPr>
        <p:spPr>
          <a:xfrm>
            <a:off x="6400800" y="4023360"/>
            <a:ext cx="5120640" cy="365760"/>
          </a:xfrm>
          <a:prstGeom prst="rect">
            <a:avLst/>
          </a:prstGeom>
          <a:solidFill>
            <a:srgbClr val="0A1628"/>
          </a:solidFill>
          <a:ln w="12700">
            <a:solidFill>
              <a:srgbClr val="0A1628"/>
            </a:solidFill>
            <a:prstDash val="solid"/>
          </a:ln>
        </p:spPr>
        <p:txBody>
          <a:bodyPr/>
          <a:p/>
        </p:txBody>
      </p:sp>
      <p:sp>
        <p:nvSpPr>
          <p:cNvPr id="47" name="Text 45"/>
          <p:cNvSpPr/>
          <p:nvPr/>
        </p:nvSpPr>
        <p:spPr>
          <a:xfrm>
            <a:off x="6537960" y="4023360"/>
            <a:ext cx="484632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UII EXCELLENT COMMUNITY (UII EC)</a:t>
            </a:r>
            <a:endParaRPr lang="en-US" sz="1400" dirty="0"/>
          </a:p>
        </p:txBody>
      </p:sp>
      <p:sp>
        <p:nvSpPr>
          <p:cNvPr id="48" name="Shape 46"/>
          <p:cNvSpPr/>
          <p:nvPr/>
        </p:nvSpPr>
        <p:spPr>
          <a:xfrm>
            <a:off x="6537960" y="4599432"/>
            <a:ext cx="73152" cy="73152"/>
          </a:xfrm>
          <a:prstGeom prst="rect">
            <a:avLst/>
          </a:prstGeom>
          <a:solidFill>
            <a:srgbClr val="C9A961"/>
          </a:solidFill>
          <a:ln w="12700">
            <a:solidFill>
              <a:srgbClr val="C9A961"/>
            </a:solidFill>
            <a:prstDash val="solid"/>
          </a:ln>
        </p:spPr>
        <p:txBody>
          <a:bodyPr/>
          <a:p/>
        </p:txBody>
      </p:sp>
      <p:sp>
        <p:nvSpPr>
          <p:cNvPr id="49" name="Text 47"/>
          <p:cNvSpPr/>
          <p:nvPr/>
        </p:nvSpPr>
        <p:spPr>
          <a:xfrm>
            <a:off x="6693408" y="452628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Full Scholarship Awardee</a:t>
            </a:r>
            <a:endParaRPr lang="en-US" sz="1400" dirty="0"/>
          </a:p>
        </p:txBody>
      </p:sp>
      <p:sp>
        <p:nvSpPr>
          <p:cNvPr id="50" name="Text 48"/>
          <p:cNvSpPr/>
          <p:nvPr/>
        </p:nvSpPr>
        <p:spPr>
          <a:xfrm>
            <a:off x="6693408" y="472744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Aug 2022 – May 2026</a:t>
            </a:r>
            <a:endParaRPr lang="en-US" sz="1400" dirty="0"/>
          </a:p>
        </p:txBody>
      </p:sp>
      <p:sp>
        <p:nvSpPr>
          <p:cNvPr id="51" name="Shape 49"/>
          <p:cNvSpPr/>
          <p:nvPr/>
        </p:nvSpPr>
        <p:spPr>
          <a:xfrm>
            <a:off x="640080" y="5440680"/>
            <a:ext cx="10881360" cy="365760"/>
          </a:xfrm>
          <a:prstGeom prst="rect">
            <a:avLst/>
          </a:prstGeom>
          <a:solidFill>
            <a:srgbClr val="0A1628"/>
          </a:solidFill>
          <a:ln w="12700">
            <a:solidFill>
              <a:srgbClr val="0A1628"/>
            </a:solidFill>
            <a:prstDash val="solid"/>
          </a:ln>
        </p:spPr>
        <p:txBody>
          <a:bodyPr/>
          <a:p/>
        </p:txBody>
      </p:sp>
      <p:sp>
        <p:nvSpPr>
          <p:cNvPr id="52" name="Text 50"/>
          <p:cNvSpPr/>
          <p:nvPr/>
        </p:nvSpPr>
        <p:spPr>
          <a:xfrm>
            <a:off x="777240" y="5440680"/>
            <a:ext cx="548640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COMMITTEE EXPERIENCE</a:t>
            </a:r>
            <a:endParaRPr lang="en-US" sz="1400" dirty="0"/>
          </a:p>
        </p:txBody>
      </p:sp>
      <p:sp>
        <p:nvSpPr>
          <p:cNvPr id="53" name="Shape 51"/>
          <p:cNvSpPr/>
          <p:nvPr/>
        </p:nvSpPr>
        <p:spPr>
          <a:xfrm>
            <a:off x="640080" y="5806440"/>
            <a:ext cx="10881360" cy="713232"/>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4" name="Shape 52"/>
          <p:cNvSpPr/>
          <p:nvPr/>
        </p:nvSpPr>
        <p:spPr>
          <a:xfrm>
            <a:off x="640080" y="5806440"/>
            <a:ext cx="45719" cy="758952"/>
          </a:xfrm>
          <a:prstGeom prst="rect">
            <a:avLst/>
          </a:prstGeom>
          <a:solidFill>
            <a:srgbClr val="C9A961"/>
          </a:solidFill>
          <a:ln w="12700">
            <a:solidFill>
              <a:srgbClr val="C9A961"/>
            </a:solidFill>
            <a:prstDash val="solid"/>
          </a:ln>
        </p:spPr>
        <p:txBody>
          <a:bodyPr/>
          <a:p/>
        </p:txBody>
      </p:sp>
      <p:sp>
        <p:nvSpPr>
          <p:cNvPr id="55" name="Text 53"/>
          <p:cNvSpPr/>
          <p:nvPr/>
        </p:nvSpPr>
        <p:spPr>
          <a:xfrm>
            <a:off x="868680" y="5852160"/>
            <a:ext cx="1060704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Link Togetherness (ELITE) — Master of Ceremony</a:t>
            </a:r>
            <a:endParaRPr lang="en-US" sz="1400" dirty="0"/>
          </a:p>
        </p:txBody>
      </p:sp>
      <p:sp>
        <p:nvSpPr>
          <p:cNvPr id="56" name="Text 54"/>
          <p:cNvSpPr/>
          <p:nvPr/>
        </p:nvSpPr>
        <p:spPr>
          <a:xfrm>
            <a:off x="868680" y="6053328"/>
            <a:ext cx="1060704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Events Department · Department of Electrical Engineering UII</a:t>
            </a:r>
            <a:endParaRPr lang="en-US" sz="1400" dirty="0"/>
          </a:p>
        </p:txBody>
      </p:sp>
      <p:sp>
        <p:nvSpPr>
          <p:cNvPr id="57" name="Text 55"/>
          <p:cNvSpPr/>
          <p:nvPr/>
        </p:nvSpPr>
        <p:spPr>
          <a:xfrm>
            <a:off x="868680" y="6236208"/>
            <a:ext cx="10607040" cy="201168"/>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Hosted department-wide events; coordinated event flow and on-stage communication.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27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r>
              <a:rPr lang="en-US" sz="2000" b="1" dirty="0">
                <a:solidFill>
                  <a:srgbClr val="C9A961"/>
                </a:solidFill>
                <a:latin typeface="Calibri" pitchFamily="34" charset="0"/>
                <a:ea typeface="Calibri" pitchFamily="34" charset="-122"/>
                <a:cs typeface="Calibri" pitchFamily="34" charset="-120"/>
              </a:rPr>
              <a:t>07  ·  ACHIEVEMENTS AND CERTIFICATIONS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Achievements</a:t>
            </a:r>
            <a:endParaRPr lang="en-US" sz="2800" dirty="0"/>
          </a:p>
        </p:txBody>
      </p:sp>
      <p:sp>
        <p:nvSpPr>
          <p:cNvPr id="15" name="Shape 13"/>
          <p:cNvSpPr/>
          <p:nvPr/>
        </p:nvSpPr>
        <p:spPr>
          <a:xfrm>
            <a:off x="640080" y="1828800"/>
            <a:ext cx="411480" cy="411480"/>
          </a:xfrm>
          <a:prstGeom prst="ellipse">
            <a:avLst/>
          </a:prstGeom>
          <a:solidFill>
            <a:srgbClr val="0A1628"/>
          </a:solidFill>
          <a:ln w="16510">
            <a:solidFill>
              <a:srgbClr val="C9A961"/>
            </a:solidFill>
            <a:prstDash val="solid"/>
          </a:ln>
        </p:spPr>
        <p:txBody>
          <a:bodyPr/>
          <a:p/>
        </p:txBody>
      </p:sp>
      <p:sp>
        <p:nvSpPr>
          <p:cNvPr id="16" name="Text 14"/>
          <p:cNvSpPr/>
          <p:nvPr/>
        </p:nvSpPr>
        <p:spPr>
          <a:xfrm>
            <a:off x="640080" y="1828800"/>
            <a:ext cx="411480" cy="411480"/>
          </a:xfrm>
          <a:prstGeom prst="rect">
            <a:avLst/>
          </a:prstGeom>
          <a:noFill/>
          <a:ln/>
        </p:spPr>
        <p:txBody>
          <a:bodyPr wrap="square" lIns="0" tIns="0" rIns="0" bIns="0" rtlCol="0" anchor="ctr"/>
          <a:lstStyle/>
          <a:p>
            <a:pPr marL="0" indent="0" algn="ctr">
              <a:buNone/>
            </a:pPr>
            <a:r>
              <a:rPr lang="en-US" sz="1000" b="1" dirty="0">
                <a:solidFill>
                  <a:srgbClr val="C9A961"/>
                </a:solidFill>
                <a:latin typeface="Calibri" pitchFamily="34" charset="0"/>
                <a:ea typeface="Calibri" pitchFamily="34" charset="-122"/>
                <a:cs typeface="Calibri" pitchFamily="34" charset="-120"/>
              </a:rPr>
              <a:t>1ST</a:t>
            </a:r>
            <a:endParaRPr lang="en-US" sz="1000" dirty="0"/>
          </a:p>
        </p:txBody>
      </p:sp>
      <p:sp>
        <p:nvSpPr>
          <p:cNvPr id="17" name="Text 15"/>
          <p:cNvSpPr/>
          <p:nvPr/>
        </p:nvSpPr>
        <p:spPr>
          <a:xfrm>
            <a:off x="1188720" y="1828800"/>
            <a:ext cx="5486400" cy="228600"/>
          </a:xfrm>
          <a:prstGeom prst="rect">
            <a:avLst/>
          </a:prstGeom>
          <a:noFill/>
          <a:ln/>
        </p:spPr>
        <p:txBody>
          <a:bodyPr wrap="square" lIns="0" tIns="0" rIns="0" bIns="0" rtlCol="0" anchor="ctr"/>
          <a:lstStyle/>
          <a:p>
            <a:pPr marL="0" indent="0">
              <a:buNone/>
            </a:pPr>
            <a:r>
              <a:rPr lang="en-US" sz="1200" b="1" dirty="0">
                <a:solidFill>
                  <a:srgbClr val="0A1628"/>
                </a:solidFill>
                <a:latin typeface="Calibri" pitchFamily="34" charset="0"/>
                <a:ea typeface="Calibri" pitchFamily="34" charset="-122"/>
                <a:cs typeface="Calibri" pitchFamily="34" charset="-120"/>
              </a:rPr>
              <a:t>1st Place — IT Centrum Startup Hackathon 2024</a:t>
            </a:r>
            <a:endParaRPr lang="en-US" sz="1200" dirty="0"/>
          </a:p>
        </p:txBody>
      </p:sp>
      <p:sp>
        <p:nvSpPr>
          <p:cNvPr id="18" name="Text 16"/>
          <p:cNvSpPr/>
          <p:nvPr/>
        </p:nvSpPr>
        <p:spPr>
          <a:xfrm>
            <a:off x="1188720" y="205740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Universitas Islam Indonesia · Dec 13–14, 2024</a:t>
            </a:r>
            <a:endParaRPr lang="en-US" sz="1400" dirty="0"/>
          </a:p>
        </p:txBody>
      </p:sp>
      <p:sp>
        <p:nvSpPr>
          <p:cNvPr id="19" name="Shape 17"/>
          <p:cNvSpPr/>
          <p:nvPr/>
        </p:nvSpPr>
        <p:spPr>
          <a:xfrm>
            <a:off x="640080" y="2331720"/>
            <a:ext cx="411480" cy="411480"/>
          </a:xfrm>
          <a:prstGeom prst="ellipse">
            <a:avLst/>
          </a:prstGeom>
          <a:solidFill>
            <a:srgbClr val="0A1628"/>
          </a:solidFill>
          <a:ln w="16510">
            <a:solidFill>
              <a:srgbClr val="C9A961"/>
            </a:solidFill>
            <a:prstDash val="solid"/>
          </a:ln>
        </p:spPr>
        <p:txBody>
          <a:bodyPr/>
          <a:p/>
        </p:txBody>
      </p:sp>
      <p:sp>
        <p:nvSpPr>
          <p:cNvPr id="20" name="Text 18"/>
          <p:cNvSpPr/>
          <p:nvPr/>
        </p:nvSpPr>
        <p:spPr>
          <a:xfrm>
            <a:off x="640080" y="233172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1ST</a:t>
            </a:r>
            <a:endParaRPr lang="en-US" sz="1400" dirty="0"/>
          </a:p>
        </p:txBody>
      </p:sp>
      <p:sp>
        <p:nvSpPr>
          <p:cNvPr id="21" name="Text 19"/>
          <p:cNvSpPr/>
          <p:nvPr/>
        </p:nvSpPr>
        <p:spPr>
          <a:xfrm>
            <a:off x="1188720" y="233172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1st Place — Business Idea Competition</a:t>
            </a:r>
            <a:endParaRPr lang="en-US" sz="1400" dirty="0"/>
          </a:p>
        </p:txBody>
      </p:sp>
      <p:sp>
        <p:nvSpPr>
          <p:cNvPr id="22" name="Text 20"/>
          <p:cNvSpPr/>
          <p:nvPr/>
        </p:nvSpPr>
        <p:spPr>
          <a:xfrm>
            <a:off x="1188720" y="256032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Student Entrepreneur Day 2024</a:t>
            </a:r>
            <a:endParaRPr lang="en-US" sz="1400" dirty="0"/>
          </a:p>
        </p:txBody>
      </p:sp>
      <p:sp>
        <p:nvSpPr>
          <p:cNvPr id="23" name="Shape 21"/>
          <p:cNvSpPr/>
          <p:nvPr/>
        </p:nvSpPr>
        <p:spPr>
          <a:xfrm>
            <a:off x="640080" y="2834640"/>
            <a:ext cx="411480" cy="411480"/>
          </a:xfrm>
          <a:prstGeom prst="ellipse">
            <a:avLst/>
          </a:prstGeom>
          <a:solidFill>
            <a:srgbClr val="0A1628"/>
          </a:solidFill>
          <a:ln w="16510">
            <a:solidFill>
              <a:srgbClr val="C9A961"/>
            </a:solidFill>
            <a:prstDash val="solid"/>
          </a:ln>
        </p:spPr>
        <p:txBody>
          <a:bodyPr/>
          <a:p/>
        </p:txBody>
      </p:sp>
      <p:sp>
        <p:nvSpPr>
          <p:cNvPr id="24" name="Text 22"/>
          <p:cNvSpPr/>
          <p:nvPr/>
        </p:nvSpPr>
        <p:spPr>
          <a:xfrm>
            <a:off x="640080" y="283464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4TH</a:t>
            </a:r>
            <a:endParaRPr lang="en-US" sz="1400" dirty="0"/>
          </a:p>
        </p:txBody>
      </p:sp>
      <p:sp>
        <p:nvSpPr>
          <p:cNvPr id="25" name="Text 23"/>
          <p:cNvSpPr/>
          <p:nvPr/>
        </p:nvSpPr>
        <p:spPr>
          <a:xfrm>
            <a:off x="1188720" y="283464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4th Place — PKM IC Karsa Cipta Scheme</a:t>
            </a:r>
            <a:endParaRPr lang="en-US" sz="1400" dirty="0"/>
          </a:p>
        </p:txBody>
      </p:sp>
      <p:sp>
        <p:nvSpPr>
          <p:cNvPr id="26" name="Text 24"/>
          <p:cNvSpPr/>
          <p:nvPr/>
        </p:nvSpPr>
        <p:spPr>
          <a:xfrm>
            <a:off x="1188720" y="306324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2024</a:t>
            </a:r>
            <a:endParaRPr lang="en-US" sz="1400" dirty="0"/>
          </a:p>
        </p:txBody>
      </p:sp>
      <p:sp>
        <p:nvSpPr>
          <p:cNvPr id="27" name="Shape 25"/>
          <p:cNvSpPr/>
          <p:nvPr/>
        </p:nvSpPr>
        <p:spPr>
          <a:xfrm>
            <a:off x="640080" y="3337560"/>
            <a:ext cx="411480" cy="411480"/>
          </a:xfrm>
          <a:prstGeom prst="ellipse">
            <a:avLst/>
          </a:prstGeom>
          <a:solidFill>
            <a:srgbClr val="0A1628"/>
          </a:solidFill>
          <a:ln w="16510">
            <a:solidFill>
              <a:srgbClr val="C9A961"/>
            </a:solidFill>
            <a:prstDash val="solid"/>
          </a:ln>
        </p:spPr>
        <p:txBody>
          <a:bodyPr/>
          <a:p/>
        </p:txBody>
      </p:sp>
      <p:sp>
        <p:nvSpPr>
          <p:cNvPr id="28" name="Text 26"/>
          <p:cNvSpPr/>
          <p:nvPr/>
        </p:nvSpPr>
        <p:spPr>
          <a:xfrm>
            <a:off x="640080" y="333756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a:t>
            </a:r>
            <a:endParaRPr lang="en-US" sz="1400" dirty="0"/>
          </a:p>
        </p:txBody>
      </p:sp>
      <p:sp>
        <p:nvSpPr>
          <p:cNvPr id="29" name="Text 27"/>
          <p:cNvSpPr/>
          <p:nvPr/>
        </p:nvSpPr>
        <p:spPr>
          <a:xfrm>
            <a:off x="1188720" y="333756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PKM Karsa Cipta Funding Recipient</a:t>
            </a:r>
            <a:endParaRPr lang="en-US" sz="1400" dirty="0"/>
          </a:p>
        </p:txBody>
      </p:sp>
      <p:sp>
        <p:nvSpPr>
          <p:cNvPr id="30" name="Text 28"/>
          <p:cNvSpPr/>
          <p:nvPr/>
        </p:nvSpPr>
        <p:spPr>
          <a:xfrm>
            <a:off x="1188720" y="356616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2024</a:t>
            </a:r>
            <a:endParaRPr lang="en-US" sz="1400" dirty="0"/>
          </a:p>
        </p:txBody>
      </p:sp>
      <p:sp>
        <p:nvSpPr>
          <p:cNvPr id="31" name="Shape 29"/>
          <p:cNvSpPr/>
          <p:nvPr/>
        </p:nvSpPr>
        <p:spPr>
          <a:xfrm>
            <a:off x="640080" y="3840480"/>
            <a:ext cx="411480" cy="411480"/>
          </a:xfrm>
          <a:prstGeom prst="ellipse">
            <a:avLst/>
          </a:prstGeom>
          <a:solidFill>
            <a:srgbClr val="0A1628"/>
          </a:solidFill>
          <a:ln w="16510">
            <a:solidFill>
              <a:srgbClr val="C9A961"/>
            </a:solidFill>
            <a:prstDash val="solid"/>
          </a:ln>
        </p:spPr>
        <p:txBody>
          <a:bodyPr/>
          <a:p/>
        </p:txBody>
      </p:sp>
      <p:sp>
        <p:nvSpPr>
          <p:cNvPr id="32" name="Text 30"/>
          <p:cNvSpPr/>
          <p:nvPr/>
        </p:nvSpPr>
        <p:spPr>
          <a:xfrm>
            <a:off x="640080" y="384048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3RD</a:t>
            </a:r>
            <a:endParaRPr lang="en-US" sz="1400" dirty="0"/>
          </a:p>
        </p:txBody>
      </p:sp>
      <p:sp>
        <p:nvSpPr>
          <p:cNvPr id="33" name="Text 31"/>
          <p:cNvSpPr/>
          <p:nvPr/>
        </p:nvSpPr>
        <p:spPr>
          <a:xfrm>
            <a:off x="1188720" y="384048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3rd Place — PKM IC Community Service Scheme</a:t>
            </a:r>
            <a:endParaRPr lang="en-US" sz="1400" dirty="0"/>
          </a:p>
        </p:txBody>
      </p:sp>
      <p:sp>
        <p:nvSpPr>
          <p:cNvPr id="34" name="Text 32"/>
          <p:cNvSpPr/>
          <p:nvPr/>
        </p:nvSpPr>
        <p:spPr>
          <a:xfrm>
            <a:off x="1188720" y="406908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2025</a:t>
            </a:r>
            <a:endParaRPr lang="en-US" sz="1400" dirty="0"/>
          </a:p>
        </p:txBody>
      </p:sp>
      <p:sp>
        <p:nvSpPr>
          <p:cNvPr id="35" name="Shape 33"/>
          <p:cNvSpPr/>
          <p:nvPr/>
        </p:nvSpPr>
        <p:spPr>
          <a:xfrm>
            <a:off x="640080" y="4343400"/>
            <a:ext cx="411480" cy="411480"/>
          </a:xfrm>
          <a:prstGeom prst="ellipse">
            <a:avLst/>
          </a:prstGeom>
          <a:solidFill>
            <a:srgbClr val="0A1628"/>
          </a:solidFill>
          <a:ln w="16510">
            <a:solidFill>
              <a:srgbClr val="C9A961"/>
            </a:solidFill>
            <a:prstDash val="solid"/>
          </a:ln>
        </p:spPr>
        <p:txBody>
          <a:bodyPr/>
          <a:p/>
        </p:txBody>
      </p:sp>
      <p:sp>
        <p:nvSpPr>
          <p:cNvPr id="36" name="Text 34"/>
          <p:cNvSpPr/>
          <p:nvPr/>
        </p:nvSpPr>
        <p:spPr>
          <a:xfrm>
            <a:off x="640080" y="434340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5TH</a:t>
            </a:r>
            <a:endParaRPr lang="en-US" sz="1400" dirty="0"/>
          </a:p>
        </p:txBody>
      </p:sp>
      <p:sp>
        <p:nvSpPr>
          <p:cNvPr id="37" name="Text 35"/>
          <p:cNvSpPr/>
          <p:nvPr/>
        </p:nvSpPr>
        <p:spPr>
          <a:xfrm>
            <a:off x="1188720" y="434340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5th Place — PKM IC Innovative Work Scheme</a:t>
            </a:r>
            <a:endParaRPr lang="en-US" sz="1400" dirty="0"/>
          </a:p>
        </p:txBody>
      </p:sp>
      <p:sp>
        <p:nvSpPr>
          <p:cNvPr id="38" name="Text 36"/>
          <p:cNvSpPr/>
          <p:nvPr/>
        </p:nvSpPr>
        <p:spPr>
          <a:xfrm>
            <a:off x="1188720" y="457200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2025</a:t>
            </a:r>
            <a:endParaRPr lang="en-US" sz="1400" dirty="0"/>
          </a:p>
        </p:txBody>
      </p:sp>
      <p:sp>
        <p:nvSpPr>
          <p:cNvPr id="39" name="Shape 37"/>
          <p:cNvSpPr/>
          <p:nvPr/>
        </p:nvSpPr>
        <p:spPr>
          <a:xfrm>
            <a:off x="640080" y="4846320"/>
            <a:ext cx="411480" cy="411480"/>
          </a:xfrm>
          <a:prstGeom prst="ellipse">
            <a:avLst/>
          </a:prstGeom>
          <a:solidFill>
            <a:srgbClr val="0A1628"/>
          </a:solidFill>
          <a:ln w="16510">
            <a:solidFill>
              <a:srgbClr val="C9A961"/>
            </a:solidFill>
            <a:prstDash val="solid"/>
          </a:ln>
        </p:spPr>
        <p:txBody>
          <a:bodyPr/>
          <a:p/>
        </p:txBody>
      </p:sp>
      <p:sp>
        <p:nvSpPr>
          <p:cNvPr id="40" name="Text 38"/>
          <p:cNvSpPr/>
          <p:nvPr/>
        </p:nvSpPr>
        <p:spPr>
          <a:xfrm>
            <a:off x="640080" y="484632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a:t>
            </a:r>
            <a:endParaRPr lang="en-US" sz="1400" dirty="0"/>
          </a:p>
        </p:txBody>
      </p:sp>
      <p:sp>
        <p:nvSpPr>
          <p:cNvPr id="41" name="Text 39"/>
          <p:cNvSpPr/>
          <p:nvPr/>
        </p:nvSpPr>
        <p:spPr>
          <a:xfrm>
            <a:off x="1188720" y="484632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UII Excellent Community Full Scholarship Awardee</a:t>
            </a:r>
            <a:endParaRPr lang="en-US" sz="1400" dirty="0"/>
          </a:p>
        </p:txBody>
      </p:sp>
      <p:sp>
        <p:nvSpPr>
          <p:cNvPr id="42" name="Text 40"/>
          <p:cNvSpPr/>
          <p:nvPr/>
        </p:nvSpPr>
        <p:spPr>
          <a:xfrm>
            <a:off x="1188720" y="507492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UII · 2022 – 2026</a:t>
            </a:r>
            <a:endParaRPr lang="en-US" sz="1400" dirty="0"/>
          </a:p>
        </p:txBody>
      </p:sp>
      <p:sp>
        <p:nvSpPr>
          <p:cNvPr id="43" name="Text 41"/>
          <p:cNvSpPr/>
          <p:nvPr/>
        </p:nvSpPr>
        <p:spPr>
          <a:xfrm>
            <a:off x="6858000" y="822960"/>
            <a:ext cx="4572000" cy="274320"/>
          </a:xfrm>
          <a:prstGeom prst="rect">
            <a:avLst/>
          </a:prstGeom>
          <a:noFill/>
          <a:ln/>
        </p:spPr>
        <p:txBody>
          <a:bodyPr wrap="square" lIns="0" tIns="0" rIns="0" bIns="0" rtlCol="0" anchor="ctr"/>
          <a:lstStyle/>
          <a:p>
            <a:pPr marL="0" indent="0">
              <a:buNone/>
            </a:pPr>
            <a:endParaRPr lang="en-US" sz="2000" dirty="0"/>
          </a:p>
        </p:txBody>
      </p:sp>
      <p:sp>
        <p:nvSpPr>
          <p:cNvPr id="45" name="Text 43"/>
          <p:cNvSpPr/>
          <p:nvPr/>
        </p:nvSpPr>
        <p:spPr>
          <a:xfrm>
            <a:off x="685800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Certifications</a:t>
            </a:r>
            <a:endParaRPr lang="en-US" sz="2800" dirty="0"/>
          </a:p>
        </p:txBody>
      </p:sp>
      <p:sp>
        <p:nvSpPr>
          <p:cNvPr id="46" name="Shape 44"/>
          <p:cNvSpPr/>
          <p:nvPr/>
        </p:nvSpPr>
        <p:spPr>
          <a:xfrm>
            <a:off x="6858000" y="3657600"/>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3657600"/>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3675887"/>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HCIA-Datacom V1.0</a:t>
            </a:r>
            <a:endParaRPr lang="en-US" sz="1400" dirty="0"/>
          </a:p>
        </p:txBody>
      </p:sp>
      <p:sp>
        <p:nvSpPr>
          <p:cNvPr id="49" name="Text 47"/>
          <p:cNvSpPr/>
          <p:nvPr/>
        </p:nvSpPr>
        <p:spPr>
          <a:xfrm>
            <a:off x="6995160" y="3867912"/>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Huawei Talent Online</a:t>
            </a:r>
            <a:endParaRPr lang="en-US" sz="1400" dirty="0"/>
          </a:p>
        </p:txBody>
      </p:sp>
      <p:sp>
        <p:nvSpPr>
          <p:cNvPr id="50" name="Text 48"/>
          <p:cNvSpPr/>
          <p:nvPr/>
        </p:nvSpPr>
        <p:spPr>
          <a:xfrm>
            <a:off x="10149840" y="3758184"/>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Dec 13, 2023</a:t>
            </a:r>
            <a:endParaRPr lang="en-US" sz="1400" dirty="0"/>
          </a:p>
        </p:txBody>
      </p:sp>
      <p:sp>
        <p:nvSpPr>
          <p:cNvPr id="51" name="Shape 49"/>
          <p:cNvSpPr/>
          <p:nvPr/>
        </p:nvSpPr>
        <p:spPr>
          <a:xfrm>
            <a:off x="6858000" y="4119372"/>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2" name="Shape 50"/>
          <p:cNvSpPr/>
          <p:nvPr/>
        </p:nvSpPr>
        <p:spPr>
          <a:xfrm>
            <a:off x="6858000" y="4119372"/>
            <a:ext cx="73152" cy="420624"/>
          </a:xfrm>
          <a:prstGeom prst="rect">
            <a:avLst/>
          </a:prstGeom>
          <a:solidFill>
            <a:srgbClr val="C9A961"/>
          </a:solidFill>
          <a:ln w="12700">
            <a:solidFill>
              <a:srgbClr val="C9A961"/>
            </a:solidFill>
            <a:prstDash val="solid"/>
          </a:ln>
        </p:spPr>
        <p:txBody>
          <a:bodyPr/>
          <a:p/>
        </p:txBody>
      </p:sp>
      <p:sp>
        <p:nvSpPr>
          <p:cNvPr id="53" name="Text 51"/>
          <p:cNvSpPr/>
          <p:nvPr/>
        </p:nvSpPr>
        <p:spPr>
          <a:xfrm>
            <a:off x="6995160" y="4137659"/>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Basic PLC Training</a:t>
            </a:r>
            <a:endParaRPr lang="en-US" sz="1400" dirty="0"/>
          </a:p>
        </p:txBody>
      </p:sp>
      <p:sp>
        <p:nvSpPr>
          <p:cNvPr id="54" name="Text 52"/>
          <p:cNvSpPr/>
          <p:nvPr/>
        </p:nvSpPr>
        <p:spPr>
          <a:xfrm>
            <a:off x="6995160" y="4329684"/>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Dept. of Electrical Eng., UII</a:t>
            </a:r>
            <a:endParaRPr lang="en-US" sz="1400" dirty="0"/>
          </a:p>
        </p:txBody>
      </p:sp>
      <p:sp>
        <p:nvSpPr>
          <p:cNvPr id="55" name="Text 53"/>
          <p:cNvSpPr/>
          <p:nvPr/>
        </p:nvSpPr>
        <p:spPr>
          <a:xfrm>
            <a:off x="10149840" y="4219956"/>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Dec 21, 2024</a:t>
            </a:r>
            <a:endParaRPr lang="en-US" sz="1400" dirty="0"/>
          </a:p>
        </p:txBody>
      </p:sp>
      <p:sp>
        <p:nvSpPr>
          <p:cNvPr id="56" name="Shape 54"/>
          <p:cNvSpPr/>
          <p:nvPr/>
        </p:nvSpPr>
        <p:spPr>
          <a:xfrm>
            <a:off x="6858000" y="4581144"/>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7" name="Shape 55"/>
          <p:cNvSpPr/>
          <p:nvPr/>
        </p:nvSpPr>
        <p:spPr>
          <a:xfrm>
            <a:off x="6858000" y="4581144"/>
            <a:ext cx="73152" cy="420624"/>
          </a:xfrm>
          <a:prstGeom prst="rect">
            <a:avLst/>
          </a:prstGeom>
          <a:solidFill>
            <a:srgbClr val="C9A961"/>
          </a:solidFill>
          <a:ln w="12700">
            <a:solidFill>
              <a:srgbClr val="C9A961"/>
            </a:solidFill>
            <a:prstDash val="solid"/>
          </a:ln>
        </p:spPr>
        <p:txBody>
          <a:bodyPr/>
          <a:p/>
        </p:txBody>
      </p:sp>
      <p:sp>
        <p:nvSpPr>
          <p:cNvPr id="58" name="Text 56"/>
          <p:cNvSpPr/>
          <p:nvPr/>
        </p:nvSpPr>
        <p:spPr>
          <a:xfrm>
            <a:off x="6995160" y="4599431"/>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Python for Data Science (Beginner)</a:t>
            </a:r>
            <a:endParaRPr lang="en-US" sz="1400" dirty="0"/>
          </a:p>
        </p:txBody>
      </p:sp>
      <p:sp>
        <p:nvSpPr>
          <p:cNvPr id="59" name="Text 57"/>
          <p:cNvSpPr/>
          <p:nvPr/>
        </p:nvSpPr>
        <p:spPr>
          <a:xfrm>
            <a:off x="6995160" y="4791456"/>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Dept. of Electrical Eng., UII</a:t>
            </a:r>
            <a:endParaRPr lang="en-US" sz="1400" dirty="0"/>
          </a:p>
        </p:txBody>
      </p:sp>
      <p:sp>
        <p:nvSpPr>
          <p:cNvPr id="60" name="Text 58"/>
          <p:cNvSpPr/>
          <p:nvPr/>
        </p:nvSpPr>
        <p:spPr>
          <a:xfrm>
            <a:off x="10149840" y="4681728"/>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Nov 2024 &amp; May 2025</a:t>
            </a:r>
            <a:endParaRPr lang="en-US" sz="1400" dirty="0"/>
          </a:p>
        </p:txBody>
      </p:sp>
      <p:sp>
        <p:nvSpPr>
          <p:cNvPr id="61" name="Shape 59"/>
          <p:cNvSpPr/>
          <p:nvPr/>
        </p:nvSpPr>
        <p:spPr>
          <a:xfrm>
            <a:off x="6858000" y="5042916"/>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2" name="Shape 60"/>
          <p:cNvSpPr/>
          <p:nvPr/>
        </p:nvSpPr>
        <p:spPr>
          <a:xfrm>
            <a:off x="6858000" y="5042916"/>
            <a:ext cx="73152" cy="420624"/>
          </a:xfrm>
          <a:prstGeom prst="rect">
            <a:avLst/>
          </a:prstGeom>
          <a:solidFill>
            <a:srgbClr val="C9A961"/>
          </a:solidFill>
          <a:ln w="12700">
            <a:solidFill>
              <a:srgbClr val="C9A961"/>
            </a:solidFill>
            <a:prstDash val="solid"/>
          </a:ln>
        </p:spPr>
        <p:txBody>
          <a:bodyPr/>
          <a:p/>
        </p:txBody>
      </p:sp>
      <p:sp>
        <p:nvSpPr>
          <p:cNvPr id="63" name="Text 61"/>
          <p:cNvSpPr/>
          <p:nvPr/>
        </p:nvSpPr>
        <p:spPr>
          <a:xfrm>
            <a:off x="6995160" y="5061204"/>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Leadership Training UII EC 2022</a:t>
            </a:r>
            <a:endParaRPr lang="en-US" sz="1400" dirty="0"/>
          </a:p>
        </p:txBody>
      </p:sp>
      <p:sp>
        <p:nvSpPr>
          <p:cNvPr id="64" name="Text 62"/>
          <p:cNvSpPr/>
          <p:nvPr/>
        </p:nvSpPr>
        <p:spPr>
          <a:xfrm>
            <a:off x="6995160" y="5253228"/>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UII Student Affairs Directorate</a:t>
            </a:r>
            <a:endParaRPr lang="en-US" sz="1400" dirty="0"/>
          </a:p>
        </p:txBody>
      </p:sp>
      <p:sp>
        <p:nvSpPr>
          <p:cNvPr id="65" name="Text 63"/>
          <p:cNvSpPr/>
          <p:nvPr/>
        </p:nvSpPr>
        <p:spPr>
          <a:xfrm>
            <a:off x="10149840" y="5143500"/>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Jun 29, 2024</a:t>
            </a:r>
            <a:endParaRPr lang="en-US" sz="1400" dirty="0"/>
          </a:p>
        </p:txBody>
      </p:sp>
      <p:sp>
        <p:nvSpPr>
          <p:cNvPr id="66" name="Shape 64"/>
          <p:cNvSpPr/>
          <p:nvPr/>
        </p:nvSpPr>
        <p:spPr>
          <a:xfrm>
            <a:off x="6858000" y="5504688"/>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65"/>
          <p:cNvSpPr/>
          <p:nvPr/>
        </p:nvSpPr>
        <p:spPr>
          <a:xfrm>
            <a:off x="6858000" y="5504688"/>
            <a:ext cx="73152" cy="420624"/>
          </a:xfrm>
          <a:prstGeom prst="rect">
            <a:avLst/>
          </a:prstGeom>
          <a:solidFill>
            <a:srgbClr val="C9A961"/>
          </a:solidFill>
          <a:ln w="12700">
            <a:solidFill>
              <a:srgbClr val="C9A961"/>
            </a:solidFill>
            <a:prstDash val="solid"/>
          </a:ln>
        </p:spPr>
        <p:txBody>
          <a:bodyPr/>
          <a:p/>
        </p:txBody>
      </p:sp>
      <p:sp>
        <p:nvSpPr>
          <p:cNvPr id="68" name="Text 66"/>
          <p:cNvSpPr/>
          <p:nvPr/>
        </p:nvSpPr>
        <p:spPr>
          <a:xfrm>
            <a:off x="6995160" y="5522975"/>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Personal Development Basic Training</a:t>
            </a:r>
            <a:endParaRPr lang="en-US" sz="1400" dirty="0"/>
          </a:p>
        </p:txBody>
      </p:sp>
      <p:sp>
        <p:nvSpPr>
          <p:cNvPr id="69" name="Text 67"/>
          <p:cNvSpPr/>
          <p:nvPr/>
        </p:nvSpPr>
        <p:spPr>
          <a:xfrm>
            <a:off x="6995160" y="5715000"/>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UII Student Affairs Directorate</a:t>
            </a:r>
            <a:endParaRPr lang="en-US" sz="1400" dirty="0"/>
          </a:p>
        </p:txBody>
      </p:sp>
      <p:sp>
        <p:nvSpPr>
          <p:cNvPr id="70" name="Text 68"/>
          <p:cNvSpPr/>
          <p:nvPr/>
        </p:nvSpPr>
        <p:spPr>
          <a:xfrm>
            <a:off x="10149840" y="5605272"/>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Jun 25, 2023</a:t>
            </a:r>
            <a:endParaRPr lang="en-US" sz="1400" dirty="0"/>
          </a:p>
        </p:txBody>
      </p:sp>
      <p:sp>
        <p:nvSpPr>
          <p:cNvPr id="71" name="Shape 69"/>
          <p:cNvSpPr/>
          <p:nvPr/>
        </p:nvSpPr>
        <p:spPr>
          <a:xfrm>
            <a:off x="6858000" y="5966460"/>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72" name="Shape 70"/>
          <p:cNvSpPr/>
          <p:nvPr/>
        </p:nvSpPr>
        <p:spPr>
          <a:xfrm>
            <a:off x="6858000" y="5966460"/>
            <a:ext cx="73152" cy="420624"/>
          </a:xfrm>
          <a:prstGeom prst="rect">
            <a:avLst/>
          </a:prstGeom>
          <a:solidFill>
            <a:srgbClr val="C9A961"/>
          </a:solidFill>
          <a:ln w="12700">
            <a:solidFill>
              <a:srgbClr val="C9A961"/>
            </a:solidFill>
            <a:prstDash val="solid"/>
          </a:ln>
        </p:spPr>
        <p:txBody>
          <a:bodyPr/>
          <a:p/>
        </p:txBody>
      </p:sp>
      <p:sp>
        <p:nvSpPr>
          <p:cNvPr id="73" name="Text 71"/>
          <p:cNvSpPr/>
          <p:nvPr/>
        </p:nvSpPr>
        <p:spPr>
          <a:xfrm>
            <a:off x="6995160" y="5984748"/>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IEEE Leadership Class 2022</a:t>
            </a:r>
            <a:endParaRPr lang="en-US" sz="1400" dirty="0"/>
          </a:p>
        </p:txBody>
      </p:sp>
      <p:sp>
        <p:nvSpPr>
          <p:cNvPr id="74" name="Text 72"/>
          <p:cNvSpPr/>
          <p:nvPr/>
        </p:nvSpPr>
        <p:spPr>
          <a:xfrm>
            <a:off x="6995160" y="6176772"/>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IEEE Student Branch UII</a:t>
            </a:r>
            <a:endParaRPr lang="en-US" sz="1400" dirty="0"/>
          </a:p>
        </p:txBody>
      </p:sp>
      <p:sp>
        <p:nvSpPr>
          <p:cNvPr id="75" name="Text 73"/>
          <p:cNvSpPr/>
          <p:nvPr/>
        </p:nvSpPr>
        <p:spPr>
          <a:xfrm>
            <a:off x="10149840" y="6067044"/>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Nov–Dec 2022</a:t>
            </a:r>
            <a:endParaRPr lang="en-US" sz="1400" dirty="0"/>
          </a:p>
        </p:txBody>
      </p:sp>
      <p:sp>
        <p:nvSpPr>
          <p:cNvPr id="46" name="Shape 44"/>
          <p:cNvSpPr/>
          <p:nvPr/>
        </p:nvSpPr>
        <p:spPr>
          <a:xfrm>
            <a:off x="6858000" y="1810512"/>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1810512"/>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1828800"/>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AI Fundamentals: Foundations for Understanding AI</a:t>
            </a:r>
            <a:endParaRPr lang="en-US" sz="1400" dirty="0"/>
          </a:p>
        </p:txBody>
      </p:sp>
      <p:sp>
        <p:nvSpPr>
          <p:cNvPr id="49" name="Text 47"/>
          <p:cNvSpPr/>
          <p:nvPr/>
        </p:nvSpPr>
        <p:spPr>
          <a:xfrm>
            <a:off x="6995160" y="2020824"/>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IBM SkillsBuild · credly.com/go/NFH2IvaK</a:t>
            </a:r>
            <a:endParaRPr lang="en-US" sz="1400" dirty="0"/>
          </a:p>
        </p:txBody>
      </p:sp>
      <p:sp>
        <p:nvSpPr>
          <p:cNvPr id="50" name="Text 48"/>
          <p:cNvSpPr/>
          <p:nvPr/>
        </p:nvSpPr>
        <p:spPr>
          <a:xfrm>
            <a:off x="10149840" y="1911095"/>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2272284"/>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2272284"/>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2290572"/>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Introduction to Large Language Models</a:t>
            </a:r>
            <a:endParaRPr lang="en-US" sz="1400" dirty="0"/>
          </a:p>
        </p:txBody>
      </p:sp>
      <p:sp>
        <p:nvSpPr>
          <p:cNvPr id="49" name="Text 47"/>
          <p:cNvSpPr/>
          <p:nvPr/>
        </p:nvSpPr>
        <p:spPr>
          <a:xfrm>
            <a:off x="6995160" y="2482596"/>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Google Cloud Skills</a:t>
            </a:r>
            <a:endParaRPr lang="en-US" sz="1400" dirty="0"/>
          </a:p>
        </p:txBody>
      </p:sp>
      <p:sp>
        <p:nvSpPr>
          <p:cNvPr id="50" name="Text 48"/>
          <p:cNvSpPr/>
          <p:nvPr/>
        </p:nvSpPr>
        <p:spPr>
          <a:xfrm>
            <a:off x="10149840" y="2372868"/>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2734056"/>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2734056"/>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2752344"/>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Introduction to Generative AI</a:t>
            </a:r>
            <a:endParaRPr lang="en-US" sz="1400" dirty="0"/>
          </a:p>
        </p:txBody>
      </p:sp>
      <p:sp>
        <p:nvSpPr>
          <p:cNvPr id="49" name="Text 47"/>
          <p:cNvSpPr/>
          <p:nvPr/>
        </p:nvSpPr>
        <p:spPr>
          <a:xfrm>
            <a:off x="6995160" y="2944368"/>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Google Cloud Skills</a:t>
            </a:r>
            <a:endParaRPr lang="en-US" sz="1400" dirty="0"/>
          </a:p>
        </p:txBody>
      </p:sp>
      <p:sp>
        <p:nvSpPr>
          <p:cNvPr id="50" name="Text 48"/>
          <p:cNvSpPr/>
          <p:nvPr/>
        </p:nvSpPr>
        <p:spPr>
          <a:xfrm>
            <a:off x="10149840" y="2834640"/>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3195828"/>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3195828"/>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3214116"/>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MATLAB Onramp</a:t>
            </a:r>
            <a:endParaRPr lang="en-US" sz="1400" dirty="0"/>
          </a:p>
        </p:txBody>
      </p:sp>
      <p:sp>
        <p:nvSpPr>
          <p:cNvPr id="49" name="Text 47"/>
          <p:cNvSpPr/>
          <p:nvPr/>
        </p:nvSpPr>
        <p:spPr>
          <a:xfrm>
            <a:off x="6995160" y="3406140"/>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MathWorks</a:t>
            </a:r>
            <a:endParaRPr lang="en-US" sz="1400" dirty="0"/>
          </a:p>
        </p:txBody>
      </p:sp>
      <p:sp>
        <p:nvSpPr>
          <p:cNvPr id="50" name="Text 48"/>
          <p:cNvSpPr/>
          <p:nvPr/>
        </p:nvSpPr>
        <p:spPr>
          <a:xfrm>
            <a:off x="10149840" y="3296412"/>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457200"/>
            <a:ext cx="2743200" cy="2743200"/>
          </a:xfrm>
          <a:prstGeom prst="line">
            <a:avLst/>
          </a:prstGeom>
          <a:noFill/>
          <a:ln w="5080">
            <a:solidFill>
              <a:srgbClr val="C9A961"/>
            </a:solidFill>
            <a:prstDash val="solid"/>
          </a:ln>
        </p:spPr>
        <p:txBody>
          <a:bodyPr/>
          <a:p/>
        </p:txBody>
      </p:sp>
      <p:sp>
        <p:nvSpPr>
          <p:cNvPr id="3" name="Shape 1"/>
          <p:cNvSpPr/>
          <p:nvPr/>
        </p:nvSpPr>
        <p:spPr>
          <a:xfrm>
            <a:off x="0" y="731520"/>
            <a:ext cx="2468880" cy="2468880"/>
          </a:xfrm>
          <a:prstGeom prst="line">
            <a:avLst/>
          </a:prstGeom>
          <a:noFill/>
          <a:ln w="5080">
            <a:solidFill>
              <a:srgbClr val="C9A961"/>
            </a:solidFill>
            <a:prstDash val="solid"/>
          </a:ln>
        </p:spPr>
        <p:txBody>
          <a:bodyPr/>
          <a:p/>
        </p:txBody>
      </p:sp>
      <p:sp>
        <p:nvSpPr>
          <p:cNvPr id="4" name="Shape 2"/>
          <p:cNvSpPr/>
          <p:nvPr/>
        </p:nvSpPr>
        <p:spPr>
          <a:xfrm>
            <a:off x="0" y="1005840"/>
            <a:ext cx="2194560" cy="2194560"/>
          </a:xfrm>
          <a:prstGeom prst="line">
            <a:avLst/>
          </a:prstGeom>
          <a:noFill/>
          <a:ln w="5080">
            <a:solidFill>
              <a:srgbClr val="C9A961"/>
            </a:solidFill>
            <a:prstDash val="solid"/>
          </a:ln>
        </p:spPr>
        <p:txBody>
          <a:bodyPr/>
          <a:p/>
        </p:txBody>
      </p:sp>
      <p:sp>
        <p:nvSpPr>
          <p:cNvPr id="5" name="Shape 3"/>
          <p:cNvSpPr/>
          <p:nvPr/>
        </p:nvSpPr>
        <p:spPr>
          <a:xfrm>
            <a:off x="0" y="1280160"/>
            <a:ext cx="1920240" cy="1920240"/>
          </a:xfrm>
          <a:prstGeom prst="line">
            <a:avLst/>
          </a:prstGeom>
          <a:noFill/>
          <a:ln w="5080">
            <a:solidFill>
              <a:srgbClr val="C9A961"/>
            </a:solidFill>
            <a:prstDash val="solid"/>
          </a:ln>
        </p:spPr>
        <p:txBody>
          <a:bodyPr/>
          <a:p/>
        </p:txBody>
      </p:sp>
      <p:sp>
        <p:nvSpPr>
          <p:cNvPr id="6" name="Shape 4"/>
          <p:cNvSpPr/>
          <p:nvPr/>
        </p:nvSpPr>
        <p:spPr>
          <a:xfrm>
            <a:off x="0" y="1554480"/>
            <a:ext cx="1645920" cy="1645920"/>
          </a:xfrm>
          <a:prstGeom prst="line">
            <a:avLst/>
          </a:prstGeom>
          <a:noFill/>
          <a:ln w="5080">
            <a:solidFill>
              <a:srgbClr val="C9A961"/>
            </a:solidFill>
            <a:prstDash val="solid"/>
          </a:ln>
        </p:spPr>
        <p:txBody>
          <a:bodyPr/>
          <a:p/>
        </p:txBody>
      </p:sp>
      <p:sp>
        <p:nvSpPr>
          <p:cNvPr id="7" name="Shape 5"/>
          <p:cNvSpPr/>
          <p:nvPr/>
        </p:nvSpPr>
        <p:spPr>
          <a:xfrm>
            <a:off x="0" y="1828800"/>
            <a:ext cx="1371600" cy="1371600"/>
          </a:xfrm>
          <a:prstGeom prst="line">
            <a:avLst/>
          </a:prstGeom>
          <a:noFill/>
          <a:ln w="5080">
            <a:solidFill>
              <a:srgbClr val="C9A961"/>
            </a:solidFill>
            <a:prstDash val="solid"/>
          </a:ln>
        </p:spPr>
        <p:txBody>
          <a:bodyPr/>
          <a:p/>
        </p:txBody>
      </p:sp>
      <p:sp>
        <p:nvSpPr>
          <p:cNvPr id="8" name="Shape 6"/>
          <p:cNvSpPr/>
          <p:nvPr/>
        </p:nvSpPr>
        <p:spPr>
          <a:xfrm>
            <a:off x="0" y="2103120"/>
            <a:ext cx="1097280" cy="1097280"/>
          </a:xfrm>
          <a:prstGeom prst="line">
            <a:avLst/>
          </a:prstGeom>
          <a:noFill/>
          <a:ln w="5080">
            <a:solidFill>
              <a:srgbClr val="C9A961"/>
            </a:solidFill>
            <a:prstDash val="solid"/>
          </a:ln>
        </p:spPr>
        <p:txBody>
          <a:bodyPr/>
          <a:p/>
        </p:txBody>
      </p:sp>
      <p:sp>
        <p:nvSpPr>
          <p:cNvPr id="9" name="Shape 7"/>
          <p:cNvSpPr/>
          <p:nvPr/>
        </p:nvSpPr>
        <p:spPr>
          <a:xfrm>
            <a:off x="0" y="2377440"/>
            <a:ext cx="822960" cy="822960"/>
          </a:xfrm>
          <a:prstGeom prst="line">
            <a:avLst/>
          </a:prstGeom>
          <a:noFill/>
          <a:ln w="5080">
            <a:solidFill>
              <a:srgbClr val="C9A961"/>
            </a:solidFill>
            <a:prstDash val="solid"/>
          </a:ln>
        </p:spPr>
        <p:txBody>
          <a:bodyPr/>
          <a:p/>
        </p:txBody>
      </p:sp>
      <p:sp>
        <p:nvSpPr>
          <p:cNvPr id="10" name="Shape 8"/>
          <p:cNvSpPr/>
          <p:nvPr/>
        </p:nvSpPr>
        <p:spPr>
          <a:xfrm>
            <a:off x="9418320" y="5486400"/>
            <a:ext cx="2743200" cy="2743200"/>
          </a:xfrm>
          <a:prstGeom prst="line">
            <a:avLst/>
          </a:prstGeom>
          <a:noFill/>
          <a:ln w="5080">
            <a:solidFill>
              <a:srgbClr val="C9A961"/>
            </a:solidFill>
            <a:prstDash val="solid"/>
          </a:ln>
        </p:spPr>
        <p:txBody>
          <a:bodyPr/>
          <a:p/>
        </p:txBody>
      </p:sp>
      <p:sp>
        <p:nvSpPr>
          <p:cNvPr id="11" name="Shape 9"/>
          <p:cNvSpPr/>
          <p:nvPr/>
        </p:nvSpPr>
        <p:spPr>
          <a:xfrm>
            <a:off x="9692640" y="5486400"/>
            <a:ext cx="2468880" cy="2468880"/>
          </a:xfrm>
          <a:prstGeom prst="line">
            <a:avLst/>
          </a:prstGeom>
          <a:noFill/>
          <a:ln w="5080">
            <a:solidFill>
              <a:srgbClr val="C9A961"/>
            </a:solidFill>
            <a:prstDash val="solid"/>
          </a:ln>
        </p:spPr>
        <p:txBody>
          <a:bodyPr/>
          <a:p/>
        </p:txBody>
      </p:sp>
      <p:sp>
        <p:nvSpPr>
          <p:cNvPr id="12" name="Shape 10"/>
          <p:cNvSpPr/>
          <p:nvPr/>
        </p:nvSpPr>
        <p:spPr>
          <a:xfrm>
            <a:off x="9966960" y="5486400"/>
            <a:ext cx="2194560" cy="2194560"/>
          </a:xfrm>
          <a:prstGeom prst="line">
            <a:avLst/>
          </a:prstGeom>
          <a:noFill/>
          <a:ln w="5080">
            <a:solidFill>
              <a:srgbClr val="C9A961"/>
            </a:solidFill>
            <a:prstDash val="solid"/>
          </a:ln>
        </p:spPr>
        <p:txBody>
          <a:bodyPr/>
          <a:p/>
        </p:txBody>
      </p:sp>
      <p:sp>
        <p:nvSpPr>
          <p:cNvPr id="13" name="Shape 11"/>
          <p:cNvSpPr/>
          <p:nvPr/>
        </p:nvSpPr>
        <p:spPr>
          <a:xfrm>
            <a:off x="10241280" y="5486400"/>
            <a:ext cx="1920240" cy="1920240"/>
          </a:xfrm>
          <a:prstGeom prst="line">
            <a:avLst/>
          </a:prstGeom>
          <a:noFill/>
          <a:ln w="5080">
            <a:solidFill>
              <a:srgbClr val="C9A961"/>
            </a:solidFill>
            <a:prstDash val="solid"/>
          </a:ln>
        </p:spPr>
        <p:txBody>
          <a:bodyPr/>
          <a:p/>
        </p:txBody>
      </p:sp>
      <p:sp>
        <p:nvSpPr>
          <p:cNvPr id="14" name="Shape 12"/>
          <p:cNvSpPr/>
          <p:nvPr/>
        </p:nvSpPr>
        <p:spPr>
          <a:xfrm>
            <a:off x="10515600" y="5486400"/>
            <a:ext cx="1645920" cy="1645920"/>
          </a:xfrm>
          <a:prstGeom prst="line">
            <a:avLst/>
          </a:prstGeom>
          <a:noFill/>
          <a:ln w="5080">
            <a:solidFill>
              <a:srgbClr val="C9A961"/>
            </a:solidFill>
            <a:prstDash val="solid"/>
          </a:ln>
        </p:spPr>
        <p:txBody>
          <a:bodyPr/>
          <a:p/>
        </p:txBody>
      </p:sp>
      <p:sp>
        <p:nvSpPr>
          <p:cNvPr id="15" name="Shape 13"/>
          <p:cNvSpPr/>
          <p:nvPr/>
        </p:nvSpPr>
        <p:spPr>
          <a:xfrm>
            <a:off x="10789920" y="5486400"/>
            <a:ext cx="1371600" cy="1371600"/>
          </a:xfrm>
          <a:prstGeom prst="line">
            <a:avLst/>
          </a:prstGeom>
          <a:noFill/>
          <a:ln w="5080">
            <a:solidFill>
              <a:srgbClr val="C9A961"/>
            </a:solidFill>
            <a:prstDash val="solid"/>
          </a:ln>
        </p:spPr>
        <p:txBody>
          <a:bodyPr/>
          <a:p/>
        </p:txBody>
      </p:sp>
      <p:sp>
        <p:nvSpPr>
          <p:cNvPr id="16" name="Shape 14"/>
          <p:cNvSpPr/>
          <p:nvPr/>
        </p:nvSpPr>
        <p:spPr>
          <a:xfrm>
            <a:off x="11064240" y="5486400"/>
            <a:ext cx="1097280" cy="1097280"/>
          </a:xfrm>
          <a:prstGeom prst="line">
            <a:avLst/>
          </a:prstGeom>
          <a:noFill/>
          <a:ln w="5080">
            <a:solidFill>
              <a:srgbClr val="C9A961"/>
            </a:solidFill>
            <a:prstDash val="solid"/>
          </a:ln>
        </p:spPr>
        <p:txBody>
          <a:bodyPr/>
          <a:p/>
        </p:txBody>
      </p:sp>
      <p:sp>
        <p:nvSpPr>
          <p:cNvPr id="17" name="Shape 15"/>
          <p:cNvSpPr/>
          <p:nvPr/>
        </p:nvSpPr>
        <p:spPr>
          <a:xfrm>
            <a:off x="11338560" y="5486400"/>
            <a:ext cx="822960" cy="822960"/>
          </a:xfrm>
          <a:prstGeom prst="line">
            <a:avLst/>
          </a:prstGeom>
          <a:noFill/>
          <a:ln w="5080">
            <a:solidFill>
              <a:srgbClr val="C9A961"/>
            </a:solidFill>
            <a:prstDash val="solid"/>
          </a:ln>
        </p:spPr>
        <p:txBody>
          <a:bodyPr/>
          <a:p/>
        </p:txBody>
      </p:sp>
      <p:sp>
        <p:nvSpPr>
          <p:cNvPr id="18" name="Shape 16"/>
          <p:cNvSpPr/>
          <p:nvPr/>
        </p:nvSpPr>
        <p:spPr>
          <a:xfrm>
            <a:off x="0" y="365760"/>
            <a:ext cx="12161520" cy="36576"/>
          </a:xfrm>
          <a:prstGeom prst="rect">
            <a:avLst/>
          </a:prstGeom>
          <a:solidFill>
            <a:srgbClr val="C9A961"/>
          </a:solidFill>
          <a:ln w="12700">
            <a:solidFill>
              <a:srgbClr val="C9A961"/>
            </a:solidFill>
            <a:prstDash val="solid"/>
          </a:ln>
        </p:spPr>
        <p:txBody>
          <a:bodyPr/>
          <a:p/>
        </p:txBody>
      </p:sp>
      <p:sp>
        <p:nvSpPr>
          <p:cNvPr id="19" name="Text 17"/>
          <p:cNvSpPr/>
          <p:nvPr/>
        </p:nvSpPr>
        <p:spPr>
          <a:xfrm>
            <a:off x="0" y="1188720"/>
            <a:ext cx="12161520" cy="274320"/>
          </a:xfrm>
          <a:prstGeom prst="rect">
            <a:avLst/>
          </a:prstGeom>
          <a:noFill/>
          <a:ln/>
        </p:spPr>
        <p:txBody>
          <a:bodyPr wrap="square" lIns="0" tIns="0" rIns="0" bIns="0" rtlCol="0" anchor="ctr"/>
          <a:lstStyle/>
          <a:p>
            <a:pPr marL="0" indent="0" algn="ctr">
              <a:buNone/>
            </a:pPr>
            <a:r>
              <a:rPr lang="en-US" sz="2000" b="1" dirty="0">
                <a:solidFill>
                  <a:srgbClr val="C9A961"/>
                </a:solidFill>
                <a:latin typeface="Calibri" pitchFamily="34" charset="0"/>
                <a:ea typeface="Calibri" pitchFamily="34" charset="-122"/>
                <a:cs typeface="Calibri" pitchFamily="34" charset="-120"/>
              </a:rPr>
              <a:t>08  ·  CONTACT</a:t>
            </a:r>
            <a:endParaRPr lang="en-US" sz="2000" dirty="0"/>
          </a:p>
        </p:txBody>
      </p:sp>
      <p:sp>
        <p:nvSpPr>
          <p:cNvPr id="20" name="Text 18"/>
          <p:cNvSpPr/>
          <p:nvPr/>
        </p:nvSpPr>
        <p:spPr>
          <a:xfrm>
            <a:off x="0" y="1691640"/>
            <a:ext cx="12161520" cy="1097280"/>
          </a:xfrm>
          <a:prstGeom prst="rect">
            <a:avLst/>
          </a:prstGeom>
          <a:noFill/>
          <a:ln/>
        </p:spPr>
        <p:txBody>
          <a:bodyPr wrap="square" lIns="0" tIns="0" rIns="0" bIns="0" rtlCol="0" anchor="ctr"/>
          <a:lstStyle/>
          <a:p>
            <a:pPr marL="0" indent="0" algn="ctr">
              <a:buNone/>
            </a:pPr>
            <a:r>
              <a:rPr lang="en-US" sz="5600" b="1" dirty="0">
                <a:solidFill>
                  <a:srgbClr val="FFFFFF"/>
                </a:solidFill>
                <a:latin typeface="Calibri" pitchFamily="34" charset="0"/>
                <a:ea typeface="Calibri" pitchFamily="34" charset="-122"/>
                <a:cs typeface="Calibri" pitchFamily="34" charset="-120"/>
              </a:rPr>
              <a:t>Let's Work</a:t>
            </a:r>
            <a:endParaRPr lang="en-US" sz="5600" dirty="0"/>
          </a:p>
        </p:txBody>
      </p:sp>
      <p:sp>
        <p:nvSpPr>
          <p:cNvPr id="21" name="Text 19"/>
          <p:cNvSpPr/>
          <p:nvPr/>
        </p:nvSpPr>
        <p:spPr>
          <a:xfrm>
            <a:off x="0" y="2606040"/>
            <a:ext cx="12161520" cy="1097280"/>
          </a:xfrm>
          <a:prstGeom prst="rect">
            <a:avLst/>
          </a:prstGeom>
          <a:noFill/>
          <a:ln/>
        </p:spPr>
        <p:txBody>
          <a:bodyPr wrap="square" lIns="0" tIns="0" rIns="0" bIns="0" rtlCol="0" anchor="ctr"/>
          <a:lstStyle/>
          <a:p>
            <a:pPr marL="0" indent="0" algn="ctr">
              <a:buNone/>
            </a:pPr>
            <a:r>
              <a:rPr lang="en-US" sz="5600" b="1" dirty="0">
                <a:solidFill>
                  <a:srgbClr val="C9A961"/>
                </a:solidFill>
                <a:latin typeface="Calibri" pitchFamily="34" charset="0"/>
                <a:ea typeface="Calibri" pitchFamily="34" charset="-122"/>
                <a:cs typeface="Calibri" pitchFamily="34" charset="-120"/>
              </a:rPr>
              <a:t>Together.</a:t>
            </a:r>
            <a:endParaRPr lang="en-US" sz="5600" dirty="0"/>
          </a:p>
        </p:txBody>
      </p:sp>
      <p:sp>
        <p:nvSpPr>
          <p:cNvPr id="22" name="Text 20"/>
          <p:cNvSpPr/>
          <p:nvPr/>
        </p:nvSpPr>
        <p:spPr>
          <a:xfrm>
            <a:off x="0" y="3749040"/>
            <a:ext cx="12161520" cy="365760"/>
          </a:xfrm>
          <a:prstGeom prst="rect">
            <a:avLst/>
          </a:prstGeom>
          <a:noFill/>
          <a:ln/>
        </p:spPr>
        <p:txBody>
          <a:bodyPr wrap="square" lIns="0" tIns="0" rIns="0" bIns="0"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I'm open to engineering, AI/ML and industrial AI roles, especially in mining and energy.</a:t>
            </a:r>
            <a:endParaRPr lang="en-US" sz="1400" dirty="0"/>
          </a:p>
        </p:txBody>
      </p:sp>
      <p:sp>
        <p:nvSpPr>
          <p:cNvPr id="23" name="Shape 21"/>
          <p:cNvSpPr/>
          <p:nvPr/>
        </p:nvSpPr>
        <p:spPr>
          <a:xfrm>
            <a:off x="4983480" y="4160520"/>
            <a:ext cx="2194560" cy="22860"/>
          </a:xfrm>
          <a:prstGeom prst="rect">
            <a:avLst/>
          </a:prstGeom>
          <a:solidFill>
            <a:srgbClr val="C9A961"/>
          </a:solidFill>
          <a:ln w="12700">
            <a:solidFill>
              <a:srgbClr val="C9A961"/>
            </a:solidFill>
            <a:prstDash val="solid"/>
          </a:ln>
        </p:spPr>
        <p:txBody>
          <a:bodyPr/>
          <a:p/>
        </p:txBody>
      </p:sp>
      <p:sp>
        <p:nvSpPr>
          <p:cNvPr id="24" name="Text 22"/>
          <p:cNvSpPr/>
          <p:nvPr/>
        </p:nvSpPr>
        <p:spPr>
          <a:xfrm>
            <a:off x="0" y="44348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EMAIL</a:t>
            </a:r>
            <a:endParaRPr lang="en-US" sz="1400" dirty="0"/>
          </a:p>
        </p:txBody>
      </p:sp>
      <p:sp>
        <p:nvSpPr>
          <p:cNvPr id="25" name="Text 23"/>
          <p:cNvSpPr/>
          <p:nvPr/>
        </p:nvSpPr>
        <p:spPr>
          <a:xfrm>
            <a:off x="0" y="46177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fathonimuhammad2411@gmail.com</a:t>
            </a:r>
            <a:endParaRPr lang="en-US" sz="1200" dirty="0"/>
          </a:p>
        </p:txBody>
      </p:sp>
      <p:sp>
        <p:nvSpPr>
          <p:cNvPr id="26" name="Text 24"/>
          <p:cNvSpPr/>
          <p:nvPr/>
        </p:nvSpPr>
        <p:spPr>
          <a:xfrm>
            <a:off x="0" y="48920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PHONE</a:t>
            </a:r>
            <a:endParaRPr lang="en-US" sz="1400" dirty="0"/>
          </a:p>
        </p:txBody>
      </p:sp>
      <p:sp>
        <p:nvSpPr>
          <p:cNvPr id="27" name="Text 25"/>
          <p:cNvSpPr/>
          <p:nvPr/>
        </p:nvSpPr>
        <p:spPr>
          <a:xfrm>
            <a:off x="0" y="50749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+62 822-5850-3481</a:t>
            </a:r>
            <a:endParaRPr lang="en-US" sz="1200" dirty="0"/>
          </a:p>
        </p:txBody>
      </p:sp>
      <p:sp>
        <p:nvSpPr>
          <p:cNvPr id="28" name="Text 26"/>
          <p:cNvSpPr/>
          <p:nvPr/>
        </p:nvSpPr>
        <p:spPr>
          <a:xfrm>
            <a:off x="0" y="53492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LINKEDIN</a:t>
            </a:r>
            <a:endParaRPr lang="en-US" sz="1400" dirty="0"/>
          </a:p>
        </p:txBody>
      </p:sp>
      <p:sp>
        <p:nvSpPr>
          <p:cNvPr id="29" name="Text 27"/>
          <p:cNvSpPr/>
          <p:nvPr/>
        </p:nvSpPr>
        <p:spPr>
          <a:xfrm>
            <a:off x="0" y="55321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linkedin.com/in/muhammad-fathoni-038274266</a:t>
            </a:r>
            <a:endParaRPr lang="en-US" sz="1200" dirty="0"/>
          </a:p>
        </p:txBody>
      </p:sp>
      <p:sp>
        <p:nvSpPr>
          <p:cNvPr id="30" name="Text 28"/>
          <p:cNvSpPr/>
          <p:nvPr/>
        </p:nvSpPr>
        <p:spPr>
          <a:xfrm>
            <a:off x="0" y="58064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LOCATION</a:t>
            </a:r>
            <a:endParaRPr lang="en-US" sz="1400" dirty="0"/>
          </a:p>
        </p:txBody>
      </p:sp>
      <p:sp>
        <p:nvSpPr>
          <p:cNvPr id="31" name="Text 29"/>
          <p:cNvSpPr/>
          <p:nvPr/>
        </p:nvSpPr>
        <p:spPr>
          <a:xfrm>
            <a:off x="0" y="59893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Yogyakarta, Indonesia  ·  Open to remote and relocation</a:t>
            </a:r>
            <a:endParaRPr lang="en-US" sz="1200" dirty="0"/>
          </a:p>
        </p:txBody>
      </p:sp>
      <p:sp>
        <p:nvSpPr>
          <p:cNvPr id="32" name="Text 30"/>
          <p:cNvSpPr/>
          <p:nvPr/>
        </p:nvSpPr>
        <p:spPr>
          <a:xfrm>
            <a:off x="0" y="6400800"/>
            <a:ext cx="12161520" cy="27432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THANK YOU FOR YOUR CONSIDERATION</a:t>
            </a:r>
            <a:endParaRPr lang="en-US" sz="1400" dirty="0"/>
          </a:p>
        </p:txBody>
      </p:sp>
      <p:sp>
        <p:nvSpPr>
          <p:cNvPr id="33" name="Shape 31"/>
          <p:cNvSpPr/>
          <p:nvPr/>
        </p:nvSpPr>
        <p:spPr>
          <a:xfrm>
            <a:off x="5623560" y="6647688"/>
            <a:ext cx="914400" cy="22860"/>
          </a:xfrm>
          <a:prstGeom prst="rect">
            <a:avLst/>
          </a:prstGeom>
          <a:solidFill>
            <a:srgbClr val="C9A961"/>
          </a:solidFill>
          <a:ln w="12700">
            <a:solidFill>
              <a:srgbClr val="C9A961"/>
            </a:solidFill>
            <a:prstDash val="solid"/>
          </a:ln>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6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INDUSTRIAL AI · SOLE DEVELOPER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SIAGA: Predictive Maintenance ERP for Mining</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(Architecture, ML, ERP Integration, IoT Pipeline)</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1010412"/>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Condition based maintenance for mining equipment, built on ERPNext. Vibration data flows over MQTT into TimescaleDB, and an anomaly model scores every machine against its own healthy baseline. When the health score stays low, SIAGA raises a work order with the suspected parts, reserves the stock and drafts a purchase request. The only human step is approval.</a:t>
            </a:r>
            <a:endParaRPr lang="en-US" sz="1400" dirty="0"/>
          </a:p>
        </p:txBody>
      </p:sp>
      <p:sp>
        <p:nvSpPr>
          <p:cNvPr id="28" name="Text 25"/>
          <p:cNvSpPr/>
          <p:nvPr/>
        </p:nvSpPr>
        <p:spPr>
          <a:xfrm>
            <a:off x="640080" y="3881628"/>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155948"/>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247388"/>
            <a:ext cx="6400800" cy="1463039"/>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Warned about 25 hours before a real bearing failure (NASA IMS data), and 80 and 128 hours ahead on a second dataset</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Per unit Isolation Forest models, each scored against that unit's own healthy baseline</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Parts ordered before the alarm, based on the projected health trend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Telegram bot for mechanics and a read only LLM assistant on local Ollama for planners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How SIAGA turns vibration into a purchase request</a:t>
            </a:r>
            <a:endParaRPr lang="en-US" sz="1000" dirty="0"/>
          </a:p>
        </p:txBody>
      </p:sp>
      <p:sp>
        <p:nvSpPr>
          <p:cNvPr id="19" name="Shape 16"/>
          <p:cNvSpPr/>
          <p:nvPr/>
        </p:nvSpPr>
        <p:spPr>
          <a:xfrm>
            <a:off x="640080" y="2231136"/>
            <a:ext cx="73700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73700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ERPNext</a:t>
            </a:r>
            <a:endParaRPr lang="en-US" sz="1000" dirty="0"/>
          </a:p>
        </p:txBody>
      </p:sp>
      <p:sp>
        <p:nvSpPr>
          <p:cNvPr id="19" name="Shape 16"/>
          <p:cNvSpPr/>
          <p:nvPr/>
        </p:nvSpPr>
        <p:spPr>
          <a:xfrm>
            <a:off x="1468526" y="2231136"/>
            <a:ext cx="137891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468526" y="2231136"/>
            <a:ext cx="137891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Isolation Forest</a:t>
            </a:r>
            <a:endParaRPr lang="en-US" sz="1000" dirty="0"/>
          </a:p>
        </p:txBody>
      </p:sp>
      <p:sp>
        <p:nvSpPr>
          <p:cNvPr id="19" name="Shape 16"/>
          <p:cNvSpPr/>
          <p:nvPr/>
        </p:nvSpPr>
        <p:spPr>
          <a:xfrm>
            <a:off x="2938881" y="2231136"/>
            <a:ext cx="102229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38881" y="2231136"/>
            <a:ext cx="102229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TimescaleDB</a:t>
            </a:r>
            <a:endParaRPr lang="en-US" sz="1000" dirty="0"/>
          </a:p>
        </p:txBody>
      </p:sp>
      <p:sp>
        <p:nvSpPr>
          <p:cNvPr id="19" name="Shape 16"/>
          <p:cNvSpPr/>
          <p:nvPr/>
        </p:nvSpPr>
        <p:spPr>
          <a:xfrm>
            <a:off x="4052620" y="2231136"/>
            <a:ext cx="52303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52620" y="2231136"/>
            <a:ext cx="52303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MQTT</a:t>
            </a:r>
            <a:endParaRPr lang="en-US" sz="1000" dirty="0"/>
          </a:p>
        </p:txBody>
      </p:sp>
      <p:sp>
        <p:nvSpPr>
          <p:cNvPr id="19" name="Shape 16"/>
          <p:cNvSpPr/>
          <p:nvPr/>
        </p:nvSpPr>
        <p:spPr>
          <a:xfrm>
            <a:off x="4667097"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667097"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Docker</a:t>
            </a:r>
            <a:endParaRPr lang="en-US" sz="1000" dirty="0"/>
          </a:p>
        </p:txBody>
      </p:sp>
      <p:sp>
        <p:nvSpPr>
          <p:cNvPr id="19" name="Shape 16"/>
          <p:cNvSpPr/>
          <p:nvPr/>
        </p:nvSpPr>
        <p:spPr>
          <a:xfrm>
            <a:off x="542422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542422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Ollama</a:t>
            </a:r>
            <a:endParaRPr lang="en-US" sz="1000" dirty="0"/>
          </a:p>
        </p:txBody>
      </p:sp>
      <p:pic>
        <p:nvPicPr>
          <p:cNvPr id="35" name="Picture 34" descr="gear.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siaga-flow.jpg"/>
          <p:cNvPicPr>
            <a:picLocks noChangeAspect="1"/>
          </p:cNvPicPr>
          <p:nvPr/>
        </p:nvPicPr>
        <p:blipFill>
          <a:blip r:embed="rId5"/>
          <a:stretch>
            <a:fillRect/>
          </a:stretch>
        </p:blipFill>
        <p:spPr>
          <a:xfrm>
            <a:off x="7818120" y="2171700"/>
            <a:ext cx="3657600" cy="27432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7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10972800" cy="548640"/>
          </a:xfrm>
          <a:prstGeom prst="rect">
            <a:avLst/>
          </a:prstGeom>
          <a:noFill/>
          <a:ln/>
        </p:spPr>
        <p:txBody>
          <a:bodyPr wrap="square" lIns="0" tIns="0" rIns="0" bIns="0" rtlCol="0" anchor="ctr"/>
          <a:lstStyle/>
          <a:p>
            <a:pPr marL="0" indent="0">
              <a:buNone/>
            </a:pPr>
            <a:r>
              <a:rPr lang="en-US" sz="2200" b="1" dirty="0">
                <a:solidFill>
                  <a:srgbClr val="0A1628"/>
                </a:solidFill>
                <a:latin typeface="Calibri" pitchFamily="34" charset="0"/>
                <a:ea typeface="Calibri" pitchFamily="34" charset="-122"/>
                <a:cs typeface="Calibri" pitchFamily="34" charset="-120"/>
              </a:rPr>
              <a:t>SIAGA: From Sensor Data to Approved Purchase</a:t>
            </a:r>
            <a:endParaRPr lang="en-US" sz="2200" dirty="0"/>
          </a:p>
        </p:txBody>
      </p:sp>
      <p:sp>
        <p:nvSpPr>
          <p:cNvPr id="15" name="Text 13"/>
          <p:cNvSpPr/>
          <p:nvPr/>
        </p:nvSpPr>
        <p:spPr>
          <a:xfrm>
            <a:off x="640080" y="1783080"/>
            <a:ext cx="109728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Screens from the running system, replaying a real bearing failure dataset. github.com/Toni2411/siaga</a:t>
            </a:r>
            <a:endParaRPr lang="en-US" sz="1100" dirty="0"/>
          </a:p>
        </p:txBody>
      </p:sp>
      <p:sp>
        <p:nvSpPr>
          <p:cNvPr id="16" name="Shape 14"/>
          <p:cNvSpPr/>
          <p:nvPr/>
        </p:nvSpPr>
        <p:spPr>
          <a:xfrm>
            <a:off x="6400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7" name="Shape 15"/>
          <p:cNvSpPr/>
          <p:nvPr/>
        </p:nvSpPr>
        <p:spPr>
          <a:xfrm>
            <a:off x="640080" y="2194560"/>
            <a:ext cx="54864" cy="2103120"/>
          </a:xfrm>
          <a:prstGeom prst="rect">
            <a:avLst/>
          </a:prstGeom>
          <a:solidFill>
            <a:srgbClr val="C9A961"/>
          </a:solidFill>
          <a:ln w="12700">
            <a:solidFill>
              <a:srgbClr val="C9A961"/>
            </a:solidFill>
            <a:prstDash val="solid"/>
          </a:ln>
        </p:spPr>
        <p:txBody>
          <a:bodyPr/>
          <a:p/>
        </p:txBody>
      </p:sp>
      <p:sp>
        <p:nvSpPr>
          <p:cNvPr id="19" name="Text 16"/>
          <p:cNvSpPr/>
          <p:nvPr/>
        </p:nvSpPr>
        <p:spPr>
          <a:xfrm>
            <a:off x="7772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Health score of a pump dropping over several days</a:t>
            </a:r>
            <a:endParaRPr lang="en-US" sz="1000" dirty="0"/>
          </a:p>
        </p:txBody>
      </p:sp>
      <p:sp>
        <p:nvSpPr>
          <p:cNvPr id="20" name="Shape 17"/>
          <p:cNvSpPr/>
          <p:nvPr/>
        </p:nvSpPr>
        <p:spPr>
          <a:xfrm>
            <a:off x="61264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1" name="Shape 18"/>
          <p:cNvSpPr/>
          <p:nvPr/>
        </p:nvSpPr>
        <p:spPr>
          <a:xfrm>
            <a:off x="6126480" y="2194560"/>
            <a:ext cx="54864" cy="2103120"/>
          </a:xfrm>
          <a:prstGeom prst="rect">
            <a:avLst/>
          </a:prstGeom>
          <a:solidFill>
            <a:srgbClr val="C9A961"/>
          </a:solidFill>
          <a:ln w="12700">
            <a:solidFill>
              <a:srgbClr val="C9A961"/>
            </a:solidFill>
            <a:prstDash val="solid"/>
          </a:ln>
        </p:spPr>
        <p:txBody>
          <a:bodyPr/>
          <a:p/>
        </p:txBody>
      </p:sp>
      <p:sp>
        <p:nvSpPr>
          <p:cNvPr id="23" name="Text 19"/>
          <p:cNvSpPr/>
          <p:nvPr/>
        </p:nvSpPr>
        <p:spPr>
          <a:xfrm>
            <a:off x="62636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Work order raised automatically once the score crossed the threshold</a:t>
            </a:r>
            <a:endParaRPr lang="en-US" sz="1000" dirty="0"/>
          </a:p>
        </p:txBody>
      </p:sp>
      <p:sp>
        <p:nvSpPr>
          <p:cNvPr id="24" name="Shape 20"/>
          <p:cNvSpPr/>
          <p:nvPr/>
        </p:nvSpPr>
        <p:spPr>
          <a:xfrm>
            <a:off x="6400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5" name="Shape 21"/>
          <p:cNvSpPr/>
          <p:nvPr/>
        </p:nvSpPr>
        <p:spPr>
          <a:xfrm>
            <a:off x="640080" y="4434840"/>
            <a:ext cx="54864" cy="2103120"/>
          </a:xfrm>
          <a:prstGeom prst="rect">
            <a:avLst/>
          </a:prstGeom>
          <a:solidFill>
            <a:srgbClr val="C9A961"/>
          </a:solidFill>
          <a:ln w="12700">
            <a:solidFill>
              <a:srgbClr val="C9A961"/>
            </a:solidFill>
            <a:prstDash val="solid"/>
          </a:ln>
        </p:spPr>
        <p:txBody>
          <a:bodyPr/>
          <a:p/>
        </p:txBody>
      </p:sp>
      <p:sp>
        <p:nvSpPr>
          <p:cNvPr id="27" name="Text 22"/>
          <p:cNvSpPr/>
          <p:nvPr/>
        </p:nvSpPr>
        <p:spPr>
          <a:xfrm>
            <a:off x="7772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Purchase request drafted before the alarm, with the reason written out</a:t>
            </a:r>
            <a:endParaRPr lang="en-US" sz="1000" dirty="0"/>
          </a:p>
        </p:txBody>
      </p:sp>
      <p:sp>
        <p:nvSpPr>
          <p:cNvPr id="28" name="Shape 23"/>
          <p:cNvSpPr/>
          <p:nvPr/>
        </p:nvSpPr>
        <p:spPr>
          <a:xfrm>
            <a:off x="61264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9" name="Shape 24"/>
          <p:cNvSpPr/>
          <p:nvPr/>
        </p:nvSpPr>
        <p:spPr>
          <a:xfrm>
            <a:off x="6126480" y="4434840"/>
            <a:ext cx="54864" cy="2103120"/>
          </a:xfrm>
          <a:prstGeom prst="rect">
            <a:avLst/>
          </a:prstGeom>
          <a:solidFill>
            <a:srgbClr val="C9A961"/>
          </a:solidFill>
          <a:ln w="12700">
            <a:solidFill>
              <a:srgbClr val="C9A961"/>
            </a:solidFill>
            <a:prstDash val="solid"/>
          </a:ln>
        </p:spPr>
        <p:txBody>
          <a:bodyPr/>
          <a:p/>
        </p:txBody>
      </p:sp>
      <p:sp>
        <p:nvSpPr>
          <p:cNvPr id="31" name="Text 25"/>
          <p:cNvSpPr/>
          <p:nvPr/>
        </p:nvSpPr>
        <p:spPr>
          <a:xfrm>
            <a:off x="62636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Mechanics start and close work orders from Telegram</a:t>
            </a:r>
            <a:endParaRPr lang="en-US" sz="1000" dirty="0"/>
          </a:p>
        </p:txBody>
      </p:sp>
      <p:pic>
        <p:nvPicPr>
          <p:cNvPr id="32" name="Picture 31" descr="siaga-trend.jpg"/>
          <p:cNvPicPr>
            <a:picLocks noChangeAspect="1"/>
          </p:cNvPicPr>
          <p:nvPr/>
        </p:nvPicPr>
        <p:blipFill>
          <a:blip r:embed="rId6"/>
          <a:stretch>
            <a:fillRect/>
          </a:stretch>
        </p:blipFill>
        <p:spPr>
          <a:xfrm>
            <a:off x="1998617" y="2331720"/>
            <a:ext cx="2677885" cy="1554480"/>
          </a:xfrm>
          <a:prstGeom prst="rect">
            <a:avLst/>
          </a:prstGeom>
        </p:spPr>
      </p:pic>
      <p:pic>
        <p:nvPicPr>
          <p:cNvPr id="33" name="Picture 32" descr="siaga-wo.jpg"/>
          <p:cNvPicPr>
            <a:picLocks noChangeAspect="1"/>
          </p:cNvPicPr>
          <p:nvPr/>
        </p:nvPicPr>
        <p:blipFill>
          <a:blip r:embed="rId7"/>
          <a:stretch>
            <a:fillRect/>
          </a:stretch>
        </p:blipFill>
        <p:spPr>
          <a:xfrm>
            <a:off x="7326493" y="2331720"/>
            <a:ext cx="2994933" cy="1554480"/>
          </a:xfrm>
          <a:prstGeom prst="rect">
            <a:avLst/>
          </a:prstGeom>
        </p:spPr>
      </p:pic>
      <p:pic>
        <p:nvPicPr>
          <p:cNvPr id="34" name="Picture 33" descr="siaga-pr.jpg"/>
          <p:cNvPicPr>
            <a:picLocks noChangeAspect="1"/>
          </p:cNvPicPr>
          <p:nvPr/>
        </p:nvPicPr>
        <p:blipFill>
          <a:blip r:embed="rId8"/>
          <a:stretch>
            <a:fillRect/>
          </a:stretch>
        </p:blipFill>
        <p:spPr>
          <a:xfrm>
            <a:off x="2224508" y="4572000"/>
            <a:ext cx="2226102" cy="1554480"/>
          </a:xfrm>
          <a:prstGeom prst="rect">
            <a:avLst/>
          </a:prstGeom>
        </p:spPr>
      </p:pic>
      <p:pic>
        <p:nvPicPr>
          <p:cNvPr id="35" name="Picture 34" descr="siaga-telegram.jpg"/>
          <p:cNvPicPr>
            <a:picLocks noChangeAspect="1"/>
          </p:cNvPicPr>
          <p:nvPr/>
        </p:nvPicPr>
        <p:blipFill>
          <a:blip r:embed="rId9"/>
          <a:stretch>
            <a:fillRect/>
          </a:stretch>
        </p:blipFill>
        <p:spPr>
          <a:xfrm>
            <a:off x="7736942" y="4572000"/>
            <a:ext cx="2174035" cy="15544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10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MULTI AGENT SYSTEM · SOLE DEVELOPER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Autonomous AI Video Studio</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(Architecture, Agents, Prompts, Video Pipeline)</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team of AI agents that writes, films, checks, uploads and learns from an animated YouTube series, controlled from Telegram. I wanted a channel that runs itself without turning into low quality AI spam, so every agent owns one job and the others check its work.</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463039"/>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Supervisor agent scores each script against a rubric and sends it back for revision</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36 AI shots per episode with one consistent character; a QC agent rejects bad frames and dishonest titles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Uploads privately through the YouTube Data API, then learns from day 1, 3 and 7 metrics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Every step reported to Telegram, with a monthly API budget that falls back to free models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Episode thumbnail and the 36 generated shots</a:t>
            </a:r>
            <a:endParaRPr lang="en-US" sz="1000" dirty="0"/>
          </a:p>
        </p:txBody>
      </p:sp>
      <p:sp>
        <p:nvSpPr>
          <p:cNvPr id="19" name="Shape 16"/>
          <p:cNvSpPr/>
          <p:nvPr/>
        </p:nvSpPr>
        <p:spPr>
          <a:xfrm>
            <a:off x="640080" y="2231136"/>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Claude API</a:t>
            </a:r>
            <a:endParaRPr lang="en-US" sz="1000" dirty="0"/>
          </a:p>
        </p:txBody>
      </p:sp>
      <p:sp>
        <p:nvSpPr>
          <p:cNvPr id="19" name="Shape 16"/>
          <p:cNvSpPr/>
          <p:nvPr/>
        </p:nvSpPr>
        <p:spPr>
          <a:xfrm>
            <a:off x="1682496"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682496"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2439619" y="2231136"/>
            <a:ext cx="879652"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439619" y="2231136"/>
            <a:ext cx="87965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AI Agents</a:t>
            </a:r>
            <a:endParaRPr lang="en-US" sz="1000" dirty="0"/>
          </a:p>
        </p:txBody>
      </p:sp>
      <p:sp>
        <p:nvSpPr>
          <p:cNvPr id="19" name="Shape 16"/>
          <p:cNvSpPr/>
          <p:nvPr/>
        </p:nvSpPr>
        <p:spPr>
          <a:xfrm>
            <a:off x="3410712" y="2231136"/>
            <a:ext cx="102229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410712" y="2231136"/>
            <a:ext cx="102229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YouTube API</a:t>
            </a:r>
            <a:endParaRPr lang="en-US" sz="1000" dirty="0"/>
          </a:p>
        </p:txBody>
      </p:sp>
      <p:sp>
        <p:nvSpPr>
          <p:cNvPr id="19" name="Shape 16"/>
          <p:cNvSpPr/>
          <p:nvPr/>
        </p:nvSpPr>
        <p:spPr>
          <a:xfrm>
            <a:off x="4524451"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524451"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ffmpeg</a:t>
            </a:r>
            <a:endParaRPr lang="en-US" sz="1000" dirty="0"/>
          </a:p>
        </p:txBody>
      </p:sp>
      <p:sp>
        <p:nvSpPr>
          <p:cNvPr id="19" name="Shape 16"/>
          <p:cNvSpPr/>
          <p:nvPr/>
        </p:nvSpPr>
        <p:spPr>
          <a:xfrm>
            <a:off x="5281574"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5281574"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Telegram</a:t>
            </a:r>
            <a:endParaRPr lang="en-US" sz="1000" dirty="0"/>
          </a:p>
        </p:txBody>
      </p:sp>
      <p:pic>
        <p:nvPicPr>
          <p:cNvPr id="35" name="Picture 34" descr="play.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hermes-cover.jpg"/>
          <p:cNvPicPr>
            <a:picLocks noChangeAspect="1"/>
          </p:cNvPicPr>
          <p:nvPr/>
        </p:nvPicPr>
        <p:blipFill>
          <a:blip r:embed="rId5"/>
          <a:stretch>
            <a:fillRect/>
          </a:stretch>
        </p:blipFill>
        <p:spPr>
          <a:xfrm>
            <a:off x="8009708" y="1325880"/>
            <a:ext cx="3274422" cy="2455817"/>
          </a:xfrm>
          <a:prstGeom prst="rect">
            <a:avLst/>
          </a:prstGeom>
        </p:spPr>
      </p:pic>
      <p:pic>
        <p:nvPicPr>
          <p:cNvPr id="37" name="Picture 36" descr="hermes-shots.jpg"/>
          <p:cNvPicPr>
            <a:picLocks noChangeAspect="1"/>
          </p:cNvPicPr>
          <p:nvPr/>
        </p:nvPicPr>
        <p:blipFill>
          <a:blip r:embed="rId6"/>
          <a:stretch>
            <a:fillRect/>
          </a:stretch>
        </p:blipFill>
        <p:spPr>
          <a:xfrm>
            <a:off x="8009708" y="3918857"/>
            <a:ext cx="3274422" cy="184186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11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LLM RELIABILITY · SOLE DEVELOPER · 2026</a:t>
            </a:r>
            <a:endParaRPr lang="en-US" sz="1000" dirty="0"/>
          </a:p>
        </p:txBody>
      </p:sp>
      <p:sp>
        <p:nvSpPr>
          <p:cNvPr id="15" name="Text 13"/>
          <p:cNvSpPr/>
          <p:nvPr/>
        </p:nvSpPr>
        <p:spPr>
          <a:xfrm>
            <a:off x="640080" y="1444752"/>
            <a:ext cx="6400800" cy="804672"/>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Guardrailed LLM Content: RAG Chatbot and n8n Generator</a:t>
            </a:r>
            <a:endParaRPr lang="en-US" sz="2400" dirty="0"/>
          </a:p>
        </p:txBody>
      </p:sp>
      <p:sp>
        <p:nvSpPr>
          <p:cNvPr id="16" name="Text 14"/>
          <p:cNvSpPr/>
          <p:nvPr/>
        </p:nvSpPr>
        <p:spPr>
          <a:xfrm>
            <a:off x="640080" y="2267712"/>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(Prompts, Workflow, Retrieval Pipeline, Evaluation)</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3108960"/>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Three AI systems built around one question: what stops the model from confidently saying something false? A marketing post whose prompt forbids any figure the model cannot source, a weekly social media generator built as an n8n workflow, and a RAG chatbot written from scratch that answers from an archive of speeches.</a:t>
            </a:r>
            <a:endParaRPr lang="en-US" sz="1400" dirty="0"/>
          </a:p>
        </p:txBody>
      </p:sp>
      <p:sp>
        <p:nvSpPr>
          <p:cNvPr id="28" name="Text 25"/>
          <p:cNvSpPr/>
          <p:nvPr/>
        </p:nvSpPr>
        <p:spPr>
          <a:xfrm>
            <a:off x="640080" y="4096511"/>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370831"/>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462272"/>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21 node n8n workflow with a regex gate; anything it catches goes to human review</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RAG built by hand: chunking, embeddings, retrieval, reranking and a cap per document</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A calibrated similarity floor makes the bot refuse when nothing relevant is retrieved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Faithfulness 1.00 across 15 evaluation cases, with no invented quotations or dates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Guardrails and the measured evaluation results</a:t>
            </a:r>
            <a:endParaRPr lang="en-US" sz="1000" dirty="0"/>
          </a:p>
        </p:txBody>
      </p:sp>
      <p:sp>
        <p:nvSpPr>
          <p:cNvPr id="19" name="Shape 16"/>
          <p:cNvSpPr/>
          <p:nvPr/>
        </p:nvSpPr>
        <p:spPr>
          <a:xfrm>
            <a:off x="640080" y="2633472"/>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33472"/>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1397203" y="2633472"/>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97203" y="2633472"/>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RAG</a:t>
            </a:r>
            <a:endParaRPr lang="en-US" sz="1000" dirty="0"/>
          </a:p>
        </p:txBody>
      </p:sp>
      <p:sp>
        <p:nvSpPr>
          <p:cNvPr id="19" name="Shape 16"/>
          <p:cNvSpPr/>
          <p:nvPr/>
        </p:nvSpPr>
        <p:spPr>
          <a:xfrm>
            <a:off x="1940356" y="2633472"/>
            <a:ext cx="116494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940356" y="2633472"/>
            <a:ext cx="116494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Google Gemini</a:t>
            </a:r>
            <a:endParaRPr lang="en-US" sz="1000" dirty="0"/>
          </a:p>
        </p:txBody>
      </p:sp>
      <p:sp>
        <p:nvSpPr>
          <p:cNvPr id="19" name="Shape 16"/>
          <p:cNvSpPr/>
          <p:nvPr/>
        </p:nvSpPr>
        <p:spPr>
          <a:xfrm>
            <a:off x="3196742" y="2633472"/>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196742" y="2633472"/>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n8n</a:t>
            </a:r>
            <a:endParaRPr lang="en-US" sz="1000" dirty="0"/>
          </a:p>
        </p:txBody>
      </p:sp>
      <p:sp>
        <p:nvSpPr>
          <p:cNvPr id="19" name="Shape 16"/>
          <p:cNvSpPr/>
          <p:nvPr/>
        </p:nvSpPr>
        <p:spPr>
          <a:xfrm>
            <a:off x="3739896" y="2633472"/>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739896" y="2633472"/>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Embeddings</a:t>
            </a:r>
            <a:endParaRPr lang="en-US" sz="1000" dirty="0"/>
          </a:p>
        </p:txBody>
      </p:sp>
      <p:sp>
        <p:nvSpPr>
          <p:cNvPr id="19" name="Shape 16"/>
          <p:cNvSpPr/>
          <p:nvPr/>
        </p:nvSpPr>
        <p:spPr>
          <a:xfrm>
            <a:off x="4782312" y="2633472"/>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782312" y="2633472"/>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Gradio</a:t>
            </a:r>
            <a:endParaRPr lang="en-US" sz="1000" dirty="0"/>
          </a:p>
        </p:txBody>
      </p:sp>
      <p:pic>
        <p:nvPicPr>
          <p:cNvPr id="35" name="Picture 34" descr="shield.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guard-flow.jpg"/>
          <p:cNvPicPr>
            <a:picLocks noChangeAspect="1"/>
          </p:cNvPicPr>
          <p:nvPr/>
        </p:nvPicPr>
        <p:blipFill>
          <a:blip r:embed="rId5"/>
          <a:stretch>
            <a:fillRect/>
          </a:stretch>
        </p:blipFill>
        <p:spPr>
          <a:xfrm>
            <a:off x="8084127" y="1325880"/>
            <a:ext cx="3125585" cy="2344189"/>
          </a:xfrm>
          <a:prstGeom prst="rect">
            <a:avLst/>
          </a:prstGeom>
        </p:spPr>
      </p:pic>
      <p:pic>
        <p:nvPicPr>
          <p:cNvPr id="37" name="Picture 36" descr="guard-eval.jpg"/>
          <p:cNvPicPr>
            <a:picLocks noChangeAspect="1"/>
          </p:cNvPicPr>
          <p:nvPr/>
        </p:nvPicPr>
        <p:blipFill>
          <a:blip r:embed="rId6"/>
          <a:stretch>
            <a:fillRect/>
          </a:stretch>
        </p:blipFill>
        <p:spPr>
          <a:xfrm>
            <a:off x="8084127" y="3807229"/>
            <a:ext cx="3125585" cy="195349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12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INDUSTRIAL CONTROL · TEAM PROJECT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Wastewater Treatment Control Panel</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Control Panel Firmware and Monitoring Dashboard</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An ESP32 control panel that runs a small wastewater treatment unit on its own, in automatic 120 L batches, together with a web dashboard that lets operators watch it live. The panel sequences the pumps, reads water level and pH, catches faults and reminds the operator when the filter needs a backwash.</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28016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State machine for fill, dose, react and treat stages, switching four pumps and a UV lamp</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Ultrasonic level and pH monitoring, fault handling, counters kept in non volatile memory</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Realtime dashboard with history charts, CSV export and an event log</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Logic validated in a Wokwi simulation against a written test procedure</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The finished panel running a batch, and the wiring inside</a:t>
            </a:r>
            <a:endParaRPr lang="en-US" sz="1000" dirty="0"/>
          </a:p>
        </p:txBody>
      </p:sp>
      <p:sp>
        <p:nvSpPr>
          <p:cNvPr id="19" name="Shape 16"/>
          <p:cNvSpPr/>
          <p:nvPr/>
        </p:nvSpPr>
        <p:spPr>
          <a:xfrm>
            <a:off x="640080"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19" name="Shape 16"/>
          <p:cNvSpPr/>
          <p:nvPr/>
        </p:nvSpPr>
        <p:spPr>
          <a:xfrm>
            <a:off x="1325880" y="2231136"/>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25880" y="2231136"/>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t>
            </a:r>
            <a:endParaRPr lang="en-US" sz="1000" dirty="0"/>
          </a:p>
        </p:txBody>
      </p:sp>
      <p:sp>
        <p:nvSpPr>
          <p:cNvPr id="19" name="Shape 16"/>
          <p:cNvSpPr/>
          <p:nvPr/>
        </p:nvSpPr>
        <p:spPr>
          <a:xfrm>
            <a:off x="1869033" y="2231136"/>
            <a:ext cx="116494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869033" y="2231136"/>
            <a:ext cx="116494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State Machine</a:t>
            </a:r>
            <a:endParaRPr lang="en-US" sz="1000" dirty="0"/>
          </a:p>
        </p:txBody>
      </p:sp>
      <p:sp>
        <p:nvSpPr>
          <p:cNvPr id="19" name="Shape 16"/>
          <p:cNvSpPr/>
          <p:nvPr/>
        </p:nvSpPr>
        <p:spPr>
          <a:xfrm>
            <a:off x="3125419"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125419"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19" name="Shape 16"/>
          <p:cNvSpPr/>
          <p:nvPr/>
        </p:nvSpPr>
        <p:spPr>
          <a:xfrm>
            <a:off x="4025188"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25188"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Chart.js</a:t>
            </a:r>
            <a:endParaRPr lang="en-US" sz="1000" dirty="0"/>
          </a:p>
        </p:txBody>
      </p:sp>
      <p:sp>
        <p:nvSpPr>
          <p:cNvPr id="19" name="Shape 16"/>
          <p:cNvSpPr/>
          <p:nvPr/>
        </p:nvSpPr>
        <p:spPr>
          <a:xfrm>
            <a:off x="4924958"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924958"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Wokwi</a:t>
            </a:r>
            <a:endParaRPr lang="en-US" sz="1000" dirty="0"/>
          </a:p>
        </p:txBody>
      </p:sp>
      <p:pic>
        <p:nvPicPr>
          <p:cNvPr id="35" name="Picture 34" descr="drop.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wwpanel-photos.jpg"/>
          <p:cNvPicPr>
            <a:picLocks noChangeAspect="1"/>
          </p:cNvPicPr>
          <p:nvPr/>
        </p:nvPicPr>
        <p:blipFill>
          <a:blip r:embed="rId5"/>
          <a:stretch>
            <a:fillRect/>
          </a:stretch>
        </p:blipFill>
        <p:spPr>
          <a:xfrm>
            <a:off x="7818120" y="2338701"/>
            <a:ext cx="3657600" cy="2409197"/>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COMMUNITY SERVICE · IOT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Mosha AirQ: Smoke Detection for Schools</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 (Device, Firmware, Dashboard, Data Analysis)</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low cost IoT air monitor that helps a senior high school enforce its smoke free policy. An ESP32 with an MQ-135 gas sensor classifies indoor air as safe, warning or smoking detected and reports it in real time, so teachers get an objective early warning instead of relying on patrols.</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30 readings per condition: average gas level rose from 561 PPM in clean air to 1703 PPM</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The two ranges never overlapped, which set a detection threshold of 1500 PPM</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Rule based classifier on the device, realtime dashboard and Telegram alerts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Written up as a journal article draft</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The finished unit, its wiring, and the test results</a:t>
            </a:r>
            <a:endParaRPr lang="en-US" sz="1000" dirty="0"/>
          </a:p>
        </p:txBody>
      </p:sp>
      <p:sp>
        <p:nvSpPr>
          <p:cNvPr id="19" name="Shape 16"/>
          <p:cNvSpPr/>
          <p:nvPr/>
        </p:nvSpPr>
        <p:spPr>
          <a:xfrm>
            <a:off x="640080"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19" name="Shape 16"/>
          <p:cNvSpPr/>
          <p:nvPr/>
        </p:nvSpPr>
        <p:spPr>
          <a:xfrm>
            <a:off x="132588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2588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MQ-135</a:t>
            </a:r>
            <a:endParaRPr lang="en-US" sz="1000" dirty="0"/>
          </a:p>
        </p:txBody>
      </p:sp>
      <p:sp>
        <p:nvSpPr>
          <p:cNvPr id="19" name="Shape 16"/>
          <p:cNvSpPr/>
          <p:nvPr/>
        </p:nvSpPr>
        <p:spPr>
          <a:xfrm>
            <a:off x="2083003"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083003"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19" name="Shape 16"/>
          <p:cNvSpPr/>
          <p:nvPr/>
        </p:nvSpPr>
        <p:spPr>
          <a:xfrm>
            <a:off x="2982772" y="2231136"/>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82772" y="2231136"/>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19" name="Shape 16"/>
          <p:cNvSpPr/>
          <p:nvPr/>
        </p:nvSpPr>
        <p:spPr>
          <a:xfrm>
            <a:off x="4025188"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25188"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pic>
        <p:nvPicPr>
          <p:cNvPr id="35" name="Picture 34" descr="wind.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mosha-photos.jpg"/>
          <p:cNvPicPr>
            <a:picLocks noChangeAspect="1"/>
          </p:cNvPicPr>
          <p:nvPr/>
        </p:nvPicPr>
        <p:blipFill>
          <a:blip r:embed="rId5"/>
          <a:stretch>
            <a:fillRect/>
          </a:stretch>
        </p:blipFill>
        <p:spPr>
          <a:xfrm>
            <a:off x="7878782" y="1325879"/>
            <a:ext cx="3536274" cy="1645474"/>
          </a:xfrm>
          <a:prstGeom prst="rect">
            <a:avLst/>
          </a:prstGeom>
        </p:spPr>
      </p:pic>
      <p:pic>
        <p:nvPicPr>
          <p:cNvPr id="37" name="Picture 36" descr="mosha-results.jpg"/>
          <p:cNvPicPr>
            <a:picLocks noChangeAspect="1"/>
          </p:cNvPicPr>
          <p:nvPr/>
        </p:nvPicPr>
        <p:blipFill>
          <a:blip r:embed="rId6"/>
          <a:stretch>
            <a:fillRect/>
          </a:stretch>
        </p:blipFill>
        <p:spPr>
          <a:xfrm>
            <a:off x="7878782" y="3108514"/>
            <a:ext cx="3536274" cy="2652205"/>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BACKEND ENGINEERING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Webhook Delivery Service</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635508"/>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backend service that takes events from internal producers and reliably delivers them to HTTP endpoints registered by customers. It is built for the unhappy path: slow customers, endpoints that go down, and events that arrive twice.</a:t>
            </a:r>
            <a:endParaRPr lang="en-US" sz="1400" dirty="0"/>
          </a:p>
        </p:txBody>
      </p:sp>
      <p:sp>
        <p:nvSpPr>
          <p:cNvPr id="28" name="Text 25"/>
          <p:cNvSpPr/>
          <p:nvPr/>
        </p:nvSpPr>
        <p:spPr>
          <a:xfrm>
            <a:off x="640080" y="350672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781044"/>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3872484"/>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Events acknowledged only after they are durably stored; idempotency keys stop duplicates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Each customer gets its own queue, so one slow endpoint never blocks the others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Retries with configurable backoff, full attempt log, status API and replay</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Covered by pytest and a demo of healthy, flaky and down customers side by side</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Delivery guarantees and a live demo run</a:t>
            </a:r>
            <a:endParaRPr lang="en-US" sz="1000" dirty="0"/>
          </a:p>
        </p:txBody>
      </p:sp>
      <p:sp>
        <p:nvSpPr>
          <p:cNvPr id="19" name="Shape 16"/>
          <p:cNvSpPr/>
          <p:nvPr/>
        </p:nvSpPr>
        <p:spPr>
          <a:xfrm>
            <a:off x="64008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1397203" y="2231136"/>
            <a:ext cx="73700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97203" y="2231136"/>
            <a:ext cx="73700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FastAPI</a:t>
            </a:r>
            <a:endParaRPr lang="en-US" sz="1000" dirty="0"/>
          </a:p>
        </p:txBody>
      </p:sp>
      <p:sp>
        <p:nvSpPr>
          <p:cNvPr id="19" name="Shape 16"/>
          <p:cNvSpPr/>
          <p:nvPr/>
        </p:nvSpPr>
        <p:spPr>
          <a:xfrm>
            <a:off x="2225649"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225649"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httpx</a:t>
            </a:r>
            <a:endParaRPr lang="en-US" sz="1000" dirty="0"/>
          </a:p>
        </p:txBody>
      </p:sp>
      <p:sp>
        <p:nvSpPr>
          <p:cNvPr id="19" name="Shape 16"/>
          <p:cNvSpPr/>
          <p:nvPr/>
        </p:nvSpPr>
        <p:spPr>
          <a:xfrm>
            <a:off x="2911449"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11449"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SQLite</a:t>
            </a:r>
            <a:endParaRPr lang="en-US" sz="1000" dirty="0"/>
          </a:p>
        </p:txBody>
      </p:sp>
      <p:sp>
        <p:nvSpPr>
          <p:cNvPr id="19" name="Shape 16"/>
          <p:cNvSpPr/>
          <p:nvPr/>
        </p:nvSpPr>
        <p:spPr>
          <a:xfrm>
            <a:off x="3668572"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668572"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pytest</a:t>
            </a:r>
            <a:endParaRPr lang="en-US" sz="1000" dirty="0"/>
          </a:p>
        </p:txBody>
      </p:sp>
      <p:pic>
        <p:nvPicPr>
          <p:cNvPr id="35" name="Picture 34" descr="arrows.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webhook-flow.jpg"/>
          <p:cNvPicPr>
            <a:picLocks noChangeAspect="1"/>
          </p:cNvPicPr>
          <p:nvPr/>
        </p:nvPicPr>
        <p:blipFill>
          <a:blip r:embed="rId5"/>
          <a:stretch>
            <a:fillRect/>
          </a:stretch>
        </p:blipFill>
        <p:spPr>
          <a:xfrm>
            <a:off x="7856220" y="1325880"/>
            <a:ext cx="3581399" cy="2686049"/>
          </a:xfrm>
          <a:prstGeom prst="rect">
            <a:avLst/>
          </a:prstGeom>
        </p:spPr>
      </p:pic>
      <p:pic>
        <p:nvPicPr>
          <p:cNvPr id="37" name="Picture 36" descr="webhook-run.jpg"/>
          <p:cNvPicPr>
            <a:picLocks noChangeAspect="1"/>
          </p:cNvPicPr>
          <p:nvPr/>
        </p:nvPicPr>
        <p:blipFill>
          <a:blip r:embed="rId6"/>
          <a:stretch>
            <a:fillRect/>
          </a:stretch>
        </p:blipFill>
        <p:spPr>
          <a:xfrm>
            <a:off x="7856220" y="4149089"/>
            <a:ext cx="3581399" cy="161162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Professional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Full Stack / AI Engineer · Co-founder</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Noora Deen Technology</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May 2026 – Present</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Part time</a:t>
            </a:r>
            <a:endParaRPr lang="en-US" sz="1000" dirty="0"/>
          </a:p>
        </p:txBody>
      </p:sp>
      <p:sp>
        <p:nvSpPr>
          <p:cNvPr id="22" name="Text 19"/>
          <p:cNvSpPr/>
          <p:nvPr/>
        </p:nvSpPr>
        <p:spPr>
          <a:xfrm>
            <a:off x="914400" y="2240280"/>
            <a:ext cx="9875520" cy="10058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Built Noora, a cross platform Islamic lifestyle app with prayer times, the full Qur'an with per ayah audio and a streak based habit system.</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Own the whole stack: offline first frontend, Supabase backend with realtime sync and row level security, and the Android and iOS release pipeline.</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Designed and built the company website, nooradeen.com.</a:t>
            </a:r>
            <a:endParaRPr lang="en-US" sz="1400" dirty="0"/>
          </a:p>
        </p:txBody>
      </p:sp>
      <p:sp>
        <p:nvSpPr>
          <p:cNvPr id="23" name="Shape 20"/>
          <p:cNvSpPr/>
          <p:nvPr/>
        </p:nvSpPr>
        <p:spPr>
          <a:xfrm>
            <a:off x="594360" y="370332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657600"/>
            <a:ext cx="502920" cy="502920"/>
          </a:xfrm>
          <a:prstGeom prst="ellipse">
            <a:avLst/>
          </a:prstGeom>
          <a:solidFill>
            <a:srgbClr val="0A1628"/>
          </a:solidFill>
          <a:ln w="7620">
            <a:solidFill>
              <a:srgbClr val="C9A961"/>
            </a:solidFill>
            <a:prstDash val="solid"/>
          </a:ln>
        </p:spPr>
        <p:txBody>
          <a:bodyPr/>
          <a:p/>
        </p:txBody>
      </p:sp>
      <p:sp>
        <p:nvSpPr>
          <p:cNvPr id="26" name="Text 22"/>
          <p:cNvSpPr/>
          <p:nvPr/>
        </p:nvSpPr>
        <p:spPr>
          <a:xfrm>
            <a:off x="914400" y="365760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Engineering Intern</a:t>
            </a:r>
            <a:endParaRPr lang="en-US" sz="1400" dirty="0"/>
          </a:p>
        </p:txBody>
      </p:sp>
      <p:sp>
        <p:nvSpPr>
          <p:cNvPr id="27" name="Text 23"/>
          <p:cNvSpPr/>
          <p:nvPr/>
        </p:nvSpPr>
        <p:spPr>
          <a:xfrm>
            <a:off x="914400" y="393192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PT PLN (Persero) — ULP Pasir Pengaraian</a:t>
            </a:r>
            <a:endParaRPr lang="en-US" sz="1400" dirty="0"/>
          </a:p>
        </p:txBody>
      </p:sp>
      <p:sp>
        <p:nvSpPr>
          <p:cNvPr id="28" name="Text 24"/>
          <p:cNvSpPr/>
          <p:nvPr/>
        </p:nvSpPr>
        <p:spPr>
          <a:xfrm>
            <a:off x="8183880" y="36576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Sep 2025 – Oct 2025</a:t>
            </a:r>
            <a:endParaRPr lang="en-US" sz="1000" dirty="0"/>
          </a:p>
        </p:txBody>
      </p:sp>
      <p:sp>
        <p:nvSpPr>
          <p:cNvPr id="29" name="Text 25"/>
          <p:cNvSpPr/>
          <p:nvPr/>
        </p:nvSpPr>
        <p:spPr>
          <a:xfrm>
            <a:off x="8183880" y="38862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Riau, Indonesia</a:t>
            </a:r>
            <a:endParaRPr lang="en-US" sz="1000" dirty="0"/>
          </a:p>
        </p:txBody>
      </p:sp>
      <p:sp>
        <p:nvSpPr>
          <p:cNvPr id="30" name="Text 26"/>
          <p:cNvSpPr/>
          <p:nvPr/>
        </p:nvSpPr>
        <p:spPr>
          <a:xfrm>
            <a:off x="914400" y="4206240"/>
            <a:ext cx="9875520" cy="1005840"/>
          </a:xfrm>
          <a:prstGeom prst="rect">
            <a:avLst/>
          </a:prstGeom>
          <a:noFill/>
          <a:ln/>
        </p:spPr>
        <p:txBody>
          <a:bodyPr wrap="square" lIns="0" tIns="0" rIns="0" bIns="0" rtlCol="0" anchor="t"/>
          <a:lstStyle/>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Worked in the Engineering (Teknik) Division, handling customer outage data through the APKT system.</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Performed reliability analysis using SAIDI and SAIFI indices to evaluate distribution network performance.</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Supported division performance evaluation and collaborated with field technicians on outage resolution.</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Gained hands-on understanding of PLN distribution operations, work culture, and customer service standards.</a:t>
            </a:r>
            <a:endParaRPr lang="en-US" sz="1400" dirty="0"/>
          </a:p>
        </p:txBody>
      </p:sp>
      <p:sp>
        <p:nvSpPr>
          <p:cNvPr id="39" name="Shape 34"/>
          <p:cNvSpPr/>
          <p:nvPr/>
        </p:nvSpPr>
        <p:spPr>
          <a:xfrm>
            <a:off x="676656" y="1874520"/>
            <a:ext cx="0" cy="4572000"/>
          </a:xfrm>
          <a:prstGeom prst="line">
            <a:avLst/>
          </a:prstGeom>
          <a:noFill/>
          <a:ln w="10160">
            <a:solidFill>
              <a:srgbClr val="C9A961"/>
            </a:solidFill>
            <a:prstDash val="solid"/>
          </a:ln>
        </p:spPr>
        <p:txBody>
          <a:bodyPr/>
          <a:p/>
        </p:txBody>
      </p:sp>
      <p:pic>
        <p:nvPicPr>
          <p:cNvPr id="40" name="Picture 39" descr="mosque.png"/>
          <p:cNvPicPr>
            <a:picLocks noChangeAspect="1"/>
          </p:cNvPicPr>
          <p:nvPr/>
        </p:nvPicPr>
        <p:blipFill>
          <a:blip r:embed="rId4"/>
          <a:stretch>
            <a:fillRect/>
          </a:stretch>
        </p:blipFill>
        <p:spPr>
          <a:xfrm>
            <a:off x="10698480" y="1783080"/>
            <a:ext cx="320040" cy="320040"/>
          </a:xfrm>
          <a:prstGeom prst="rect">
            <a:avLst/>
          </a:prstGeom>
        </p:spPr>
      </p:pic>
      <p:pic>
        <p:nvPicPr>
          <p:cNvPr id="41" name="Picture 40" descr="image.png"/>
          <p:cNvPicPr>
            <a:picLocks noChangeAspect="1"/>
          </p:cNvPicPr>
          <p:nvPr/>
        </p:nvPicPr>
        <p:blipFill>
          <a:blip r:embed="rId2"/>
          <a:stretch>
            <a:fillRect/>
          </a:stretch>
        </p:blipFill>
        <p:spPr>
          <a:xfrm>
            <a:off x="10698480" y="3749039"/>
            <a:ext cx="320040" cy="3200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3154</Words>
  <Application>Microsoft Office PowerPoint</Application>
  <PresentationFormat>Widescreen</PresentationFormat>
  <Paragraphs>498</Paragraphs>
  <Slides>20</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Professional Portfolio - Muhammad Fathoni</dc:title>
  <dc:subject>PptxGenJS Presentation</dc:subject>
  <dc:creator>Muhammad Fathoni</dc:creator>
  <cp:lastModifiedBy>Muhammad Fathoni</cp:lastModifiedBy>
  <cp:revision>6</cp:revision>
  <dcterms:created xsi:type="dcterms:W3CDTF">2026-05-04T06:22:32Z</dcterms:created>
  <dcterms:modified xsi:type="dcterms:W3CDTF">2026-07-11T04:44:53Z</dcterms:modified>
</cp:coreProperties>
</file>